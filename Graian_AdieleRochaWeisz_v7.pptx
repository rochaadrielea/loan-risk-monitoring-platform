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1" r:id="rId4"/>
    <p:sldId id="261" r:id="rId5"/>
    <p:sldId id="272" r:id="rId6"/>
    <p:sldId id="278" r:id="rId7"/>
    <p:sldId id="273" r:id="rId8"/>
    <p:sldId id="274" r:id="rId9"/>
    <p:sldId id="275" r:id="rId10"/>
    <p:sldId id="276" r:id="rId11"/>
    <p:sldId id="279" r:id="rId12"/>
    <p:sldId id="258" r:id="rId13"/>
    <p:sldId id="280" r:id="rId14"/>
    <p:sldId id="268" r:id="rId15"/>
    <p:sldId id="282" r:id="rId16"/>
    <p:sldId id="281" r:id="rId17"/>
    <p:sldId id="259" r:id="rId18"/>
    <p:sldId id="260" r:id="rId19"/>
    <p:sldId id="266" r:id="rId20"/>
    <p:sldId id="267" r:id="rId21"/>
    <p:sldId id="269" r:id="rId22"/>
    <p:sldId id="270"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ED8"/>
    <a:srgbClr val="1A7A4A"/>
    <a:srgbClr val="D4820A"/>
    <a:srgbClr val="C8363B"/>
    <a:srgbClr val="F10D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728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7FADF-443C-C481-79D7-0A7580718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ABA8F-3666-AF76-4AFD-6E3D5830E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EA60E-9459-7DE4-F2AA-58AB17EC7B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9FB6EE-5328-AD16-5CBD-8CF1A5712C9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59921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BC958-FF90-2490-2D76-6E594C171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27F6C-72DD-0ACF-786D-C28BFC852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A682A-03E3-205F-4ED2-7F3AB588DE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01986F-66D0-03E1-84F0-4AF64A16E21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70218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68F85-6B60-72DC-0997-36D40BB85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0E1F1-3444-78B6-52EC-261222CAE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D75A6-3893-3CDB-B768-4016DB3432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71F12-B8CB-1EE2-69B8-ADD5EA85C02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80039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F6A9-4FDA-9DB3-0EB7-2EE8F2F69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C257B-16D8-D920-76BE-CC50A2FD1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52C3C-1655-905B-152B-2328E732C3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1315DC-59AC-2FE6-BAAA-53034C8400F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59639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A60-DB5B-534F-CDFF-FAAAC2DB9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64023-9FFC-0035-84BF-2349483F8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ABB24-87B8-67A0-80AC-F0D8116C91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73ED5-2FF2-B67A-3A2E-47CBEDD2B62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63637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A08D6-87F6-CD61-599A-14592EFAC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6D0FD-E153-7DC1-3031-E096ECEDE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46252-E9F6-AAF8-4AE9-2BA37D483E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E1E9A8-6A38-81F6-754A-019B8B02B00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82951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5D8FC-0381-F45E-5EFC-AF35E1678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A8BFF-5E65-F8B6-01B0-AA7615356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3DF5B-6394-8718-C305-2145640A1A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2C5070-35D3-C5CB-803A-04B39A1CFCD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8574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E343-D04D-8DAF-B29B-F74D4325B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5F6A7-4C1B-845F-8F6A-0E0422473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BA1B6A-2950-B849-EBB3-4F23323BC9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7B4C6-6A10-C793-308A-B0D68BB4684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68007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73FB-385E-D4F4-B9A8-28A4D8565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73936-3282-6B79-B799-703EA285C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4BA42-D5BB-AD29-336C-2B8277E4A6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D902E2-C07E-72FB-3DE5-CF597D37EE4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41417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34100-AAEB-24CD-9B60-974B19AA2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BFEB3-9F38-1513-8774-25F4A0A5F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ED513-3559-4DE7-CF3E-0B60F586F7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D01F9-40DA-49A8-1F9E-DA0FD6081A6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385596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A9DB6-0085-52AF-5B29-B61278E73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02DDA-F972-D33E-B8BD-39757158D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AA4C9-A889-30B0-15F6-D329D8192A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DAD4E6-0575-F605-7F46-A84E9C1C67F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45442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rochaadrielea.github.io/Loan-Risk-Monitoring-Platform/dax_design_decisions.html"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rive.google.com/file/d/1FO8f1e5Inwsq9LvYMzcD7ppX88wDN67T/view?usp=sharing" TargetMode="Externa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Shape 1"/>
          <p:cNvSpPr/>
          <p:nvPr/>
        </p:nvSpPr>
        <p:spPr>
          <a:xfrm>
            <a:off x="0" y="0"/>
            <a:ext cx="109728" cy="4892040"/>
          </a:xfrm>
          <a:prstGeom prst="rect">
            <a:avLst/>
          </a:prstGeom>
          <a:solidFill>
            <a:srgbClr val="B89650"/>
          </a:solidFill>
          <a:ln/>
        </p:spPr>
        <p:txBody>
          <a:bodyPr/>
          <a:lstStyle/>
          <a:p>
            <a:endParaRPr lang="en-CH"/>
          </a:p>
        </p:txBody>
      </p:sp>
      <p:sp>
        <p:nvSpPr>
          <p:cNvPr id="4" name="Text 2"/>
          <p:cNvSpPr/>
          <p:nvPr/>
        </p:nvSpPr>
        <p:spPr>
          <a:xfrm>
            <a:off x="457200" y="822960"/>
            <a:ext cx="7315200" cy="548640"/>
          </a:xfrm>
          <a:prstGeom prst="rect">
            <a:avLst/>
          </a:prstGeom>
          <a:noFill/>
          <a:ln/>
        </p:spPr>
        <p:txBody>
          <a:bodyPr wrap="square" lIns="0" tIns="0" rIns="0" bIns="0" rtlCol="0" anchor="ctr"/>
          <a:lstStyle/>
          <a:p>
            <a:pPr marL="0" indent="0">
              <a:buNone/>
            </a:pPr>
            <a:r>
              <a:rPr lang="en-US" sz="1200" dirty="0">
                <a:solidFill>
                  <a:srgbClr val="C8D0DC"/>
                </a:solidFill>
              </a:rPr>
              <a:t>Graian Capital Management SA</a:t>
            </a:r>
            <a:endParaRPr lang="en-US" sz="1200" dirty="0"/>
          </a:p>
        </p:txBody>
      </p:sp>
      <p:sp>
        <p:nvSpPr>
          <p:cNvPr id="5" name="Text 3"/>
          <p:cNvSpPr/>
          <p:nvPr/>
        </p:nvSpPr>
        <p:spPr>
          <a:xfrm>
            <a:off x="457200" y="1371600"/>
            <a:ext cx="7772400" cy="1645920"/>
          </a:xfrm>
          <a:prstGeom prst="rect">
            <a:avLst/>
          </a:prstGeom>
          <a:noFill/>
          <a:ln/>
        </p:spPr>
        <p:txBody>
          <a:bodyPr wrap="square" lIns="0" tIns="0" rIns="0" bIns="0" rtlCol="0" anchor="ctr"/>
          <a:lstStyle/>
          <a:p>
            <a:pPr marL="0" indent="0">
              <a:buNone/>
            </a:pPr>
            <a:r>
              <a:rPr lang="en-US" sz="4400" b="1" dirty="0">
                <a:solidFill>
                  <a:srgbClr val="FFFFFF"/>
                </a:solidFill>
              </a:rPr>
              <a:t>Data Operations</a:t>
            </a:r>
            <a:endParaRPr lang="en-US" sz="4400" dirty="0"/>
          </a:p>
          <a:p>
            <a:pPr marL="0" indent="0">
              <a:buNone/>
            </a:pPr>
            <a:r>
              <a:rPr lang="en-US" sz="4400" b="1" dirty="0">
                <a:solidFill>
                  <a:srgbClr val="FFFFFF"/>
                </a:solidFill>
              </a:rPr>
              <a:t>Business Case</a:t>
            </a:r>
            <a:endParaRPr lang="en-US" sz="4400" dirty="0"/>
          </a:p>
        </p:txBody>
      </p:sp>
      <p:sp>
        <p:nvSpPr>
          <p:cNvPr id="6" name="Shape 4"/>
          <p:cNvSpPr/>
          <p:nvPr/>
        </p:nvSpPr>
        <p:spPr>
          <a:xfrm>
            <a:off x="457200" y="3063240"/>
            <a:ext cx="2743200" cy="36576"/>
          </a:xfrm>
          <a:prstGeom prst="rect">
            <a:avLst/>
          </a:prstGeom>
          <a:solidFill>
            <a:srgbClr val="B89650"/>
          </a:solidFill>
          <a:ln/>
        </p:spPr>
        <p:txBody>
          <a:bodyPr/>
          <a:lstStyle/>
          <a:p>
            <a:endParaRPr lang="en-CH"/>
          </a:p>
        </p:txBody>
      </p:sp>
      <p:sp>
        <p:nvSpPr>
          <p:cNvPr id="7" name="Text 5"/>
          <p:cNvSpPr/>
          <p:nvPr/>
        </p:nvSpPr>
        <p:spPr>
          <a:xfrm>
            <a:off x="457200" y="3200400"/>
            <a:ext cx="7772400" cy="731520"/>
          </a:xfrm>
          <a:prstGeom prst="rect">
            <a:avLst/>
          </a:prstGeom>
          <a:noFill/>
          <a:ln/>
        </p:spPr>
        <p:txBody>
          <a:bodyPr wrap="square" lIns="0" tIns="0" rIns="0" bIns="0" rtlCol="0" anchor="ctr"/>
          <a:lstStyle/>
          <a:p>
            <a:pPr marL="0" indent="0">
              <a:buNone/>
            </a:pPr>
            <a:r>
              <a:rPr lang="en-US" sz="1200" dirty="0">
                <a:solidFill>
                  <a:srgbClr val="A0AEBB"/>
                </a:solidFill>
              </a:rPr>
              <a:t>Python Pipeline · HTML Report · PDF Report · Power BI Dashboard</a:t>
            </a:r>
            <a:endParaRPr lang="en-US" sz="1200" dirty="0"/>
          </a:p>
          <a:p>
            <a:pPr marL="0" indent="0">
              <a:buNone/>
            </a:pPr>
            <a:r>
              <a:rPr lang="en-US" sz="1200" dirty="0">
                <a:solidFill>
                  <a:srgbClr val="A0AEBB"/>
                </a:solidFill>
              </a:rPr>
              <a:t>Schema-Agnostic · Drift Detection · Per-Page PDFs · 20 Quality Checks</a:t>
            </a:r>
            <a:endParaRPr lang="en-US" sz="1200" dirty="0"/>
          </a:p>
        </p:txBody>
      </p:sp>
      <p:sp>
        <p:nvSpPr>
          <p:cNvPr id="8" name="Text 6"/>
          <p:cNvSpPr/>
          <p:nvPr/>
        </p:nvSpPr>
        <p:spPr>
          <a:xfrm>
            <a:off x="457200" y="4114800"/>
            <a:ext cx="4572000" cy="685800"/>
          </a:xfrm>
          <a:prstGeom prst="rect">
            <a:avLst/>
          </a:prstGeom>
          <a:noFill/>
          <a:ln/>
        </p:spPr>
        <p:txBody>
          <a:bodyPr wrap="square" lIns="0" tIns="0" rIns="0" bIns="0" rtlCol="0" anchor="ctr"/>
          <a:lstStyle/>
          <a:p>
            <a:pPr marL="0" indent="0">
              <a:buNone/>
            </a:pPr>
            <a:r>
              <a:rPr lang="en-US" sz="1000" dirty="0">
                <a:solidFill>
                  <a:srgbClr val="C8D0DC"/>
                </a:solidFill>
              </a:rPr>
              <a:t>Adriele Rocha Weisz</a:t>
            </a:r>
            <a:endParaRPr lang="en-US" sz="1000" dirty="0"/>
          </a:p>
          <a:p>
            <a:pPr marL="0" indent="0">
              <a:buNone/>
            </a:pPr>
            <a:r>
              <a:rPr lang="en-US" sz="1000" dirty="0">
                <a:solidFill>
                  <a:srgbClr val="C8D0DC"/>
                </a:solidFill>
              </a:rPr>
              <a:t>Data Operations Engineer / Analyst</a:t>
            </a:r>
            <a:endParaRPr lang="en-US" sz="1000" dirty="0"/>
          </a:p>
          <a:p>
            <a:pPr marL="0" indent="0">
              <a:buNone/>
            </a:pPr>
            <a:r>
              <a:rPr lang="en-US" sz="1000" dirty="0">
                <a:solidFill>
                  <a:srgbClr val="C8D0DC"/>
                </a:solidFill>
              </a:rPr>
              <a:t>April 2026</a:t>
            </a:r>
            <a:endParaRPr lang="en-US" sz="1000" dirty="0"/>
          </a:p>
        </p:txBody>
      </p:sp>
      <p:sp>
        <p:nvSpPr>
          <p:cNvPr id="9" name="Text 7"/>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What Was Delivered</a:t>
            </a:r>
            <a:endParaRPr lang="en-US" sz="26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5" name="Shape 3"/>
          <p:cNvSpPr/>
          <p:nvPr/>
        </p:nvSpPr>
        <p:spPr>
          <a:xfrm>
            <a:off x="365760" y="932688"/>
            <a:ext cx="4114800" cy="1737360"/>
          </a:xfrm>
          <a:prstGeom prst="rect">
            <a:avLst/>
          </a:prstGeom>
          <a:solidFill>
            <a:srgbClr val="EEF2FF"/>
          </a:solidFill>
          <a:ln w="12700">
            <a:solidFill>
              <a:srgbClr val="E8ECF2"/>
            </a:solidFill>
            <a:prstDash val="solid"/>
          </a:ln>
        </p:spPr>
        <p:txBody>
          <a:bodyPr/>
          <a:lstStyle/>
          <a:p>
            <a:endParaRPr lang="en-CH"/>
          </a:p>
        </p:txBody>
      </p:sp>
      <p:sp>
        <p:nvSpPr>
          <p:cNvPr id="6" name="Shape 4"/>
          <p:cNvSpPr/>
          <p:nvPr/>
        </p:nvSpPr>
        <p:spPr>
          <a:xfrm>
            <a:off x="365760" y="914400"/>
            <a:ext cx="45720" cy="1737360"/>
          </a:xfrm>
          <a:prstGeom prst="rect">
            <a:avLst/>
          </a:prstGeom>
          <a:solidFill>
            <a:srgbClr val="B89650"/>
          </a:solidFill>
          <a:ln/>
        </p:spPr>
        <p:txBody>
          <a:bodyPr/>
          <a:lstStyle/>
          <a:p>
            <a:endParaRPr lang="en-CH"/>
          </a:p>
        </p:txBody>
      </p:sp>
      <p:sp>
        <p:nvSpPr>
          <p:cNvPr id="7" name="Text 5"/>
          <p:cNvSpPr/>
          <p:nvPr/>
        </p:nvSpPr>
        <p:spPr>
          <a:xfrm>
            <a:off x="502920" y="1097280"/>
            <a:ext cx="3840480" cy="411480"/>
          </a:xfrm>
          <a:prstGeom prst="rect">
            <a:avLst/>
          </a:prstGeom>
          <a:noFill/>
          <a:ln/>
        </p:spPr>
        <p:txBody>
          <a:bodyPr wrap="square" lIns="0" tIns="0" rIns="0" bIns="0" rtlCol="0" anchor="ctr"/>
          <a:lstStyle/>
          <a:p>
            <a:pPr marL="0" indent="0">
              <a:buNone/>
            </a:pPr>
            <a:r>
              <a:rPr lang="en-US" sz="1400" b="1" dirty="0">
                <a:solidFill>
                  <a:srgbClr val="1C2B4A"/>
                </a:solidFill>
              </a:rPr>
              <a:t>Loan Exposure &amp; LTV </a:t>
            </a:r>
            <a:endParaRPr lang="en-US" sz="1400" dirty="0"/>
          </a:p>
        </p:txBody>
      </p:sp>
      <p:sp>
        <p:nvSpPr>
          <p:cNvPr id="8" name="Text 6"/>
          <p:cNvSpPr/>
          <p:nvPr/>
        </p:nvSpPr>
        <p:spPr>
          <a:xfrm>
            <a:off x="502920" y="1508760"/>
            <a:ext cx="3840480" cy="1005840"/>
          </a:xfrm>
          <a:prstGeom prst="rect">
            <a:avLst/>
          </a:prstGeom>
          <a:noFill/>
          <a:ln/>
        </p:spPr>
        <p:txBody>
          <a:bodyPr wrap="square" lIns="0" tIns="0" rIns="0" bIns="0" rtlCol="0" anchor="ctr"/>
          <a:lstStyle/>
          <a:p>
            <a:pPr marL="0" indent="0">
              <a:buNone/>
            </a:pPr>
            <a:r>
              <a:rPr lang="en-GB" sz="1000" dirty="0">
                <a:solidFill>
                  <a:srgbClr val="6B7280"/>
                </a:solidFill>
              </a:rPr>
              <a:t>Loan Exposure &amp; LTV · by portfolio and by issuer · at any date via slicer · P2 and P3</a:t>
            </a:r>
            <a:endParaRPr lang="en-US" sz="1000" dirty="0"/>
          </a:p>
        </p:txBody>
      </p:sp>
      <p:sp>
        <p:nvSpPr>
          <p:cNvPr id="9" name="Shape 7"/>
          <p:cNvSpPr/>
          <p:nvPr/>
        </p:nvSpPr>
        <p:spPr>
          <a:xfrm>
            <a:off x="4709160" y="914400"/>
            <a:ext cx="4114800" cy="1737360"/>
          </a:xfrm>
          <a:prstGeom prst="rect">
            <a:avLst/>
          </a:prstGeom>
          <a:solidFill>
            <a:srgbClr val="F0FDF4"/>
          </a:solidFill>
          <a:ln w="12700">
            <a:solidFill>
              <a:srgbClr val="E8ECF2"/>
            </a:solidFill>
            <a:prstDash val="solid"/>
          </a:ln>
        </p:spPr>
        <p:txBody>
          <a:bodyPr/>
          <a:lstStyle/>
          <a:p>
            <a:endParaRPr lang="en-CH"/>
          </a:p>
        </p:txBody>
      </p:sp>
      <p:sp>
        <p:nvSpPr>
          <p:cNvPr id="10" name="Shape 8"/>
          <p:cNvSpPr/>
          <p:nvPr/>
        </p:nvSpPr>
        <p:spPr>
          <a:xfrm>
            <a:off x="4709160" y="914400"/>
            <a:ext cx="45720" cy="1737360"/>
          </a:xfrm>
          <a:prstGeom prst="rect">
            <a:avLst/>
          </a:prstGeom>
          <a:solidFill>
            <a:srgbClr val="B89650"/>
          </a:solidFill>
          <a:ln/>
        </p:spPr>
        <p:txBody>
          <a:bodyPr/>
          <a:lstStyle/>
          <a:p>
            <a:endParaRPr lang="en-CH"/>
          </a:p>
        </p:txBody>
      </p:sp>
      <p:sp>
        <p:nvSpPr>
          <p:cNvPr id="11" name="Text 9"/>
          <p:cNvSpPr/>
          <p:nvPr/>
        </p:nvSpPr>
        <p:spPr>
          <a:xfrm>
            <a:off x="4846320" y="1097280"/>
            <a:ext cx="3840480" cy="411480"/>
          </a:xfrm>
          <a:prstGeom prst="rect">
            <a:avLst/>
          </a:prstGeom>
          <a:noFill/>
          <a:ln/>
        </p:spPr>
        <p:txBody>
          <a:bodyPr wrap="square" lIns="0" tIns="0" rIns="0" bIns="0" rtlCol="0" anchor="ctr"/>
          <a:lstStyle/>
          <a:p>
            <a:r>
              <a:rPr lang="de-CH" sz="1400" b="1" dirty="0"/>
              <a:t>In % · all four views</a:t>
            </a:r>
            <a:r>
              <a:rPr lang="de-CH" sz="1400" dirty="0"/>
              <a:t> · </a:t>
            </a:r>
            <a:endParaRPr lang="en-US" sz="1400" dirty="0"/>
          </a:p>
        </p:txBody>
      </p:sp>
      <p:sp>
        <p:nvSpPr>
          <p:cNvPr id="12" name="Text 10"/>
          <p:cNvSpPr/>
          <p:nvPr/>
        </p:nvSpPr>
        <p:spPr>
          <a:xfrm>
            <a:off x="4846320" y="1508760"/>
            <a:ext cx="3840480" cy="1005840"/>
          </a:xfrm>
          <a:prstGeom prst="rect">
            <a:avLst/>
          </a:prstGeom>
          <a:noFill/>
          <a:ln/>
        </p:spPr>
        <p:txBody>
          <a:bodyPr wrap="square" lIns="0" tIns="0" rIns="0" bIns="0" rtlCol="0" anchor="ctr"/>
          <a:lstStyle/>
          <a:p>
            <a:pPr marL="0" indent="0">
              <a:buNone/>
            </a:pPr>
            <a:r>
              <a:rPr lang="en-GB" sz="1000" dirty="0">
                <a:solidFill>
                  <a:srgbClr val="6B7280"/>
                </a:solidFill>
              </a:rPr>
              <a:t>Loan Exposure % and </a:t>
            </a:r>
            <a:r>
              <a:rPr lang="en-GB" sz="1000" dirty="0" err="1">
                <a:solidFill>
                  <a:srgbClr val="6B7280"/>
                </a:solidFill>
              </a:rPr>
              <a:t>Avg</a:t>
            </a:r>
            <a:r>
              <a:rPr lang="en-GB" sz="1000" dirty="0">
                <a:solidFill>
                  <a:srgbClr val="6B7280"/>
                </a:solidFill>
              </a:rPr>
              <a:t> LTV % · by portfolio and by issuer · P4</a:t>
            </a:r>
            <a:endParaRPr lang="en-US" sz="1000" dirty="0"/>
          </a:p>
        </p:txBody>
      </p:sp>
      <p:sp>
        <p:nvSpPr>
          <p:cNvPr id="13" name="Shape 11"/>
          <p:cNvSpPr/>
          <p:nvPr/>
        </p:nvSpPr>
        <p:spPr>
          <a:xfrm>
            <a:off x="365760" y="2834640"/>
            <a:ext cx="4114800" cy="1737360"/>
          </a:xfrm>
          <a:prstGeom prst="rect">
            <a:avLst/>
          </a:prstGeom>
          <a:solidFill>
            <a:srgbClr val="FFF7ED"/>
          </a:solidFill>
          <a:ln w="12700">
            <a:solidFill>
              <a:srgbClr val="E8ECF2"/>
            </a:solidFill>
            <a:prstDash val="solid"/>
          </a:ln>
        </p:spPr>
        <p:txBody>
          <a:bodyPr/>
          <a:lstStyle/>
          <a:p>
            <a:endParaRPr lang="en-CH"/>
          </a:p>
        </p:txBody>
      </p:sp>
      <p:sp>
        <p:nvSpPr>
          <p:cNvPr id="14" name="Shape 12"/>
          <p:cNvSpPr/>
          <p:nvPr/>
        </p:nvSpPr>
        <p:spPr>
          <a:xfrm>
            <a:off x="365760" y="2834640"/>
            <a:ext cx="45720" cy="1737360"/>
          </a:xfrm>
          <a:prstGeom prst="rect">
            <a:avLst/>
          </a:prstGeom>
          <a:solidFill>
            <a:srgbClr val="B89650"/>
          </a:solidFill>
          <a:ln/>
        </p:spPr>
        <p:txBody>
          <a:bodyPr/>
          <a:lstStyle/>
          <a:p>
            <a:endParaRPr lang="en-CH"/>
          </a:p>
        </p:txBody>
      </p:sp>
      <p:sp>
        <p:nvSpPr>
          <p:cNvPr id="15" name="Text 13"/>
          <p:cNvSpPr/>
          <p:nvPr/>
        </p:nvSpPr>
        <p:spPr>
          <a:xfrm>
            <a:off x="502920" y="3017520"/>
            <a:ext cx="3840480" cy="411480"/>
          </a:xfrm>
          <a:prstGeom prst="rect">
            <a:avLst/>
          </a:prstGeom>
          <a:noFill/>
          <a:ln/>
        </p:spPr>
        <p:txBody>
          <a:bodyPr wrap="square" lIns="0" tIns="0" rIns="0" bIns="0" rtlCol="0" anchor="ctr"/>
          <a:lstStyle/>
          <a:p>
            <a:pPr marL="0" indent="0">
              <a:buNone/>
            </a:pPr>
            <a:r>
              <a:rPr lang="en-US" sz="1400" b="1" dirty="0">
                <a:solidFill>
                  <a:srgbClr val="1C2B4A"/>
                </a:solidFill>
              </a:rPr>
              <a:t>Over time · dynamic window </a:t>
            </a:r>
            <a:endParaRPr lang="en-US" sz="1400" dirty="0"/>
          </a:p>
        </p:txBody>
      </p:sp>
      <p:sp>
        <p:nvSpPr>
          <p:cNvPr id="16" name="Text 14"/>
          <p:cNvSpPr/>
          <p:nvPr/>
        </p:nvSpPr>
        <p:spPr>
          <a:xfrm>
            <a:off x="502920" y="3429000"/>
            <a:ext cx="3840480" cy="1005840"/>
          </a:xfrm>
          <a:prstGeom prst="rect">
            <a:avLst/>
          </a:prstGeom>
          <a:noFill/>
          <a:ln/>
        </p:spPr>
        <p:txBody>
          <a:bodyPr wrap="square" lIns="0" tIns="0" rIns="0" bIns="0" rtlCol="0" anchor="ctr"/>
          <a:lstStyle/>
          <a:p>
            <a:pPr marL="0" indent="0">
              <a:buNone/>
            </a:pPr>
            <a:r>
              <a:rPr lang="en-GB" sz="1000" dirty="0">
                <a:solidFill>
                  <a:srgbClr val="6B7280"/>
                </a:solidFill>
              </a:rPr>
              <a:t>Loan Exposure by month · zoom slider + date slicer · P5</a:t>
            </a:r>
            <a:endParaRPr lang="en-US" sz="1000" dirty="0"/>
          </a:p>
        </p:txBody>
      </p:sp>
      <p:sp>
        <p:nvSpPr>
          <p:cNvPr id="17" name="Shape 15"/>
          <p:cNvSpPr/>
          <p:nvPr/>
        </p:nvSpPr>
        <p:spPr>
          <a:xfrm>
            <a:off x="4709160" y="2834640"/>
            <a:ext cx="4114800" cy="1737360"/>
          </a:xfrm>
          <a:prstGeom prst="rect">
            <a:avLst/>
          </a:prstGeom>
          <a:solidFill>
            <a:srgbClr val="F5F3FF"/>
          </a:solidFill>
          <a:ln w="12700">
            <a:solidFill>
              <a:srgbClr val="E8ECF2"/>
            </a:solidFill>
            <a:prstDash val="solid"/>
          </a:ln>
        </p:spPr>
        <p:txBody>
          <a:bodyPr/>
          <a:lstStyle/>
          <a:p>
            <a:endParaRPr lang="en-CH"/>
          </a:p>
        </p:txBody>
      </p:sp>
      <p:sp>
        <p:nvSpPr>
          <p:cNvPr id="18" name="Shape 16"/>
          <p:cNvSpPr/>
          <p:nvPr/>
        </p:nvSpPr>
        <p:spPr>
          <a:xfrm>
            <a:off x="4709160" y="2834640"/>
            <a:ext cx="45720" cy="1737360"/>
          </a:xfrm>
          <a:prstGeom prst="rect">
            <a:avLst/>
          </a:prstGeom>
          <a:solidFill>
            <a:srgbClr val="B89650"/>
          </a:solidFill>
          <a:ln/>
        </p:spPr>
        <p:txBody>
          <a:bodyPr/>
          <a:lstStyle/>
          <a:p>
            <a:endParaRPr lang="en-CH"/>
          </a:p>
        </p:txBody>
      </p:sp>
      <p:sp>
        <p:nvSpPr>
          <p:cNvPr id="19" name="Text 17"/>
          <p:cNvSpPr/>
          <p:nvPr/>
        </p:nvSpPr>
        <p:spPr>
          <a:xfrm>
            <a:off x="4846320" y="3017520"/>
            <a:ext cx="3840480" cy="411480"/>
          </a:xfrm>
          <a:prstGeom prst="rect">
            <a:avLst/>
          </a:prstGeom>
          <a:noFill/>
          <a:ln/>
        </p:spPr>
        <p:txBody>
          <a:bodyPr wrap="square" lIns="0" tIns="0" rIns="0" bIns="0" rtlCol="0" anchor="ctr"/>
          <a:lstStyle/>
          <a:p>
            <a:pPr marL="0" indent="0">
              <a:buNone/>
            </a:pPr>
            <a:r>
              <a:rPr lang="en-GB" sz="1400" b="1" dirty="0">
                <a:solidFill>
                  <a:srgbClr val="1C2B4A"/>
                </a:solidFill>
              </a:rPr>
              <a:t>Data quality · flagged and handled </a:t>
            </a:r>
            <a:endParaRPr lang="en-US" sz="1400" dirty="0"/>
          </a:p>
        </p:txBody>
      </p:sp>
      <p:sp>
        <p:nvSpPr>
          <p:cNvPr id="20" name="Text 18"/>
          <p:cNvSpPr/>
          <p:nvPr/>
        </p:nvSpPr>
        <p:spPr>
          <a:xfrm>
            <a:off x="4846320" y="3429000"/>
            <a:ext cx="3840480" cy="1005840"/>
          </a:xfrm>
          <a:prstGeom prst="rect">
            <a:avLst/>
          </a:prstGeom>
          <a:noFill/>
          <a:ln/>
        </p:spPr>
        <p:txBody>
          <a:bodyPr wrap="square" lIns="0" tIns="0" rIns="0" bIns="0" rtlCol="0" anchor="ctr"/>
          <a:lstStyle/>
          <a:p>
            <a:pPr marL="0" indent="0">
              <a:buNone/>
            </a:pPr>
            <a:r>
              <a:rPr lang="en-GB" sz="1000" dirty="0">
                <a:solidFill>
                  <a:srgbClr val="6B7280"/>
                </a:solidFill>
              </a:rPr>
              <a:t>Python pipeline finds issues before Power BI loads · 4 outliers flagged · excluded from averages</a:t>
            </a:r>
            <a:endParaRPr lang="en-US" sz="1000" dirty="0"/>
          </a:p>
        </p:txBody>
      </p:sp>
      <p:sp>
        <p:nvSpPr>
          <p:cNvPr id="21" name="Text 19"/>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0390B-9040-BA55-C121-F74970F8BA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FE2312-DE6B-5C7A-C356-3D1369262995}"/>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E7673DD0-3934-49DC-1362-750339DDEE42}"/>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F2FECE05-83CB-7221-4960-40AD3D1C142E}"/>
              </a:ext>
            </a:extLst>
          </p:cNvPr>
          <p:cNvSpPr/>
          <p:nvPr/>
        </p:nvSpPr>
        <p:spPr>
          <a:xfrm>
            <a:off x="365760" y="713232"/>
            <a:ext cx="8412480" cy="27432"/>
          </a:xfrm>
          <a:prstGeom prst="rect">
            <a:avLst/>
          </a:prstGeom>
          <a:solidFill>
            <a:srgbClr val="E8ECF2"/>
          </a:solidFill>
          <a:ln/>
        </p:spPr>
        <p:txBody>
          <a:bodyPr/>
          <a:lstStyle/>
          <a:p>
            <a:endParaRPr lang="en-CH"/>
          </a:p>
        </p:txBody>
      </p:sp>
      <p:sp>
        <p:nvSpPr>
          <p:cNvPr id="5" name="Shape 3">
            <a:extLst>
              <a:ext uri="{FF2B5EF4-FFF2-40B4-BE49-F238E27FC236}">
                <a16:creationId xmlns:a16="http://schemas.microsoft.com/office/drawing/2014/main" id="{EC39A1E2-4192-7AA1-66EC-61F295E47893}"/>
              </a:ext>
            </a:extLst>
          </p:cNvPr>
          <p:cNvSpPr/>
          <p:nvPr/>
        </p:nvSpPr>
        <p:spPr>
          <a:xfrm>
            <a:off x="365760" y="868680"/>
            <a:ext cx="2697480" cy="1828800"/>
          </a:xfrm>
          <a:prstGeom prst="rect">
            <a:avLst/>
          </a:prstGeom>
          <a:solidFill>
            <a:srgbClr val="EEF2FF"/>
          </a:solidFill>
          <a:ln w="12700">
            <a:solidFill>
              <a:srgbClr val="E8ECF2"/>
            </a:solidFill>
            <a:prstDash val="solid"/>
          </a:ln>
        </p:spPr>
        <p:txBody>
          <a:bodyPr/>
          <a:lstStyle/>
          <a:p>
            <a:endParaRPr lang="en-CH"/>
          </a:p>
        </p:txBody>
      </p:sp>
      <p:sp>
        <p:nvSpPr>
          <p:cNvPr id="6" name="Shape 4">
            <a:extLst>
              <a:ext uri="{FF2B5EF4-FFF2-40B4-BE49-F238E27FC236}">
                <a16:creationId xmlns:a16="http://schemas.microsoft.com/office/drawing/2014/main" id="{7777D005-D195-A15E-8643-7FFFB690C0E1}"/>
              </a:ext>
            </a:extLst>
          </p:cNvPr>
          <p:cNvSpPr/>
          <p:nvPr/>
        </p:nvSpPr>
        <p:spPr>
          <a:xfrm>
            <a:off x="365760" y="868680"/>
            <a:ext cx="2697480" cy="411480"/>
          </a:xfrm>
          <a:prstGeom prst="rect">
            <a:avLst/>
          </a:prstGeom>
          <a:solidFill>
            <a:srgbClr val="1C2B4A"/>
          </a:solidFill>
          <a:ln/>
        </p:spPr>
        <p:txBody>
          <a:bodyPr/>
          <a:lstStyle/>
          <a:p>
            <a:endParaRPr lang="en-CH"/>
          </a:p>
        </p:txBody>
      </p:sp>
      <p:sp>
        <p:nvSpPr>
          <p:cNvPr id="7" name="Text 5">
            <a:extLst>
              <a:ext uri="{FF2B5EF4-FFF2-40B4-BE49-F238E27FC236}">
                <a16:creationId xmlns:a16="http://schemas.microsoft.com/office/drawing/2014/main" id="{72B2A35A-6EE7-885D-EDB3-97DE1255AA4D}"/>
              </a:ext>
            </a:extLst>
          </p:cNvPr>
          <p:cNvSpPr/>
          <p:nvPr/>
        </p:nvSpPr>
        <p:spPr>
          <a:xfrm>
            <a:off x="45720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P1  Overview</a:t>
            </a:r>
            <a:endParaRPr lang="en-US" sz="1100" dirty="0"/>
          </a:p>
        </p:txBody>
      </p:sp>
      <p:sp>
        <p:nvSpPr>
          <p:cNvPr id="8" name="Text 6">
            <a:extLst>
              <a:ext uri="{FF2B5EF4-FFF2-40B4-BE49-F238E27FC236}">
                <a16:creationId xmlns:a16="http://schemas.microsoft.com/office/drawing/2014/main" id="{584E8B20-1518-6F39-0890-FCC8DD02D1AB}"/>
              </a:ext>
            </a:extLst>
          </p:cNvPr>
          <p:cNvSpPr/>
          <p:nvPr/>
        </p:nvSpPr>
        <p:spPr>
          <a:xfrm>
            <a:off x="457200" y="1325880"/>
            <a:ext cx="2514600" cy="1280160"/>
          </a:xfrm>
          <a:prstGeom prst="rect">
            <a:avLst/>
          </a:prstGeom>
          <a:noFill/>
          <a:ln/>
        </p:spPr>
        <p:txBody>
          <a:bodyPr wrap="square" lIns="0" tIns="0" rIns="0" bIns="0" rtlCol="0" anchor="ctr"/>
          <a:lstStyle/>
          <a:p>
            <a:pPr marL="0" indent="0">
              <a:buNone/>
            </a:pPr>
            <a:r>
              <a:rPr lang="en-US" sz="850" dirty="0">
                <a:solidFill>
                  <a:srgbClr val="1A202C"/>
                </a:solidFill>
              </a:rPr>
              <a:t>KPI cards: Loan Exposure 12.53M · Avg LTV% 83.29%</a:t>
            </a:r>
            <a:endParaRPr lang="en-US" sz="850" dirty="0"/>
          </a:p>
          <a:p>
            <a:pPr marL="0" indent="0">
              <a:buNone/>
            </a:pPr>
            <a:r>
              <a:rPr lang="en-US" sz="850" dirty="0">
                <a:solidFill>
                  <a:srgbClr val="1A202C"/>
                </a:solidFill>
              </a:rPr>
              <a:t>Flagged product table (PR-P4N4N, ratio 33.33)</a:t>
            </a:r>
            <a:endParaRPr lang="en-US" sz="850" dirty="0"/>
          </a:p>
          <a:p>
            <a:pPr marL="0" indent="0">
              <a:buNone/>
            </a:pPr>
            <a:r>
              <a:rPr lang="en-US" sz="850" dirty="0">
                <a:solidFill>
                  <a:srgbClr val="1A202C"/>
                </a:solidFill>
              </a:rPr>
              <a:t>Date slicer controlling all visuals</a:t>
            </a:r>
            <a:endParaRPr lang="en-US" sz="850" dirty="0"/>
          </a:p>
        </p:txBody>
      </p:sp>
      <p:sp>
        <p:nvSpPr>
          <p:cNvPr id="9" name="Shape 7">
            <a:extLst>
              <a:ext uri="{FF2B5EF4-FFF2-40B4-BE49-F238E27FC236}">
                <a16:creationId xmlns:a16="http://schemas.microsoft.com/office/drawing/2014/main" id="{371DAEA7-F6CF-F31C-0EB3-377653A1AAEB}"/>
              </a:ext>
            </a:extLst>
          </p:cNvPr>
          <p:cNvSpPr/>
          <p:nvPr/>
        </p:nvSpPr>
        <p:spPr>
          <a:xfrm>
            <a:off x="3200400" y="868680"/>
            <a:ext cx="2697480" cy="1828800"/>
          </a:xfrm>
          <a:prstGeom prst="rect">
            <a:avLst/>
          </a:prstGeom>
          <a:solidFill>
            <a:srgbClr val="F0FDF4"/>
          </a:solidFill>
          <a:ln w="12700">
            <a:solidFill>
              <a:srgbClr val="E8ECF2"/>
            </a:solidFill>
            <a:prstDash val="solid"/>
          </a:ln>
        </p:spPr>
        <p:txBody>
          <a:bodyPr/>
          <a:lstStyle/>
          <a:p>
            <a:endParaRPr lang="en-CH"/>
          </a:p>
        </p:txBody>
      </p:sp>
      <p:sp>
        <p:nvSpPr>
          <p:cNvPr id="10" name="Shape 8">
            <a:extLst>
              <a:ext uri="{FF2B5EF4-FFF2-40B4-BE49-F238E27FC236}">
                <a16:creationId xmlns:a16="http://schemas.microsoft.com/office/drawing/2014/main" id="{7CDE9492-E354-62E2-302E-2BD7836AE6E6}"/>
              </a:ext>
            </a:extLst>
          </p:cNvPr>
          <p:cNvSpPr/>
          <p:nvPr/>
        </p:nvSpPr>
        <p:spPr>
          <a:xfrm>
            <a:off x="3200400" y="868680"/>
            <a:ext cx="2697480" cy="411480"/>
          </a:xfrm>
          <a:prstGeom prst="rect">
            <a:avLst/>
          </a:prstGeom>
          <a:solidFill>
            <a:srgbClr val="1C2B4A"/>
          </a:solidFill>
          <a:ln/>
        </p:spPr>
        <p:txBody>
          <a:bodyPr/>
          <a:lstStyle/>
          <a:p>
            <a:endParaRPr lang="en-CH"/>
          </a:p>
        </p:txBody>
      </p:sp>
      <p:sp>
        <p:nvSpPr>
          <p:cNvPr id="11" name="Text 9">
            <a:extLst>
              <a:ext uri="{FF2B5EF4-FFF2-40B4-BE49-F238E27FC236}">
                <a16:creationId xmlns:a16="http://schemas.microsoft.com/office/drawing/2014/main" id="{C4FFDC7B-122B-80E8-BE33-D315EF2BA373}"/>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2" name="Text 10">
            <a:extLst>
              <a:ext uri="{FF2B5EF4-FFF2-40B4-BE49-F238E27FC236}">
                <a16:creationId xmlns:a16="http://schemas.microsoft.com/office/drawing/2014/main" id="{062010D3-2F15-5302-7D41-294379429C41}"/>
              </a:ext>
            </a:extLst>
          </p:cNvPr>
          <p:cNvSpPr/>
          <p:nvPr/>
        </p:nvSpPr>
        <p:spPr>
          <a:xfrm>
            <a:off x="3291840" y="1325880"/>
            <a:ext cx="2514600" cy="1280160"/>
          </a:xfrm>
          <a:prstGeom prst="rect">
            <a:avLst/>
          </a:prstGeom>
          <a:noFill/>
          <a:ln/>
        </p:spPr>
        <p:txBody>
          <a:bodyPr wrap="square" lIns="0" tIns="0" rIns="0" bIns="0" rtlCol="0" anchor="ctr"/>
          <a:lstStyle/>
          <a:p>
            <a:pPr marL="0" indent="0">
              <a:buNone/>
            </a:pPr>
            <a:r>
              <a:rPr lang="en-US" sz="850" dirty="0">
                <a:solidFill>
                  <a:srgbClr val="1A202C"/>
                </a:solidFill>
              </a:rPr>
              <a:t>Bar charts by portfolio and by issuer</a:t>
            </a:r>
            <a:endParaRPr lang="en-US" sz="850" dirty="0"/>
          </a:p>
          <a:p>
            <a:pPr marL="0" indent="0">
              <a:buNone/>
            </a:pPr>
            <a:r>
              <a:rPr lang="en-US" sz="850" dirty="0">
                <a:solidFill>
                  <a:srgbClr val="1A202C"/>
                </a:solidFill>
              </a:rPr>
              <a:t>Cross-filtering active</a:t>
            </a:r>
            <a:endParaRPr lang="en-US" sz="850" dirty="0"/>
          </a:p>
          <a:p>
            <a:pPr marL="0" indent="0">
              <a:buNone/>
            </a:pPr>
            <a:r>
              <a:rPr lang="en-US" sz="850" dirty="0">
                <a:solidFill>
                  <a:srgbClr val="1A202C"/>
                </a:solidFill>
              </a:rPr>
              <a:t>5 zero-exposure issuers explained (net zero buys/sells)</a:t>
            </a:r>
            <a:endParaRPr lang="en-US" sz="850" dirty="0"/>
          </a:p>
        </p:txBody>
      </p:sp>
      <p:sp>
        <p:nvSpPr>
          <p:cNvPr id="13" name="Shape 11">
            <a:extLst>
              <a:ext uri="{FF2B5EF4-FFF2-40B4-BE49-F238E27FC236}">
                <a16:creationId xmlns:a16="http://schemas.microsoft.com/office/drawing/2014/main" id="{8181F653-55AD-8ABD-029D-1C53334BC088}"/>
              </a:ext>
            </a:extLst>
          </p:cNvPr>
          <p:cNvSpPr/>
          <p:nvPr/>
        </p:nvSpPr>
        <p:spPr>
          <a:xfrm>
            <a:off x="6035040" y="868680"/>
            <a:ext cx="2697480" cy="1828800"/>
          </a:xfrm>
          <a:prstGeom prst="rect">
            <a:avLst/>
          </a:prstGeom>
          <a:solidFill>
            <a:srgbClr val="FEF2F2"/>
          </a:solidFill>
          <a:ln w="12700">
            <a:solidFill>
              <a:srgbClr val="E8ECF2"/>
            </a:solidFill>
            <a:prstDash val="solid"/>
          </a:ln>
        </p:spPr>
        <p:txBody>
          <a:bodyPr/>
          <a:lstStyle/>
          <a:p>
            <a:endParaRPr lang="en-CH"/>
          </a:p>
        </p:txBody>
      </p:sp>
      <p:sp>
        <p:nvSpPr>
          <p:cNvPr id="14" name="Shape 12">
            <a:extLst>
              <a:ext uri="{FF2B5EF4-FFF2-40B4-BE49-F238E27FC236}">
                <a16:creationId xmlns:a16="http://schemas.microsoft.com/office/drawing/2014/main" id="{FDE2640B-390F-00A5-6667-9705DD7136A2}"/>
              </a:ext>
            </a:extLst>
          </p:cNvPr>
          <p:cNvSpPr/>
          <p:nvPr/>
        </p:nvSpPr>
        <p:spPr>
          <a:xfrm>
            <a:off x="6035040" y="868680"/>
            <a:ext cx="2697480" cy="411480"/>
          </a:xfrm>
          <a:prstGeom prst="rect">
            <a:avLst/>
          </a:prstGeom>
          <a:solidFill>
            <a:srgbClr val="1C2B4A"/>
          </a:solidFill>
          <a:ln/>
        </p:spPr>
        <p:txBody>
          <a:bodyPr/>
          <a:lstStyle/>
          <a:p>
            <a:endParaRPr lang="en-CH"/>
          </a:p>
        </p:txBody>
      </p:sp>
      <p:sp>
        <p:nvSpPr>
          <p:cNvPr id="15" name="Text 13">
            <a:extLst>
              <a:ext uri="{FF2B5EF4-FFF2-40B4-BE49-F238E27FC236}">
                <a16:creationId xmlns:a16="http://schemas.microsoft.com/office/drawing/2014/main" id="{F6639BA4-79AD-1F8D-80C1-89D836E942CA}"/>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16" name="Text 14">
            <a:extLst>
              <a:ext uri="{FF2B5EF4-FFF2-40B4-BE49-F238E27FC236}">
                <a16:creationId xmlns:a16="http://schemas.microsoft.com/office/drawing/2014/main" id="{B695A671-BAB6-C818-11F3-6F09194D7085}"/>
              </a:ext>
            </a:extLst>
          </p:cNvPr>
          <p:cNvSpPr/>
          <p:nvPr/>
        </p:nvSpPr>
        <p:spPr>
          <a:xfrm>
            <a:off x="6126480" y="1325880"/>
            <a:ext cx="2514600" cy="1280160"/>
          </a:xfrm>
          <a:prstGeom prst="rect">
            <a:avLst/>
          </a:prstGeom>
          <a:noFill/>
          <a:ln/>
        </p:spPr>
        <p:txBody>
          <a:bodyPr wrap="square" lIns="0" tIns="0" rIns="0" bIns="0" rtlCol="0" anchor="ctr"/>
          <a:lstStyle/>
          <a:p>
            <a:pPr marL="0" indent="0">
              <a:buNone/>
            </a:pPr>
            <a:r>
              <a:rPr lang="en-US" sz="850" dirty="0">
                <a:solidFill>
                  <a:srgbClr val="1A202C"/>
                </a:solidFill>
              </a:rPr>
              <a:t>Fixed gradient thresholds: 0=green, 0.8=amber, 1=red</a:t>
            </a:r>
            <a:endParaRPr lang="en-US" sz="850" dirty="0"/>
          </a:p>
          <a:p>
            <a:pPr marL="0" indent="0">
              <a:buNone/>
            </a:pPr>
            <a:r>
              <a:rPr lang="en-US" sz="850" dirty="0">
                <a:solidFill>
                  <a:srgbClr val="1A202C"/>
                </a:solidFill>
              </a:rPr>
              <a:t>Not data-range scaled — risk story is always honest</a:t>
            </a:r>
            <a:endParaRPr lang="en-US" sz="850" dirty="0"/>
          </a:p>
          <a:p>
            <a:pPr marL="0" indent="0">
              <a:buNone/>
            </a:pPr>
            <a:r>
              <a:rPr lang="en-US" sz="850" dirty="0">
                <a:solidFill>
                  <a:srgbClr val="1A202C"/>
                </a:solidFill>
              </a:rPr>
              <a:t>Outlier IR-J4V9B at 93% shows deep red</a:t>
            </a:r>
            <a:endParaRPr lang="en-US" sz="850" dirty="0"/>
          </a:p>
        </p:txBody>
      </p:sp>
      <p:sp>
        <p:nvSpPr>
          <p:cNvPr id="17" name="Shape 15">
            <a:extLst>
              <a:ext uri="{FF2B5EF4-FFF2-40B4-BE49-F238E27FC236}">
                <a16:creationId xmlns:a16="http://schemas.microsoft.com/office/drawing/2014/main" id="{5AB42952-7C02-CF58-A050-AD492D6DD49C}"/>
              </a:ext>
            </a:extLst>
          </p:cNvPr>
          <p:cNvSpPr/>
          <p:nvPr/>
        </p:nvSpPr>
        <p:spPr>
          <a:xfrm>
            <a:off x="365760" y="2834640"/>
            <a:ext cx="2697480" cy="1828800"/>
          </a:xfrm>
          <a:prstGeom prst="rect">
            <a:avLst/>
          </a:prstGeom>
          <a:solidFill>
            <a:srgbClr val="FFFBEB"/>
          </a:solidFill>
          <a:ln w="12700">
            <a:solidFill>
              <a:srgbClr val="E8ECF2"/>
            </a:solidFill>
            <a:prstDash val="solid"/>
          </a:ln>
        </p:spPr>
        <p:txBody>
          <a:bodyPr/>
          <a:lstStyle/>
          <a:p>
            <a:endParaRPr lang="en-CH"/>
          </a:p>
        </p:txBody>
      </p:sp>
      <p:sp>
        <p:nvSpPr>
          <p:cNvPr id="18" name="Shape 16">
            <a:extLst>
              <a:ext uri="{FF2B5EF4-FFF2-40B4-BE49-F238E27FC236}">
                <a16:creationId xmlns:a16="http://schemas.microsoft.com/office/drawing/2014/main" id="{260E0284-BB2B-B6DF-D631-669A95B4B7E0}"/>
              </a:ext>
            </a:extLst>
          </p:cNvPr>
          <p:cNvSpPr/>
          <p:nvPr/>
        </p:nvSpPr>
        <p:spPr>
          <a:xfrm>
            <a:off x="365760" y="2834640"/>
            <a:ext cx="2697480" cy="411480"/>
          </a:xfrm>
          <a:prstGeom prst="rect">
            <a:avLst/>
          </a:prstGeom>
          <a:solidFill>
            <a:srgbClr val="1C2B4A"/>
          </a:solidFill>
          <a:ln/>
        </p:spPr>
        <p:txBody>
          <a:bodyPr/>
          <a:lstStyle/>
          <a:p>
            <a:endParaRPr lang="en-CH"/>
          </a:p>
        </p:txBody>
      </p:sp>
      <p:sp>
        <p:nvSpPr>
          <p:cNvPr id="19" name="Text 17">
            <a:extLst>
              <a:ext uri="{FF2B5EF4-FFF2-40B4-BE49-F238E27FC236}">
                <a16:creationId xmlns:a16="http://schemas.microsoft.com/office/drawing/2014/main" id="{61FE7A32-B2A3-0D24-EBE6-602543F251E8}"/>
              </a:ext>
            </a:extLst>
          </p:cNvPr>
          <p:cNvSpPr/>
          <p:nvPr/>
        </p:nvSpPr>
        <p:spPr>
          <a:xfrm>
            <a:off x="45720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P4  Metrics % </a:t>
            </a:r>
            <a:endParaRPr lang="en-US" sz="1100" dirty="0"/>
          </a:p>
        </p:txBody>
      </p:sp>
      <p:sp>
        <p:nvSpPr>
          <p:cNvPr id="20" name="Text 18">
            <a:extLst>
              <a:ext uri="{FF2B5EF4-FFF2-40B4-BE49-F238E27FC236}">
                <a16:creationId xmlns:a16="http://schemas.microsoft.com/office/drawing/2014/main" id="{73BB4E19-3B25-BA98-5349-C9A0EAC9C99C}"/>
              </a:ext>
            </a:extLst>
          </p:cNvPr>
          <p:cNvSpPr/>
          <p:nvPr/>
        </p:nvSpPr>
        <p:spPr>
          <a:xfrm>
            <a:off x="457200" y="3291840"/>
            <a:ext cx="2514600" cy="1280160"/>
          </a:xfrm>
          <a:prstGeom prst="rect">
            <a:avLst/>
          </a:prstGeom>
          <a:noFill/>
          <a:ln/>
        </p:spPr>
        <p:txBody>
          <a:bodyPr wrap="square" lIns="0" tIns="0" rIns="0" bIns="0" rtlCol="0" anchor="ctr"/>
          <a:lstStyle/>
          <a:p>
            <a:pPr marL="0" indent="0">
              <a:buNone/>
            </a:pPr>
            <a:r>
              <a:rPr lang="en-US" sz="850" dirty="0">
                <a:solidFill>
                  <a:srgbClr val="1A202C"/>
                </a:solidFill>
              </a:rPr>
              <a:t>Same fixed LTV gradient (0 / 80 / 100)</a:t>
            </a:r>
            <a:endParaRPr lang="en-US" sz="850" dirty="0"/>
          </a:p>
          <a:p>
            <a:pPr marL="0" indent="0">
              <a:buNone/>
            </a:pPr>
            <a:r>
              <a:rPr lang="en-US" sz="850" dirty="0">
                <a:solidFill>
                  <a:srgbClr val="1A202C"/>
                </a:solidFill>
              </a:rPr>
              <a:t>Both portfolios ~83% LTV — amber zone</a:t>
            </a:r>
            <a:endParaRPr lang="en-US" sz="850" dirty="0"/>
          </a:p>
          <a:p>
            <a:pPr marL="0" indent="0">
              <a:buNone/>
            </a:pPr>
            <a:r>
              <a:rPr lang="en-US" sz="850" dirty="0">
                <a:solidFill>
                  <a:srgbClr val="1A202C"/>
                </a:solidFill>
              </a:rPr>
              <a:t>Loan Exposure % vs Portfolio Value</a:t>
            </a:r>
            <a:endParaRPr lang="en-US" sz="850" dirty="0"/>
          </a:p>
        </p:txBody>
      </p:sp>
      <p:sp>
        <p:nvSpPr>
          <p:cNvPr id="21" name="Shape 19">
            <a:extLst>
              <a:ext uri="{FF2B5EF4-FFF2-40B4-BE49-F238E27FC236}">
                <a16:creationId xmlns:a16="http://schemas.microsoft.com/office/drawing/2014/main" id="{66CBE1DD-4689-EE51-D20F-21828694319F}"/>
              </a:ext>
            </a:extLst>
          </p:cNvPr>
          <p:cNvSpPr/>
          <p:nvPr/>
        </p:nvSpPr>
        <p:spPr>
          <a:xfrm>
            <a:off x="3200400" y="2834640"/>
            <a:ext cx="2697480" cy="1828800"/>
          </a:xfrm>
          <a:prstGeom prst="rect">
            <a:avLst/>
          </a:prstGeom>
          <a:solidFill>
            <a:srgbClr val="F0FDF4"/>
          </a:solidFill>
          <a:ln w="12700">
            <a:solidFill>
              <a:srgbClr val="E8ECF2"/>
            </a:solidFill>
            <a:prstDash val="solid"/>
          </a:ln>
        </p:spPr>
        <p:txBody>
          <a:bodyPr/>
          <a:lstStyle/>
          <a:p>
            <a:endParaRPr lang="en-CH"/>
          </a:p>
        </p:txBody>
      </p:sp>
      <p:sp>
        <p:nvSpPr>
          <p:cNvPr id="22" name="Shape 20">
            <a:extLst>
              <a:ext uri="{FF2B5EF4-FFF2-40B4-BE49-F238E27FC236}">
                <a16:creationId xmlns:a16="http://schemas.microsoft.com/office/drawing/2014/main" id="{7105ECB8-3EA2-0747-8B1A-C396659048CE}"/>
              </a:ext>
            </a:extLst>
          </p:cNvPr>
          <p:cNvSpPr/>
          <p:nvPr/>
        </p:nvSpPr>
        <p:spPr>
          <a:xfrm>
            <a:off x="3200400" y="2834640"/>
            <a:ext cx="2697480" cy="411480"/>
          </a:xfrm>
          <a:prstGeom prst="rect">
            <a:avLst/>
          </a:prstGeom>
          <a:solidFill>
            <a:srgbClr val="1C2B4A"/>
          </a:solidFill>
          <a:ln/>
        </p:spPr>
        <p:txBody>
          <a:bodyPr/>
          <a:lstStyle/>
          <a:p>
            <a:endParaRPr lang="en-CH"/>
          </a:p>
        </p:txBody>
      </p:sp>
      <p:sp>
        <p:nvSpPr>
          <p:cNvPr id="23" name="Text 21">
            <a:extLst>
              <a:ext uri="{FF2B5EF4-FFF2-40B4-BE49-F238E27FC236}">
                <a16:creationId xmlns:a16="http://schemas.microsoft.com/office/drawing/2014/main" id="{99B80EE7-B506-1BF0-B606-A1AFE802152E}"/>
              </a:ext>
            </a:extLst>
          </p:cNvPr>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4" name="Text 22">
            <a:extLst>
              <a:ext uri="{FF2B5EF4-FFF2-40B4-BE49-F238E27FC236}">
                <a16:creationId xmlns:a16="http://schemas.microsoft.com/office/drawing/2014/main" id="{68A63D1D-1BF8-A20C-349F-6BD301C366C3}"/>
              </a:ext>
            </a:extLst>
          </p:cNvPr>
          <p:cNvSpPr/>
          <p:nvPr/>
        </p:nvSpPr>
        <p:spPr>
          <a:xfrm>
            <a:off x="3291840" y="3291840"/>
            <a:ext cx="2514600" cy="1280160"/>
          </a:xfrm>
          <a:prstGeom prst="rect">
            <a:avLst/>
          </a:prstGeom>
          <a:noFill/>
          <a:ln/>
        </p:spPr>
        <p:txBody>
          <a:bodyPr wrap="square" lIns="0" tIns="0" rIns="0" bIns="0" rtlCol="0" anchor="ctr"/>
          <a:lstStyle/>
          <a:p>
            <a:pPr marL="0" indent="0">
              <a:buNone/>
            </a:pPr>
            <a:r>
              <a:rPr lang="en-US" sz="850" dirty="0">
                <a:solidFill>
                  <a:srgbClr val="1A202C"/>
                </a:solidFill>
              </a:rPr>
              <a:t>Loan Exposure &amp; Loan Exposure % by month</a:t>
            </a:r>
            <a:endParaRPr lang="en-US" sz="850" dirty="0"/>
          </a:p>
          <a:p>
            <a:pPr marL="0" indent="0">
              <a:buNone/>
            </a:pPr>
            <a:r>
              <a:rPr lang="en-US" sz="850" dirty="0">
                <a:solidFill>
                  <a:srgbClr val="1A202C"/>
                </a:solidFill>
              </a:rPr>
              <a:t>Zero reference line in Analytics pane</a:t>
            </a:r>
            <a:endParaRPr lang="en-US" sz="850" dirty="0"/>
          </a:p>
          <a:p>
            <a:pPr marL="0" indent="0">
              <a:buNone/>
            </a:pPr>
            <a:r>
              <a:rPr lang="en-US" sz="850" dirty="0">
                <a:solidFill>
                  <a:srgbClr val="1A202C"/>
                </a:solidFill>
              </a:rPr>
              <a:t>Zoom slider kept here only (appropriate for time data)</a:t>
            </a:r>
            <a:endParaRPr lang="en-US" sz="850" dirty="0"/>
          </a:p>
        </p:txBody>
      </p:sp>
      <p:sp>
        <p:nvSpPr>
          <p:cNvPr id="25" name="Shape 23">
            <a:extLst>
              <a:ext uri="{FF2B5EF4-FFF2-40B4-BE49-F238E27FC236}">
                <a16:creationId xmlns:a16="http://schemas.microsoft.com/office/drawing/2014/main" id="{3B117F34-707F-A6C4-DFA3-EAD6F50ABE1E}"/>
              </a:ext>
            </a:extLst>
          </p:cNvPr>
          <p:cNvSpPr/>
          <p:nvPr/>
        </p:nvSpPr>
        <p:spPr>
          <a:xfrm>
            <a:off x="6035040" y="2834640"/>
            <a:ext cx="2697480" cy="1828800"/>
          </a:xfrm>
          <a:prstGeom prst="rect">
            <a:avLst/>
          </a:prstGeom>
          <a:solidFill>
            <a:srgbClr val="F5F3FF"/>
          </a:solidFill>
          <a:ln w="12700">
            <a:solidFill>
              <a:srgbClr val="E8ECF2"/>
            </a:solidFill>
            <a:prstDash val="solid"/>
          </a:ln>
        </p:spPr>
        <p:txBody>
          <a:bodyPr/>
          <a:lstStyle/>
          <a:p>
            <a:endParaRPr lang="en-CH"/>
          </a:p>
        </p:txBody>
      </p:sp>
      <p:sp>
        <p:nvSpPr>
          <p:cNvPr id="26" name="Shape 24">
            <a:extLst>
              <a:ext uri="{FF2B5EF4-FFF2-40B4-BE49-F238E27FC236}">
                <a16:creationId xmlns:a16="http://schemas.microsoft.com/office/drawing/2014/main" id="{82FBD27A-A86D-3292-32E5-FF19C926B7EA}"/>
              </a:ext>
            </a:extLst>
          </p:cNvPr>
          <p:cNvSpPr/>
          <p:nvPr/>
        </p:nvSpPr>
        <p:spPr>
          <a:xfrm>
            <a:off x="6035040" y="2834640"/>
            <a:ext cx="2697480" cy="411480"/>
          </a:xfrm>
          <a:prstGeom prst="rect">
            <a:avLst/>
          </a:prstGeom>
          <a:solidFill>
            <a:srgbClr val="1C2B4A"/>
          </a:solidFill>
          <a:ln/>
        </p:spPr>
        <p:txBody>
          <a:bodyPr/>
          <a:lstStyle/>
          <a:p>
            <a:endParaRPr lang="en-CH"/>
          </a:p>
        </p:txBody>
      </p:sp>
      <p:sp>
        <p:nvSpPr>
          <p:cNvPr id="27" name="Text 25">
            <a:extLst>
              <a:ext uri="{FF2B5EF4-FFF2-40B4-BE49-F238E27FC236}">
                <a16:creationId xmlns:a16="http://schemas.microsoft.com/office/drawing/2014/main" id="{601C3563-BB69-1EA2-4B4A-EEBAB55DE2C6}"/>
              </a:ext>
            </a:extLst>
          </p:cNvPr>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 through</a:t>
            </a:r>
            <a:endParaRPr lang="en-US" sz="1100" dirty="0"/>
          </a:p>
        </p:txBody>
      </p:sp>
      <p:sp>
        <p:nvSpPr>
          <p:cNvPr id="28" name="Text 26">
            <a:extLst>
              <a:ext uri="{FF2B5EF4-FFF2-40B4-BE49-F238E27FC236}">
                <a16:creationId xmlns:a16="http://schemas.microsoft.com/office/drawing/2014/main" id="{9823DC54-2D9D-0A35-A30E-231CF729223E}"/>
              </a:ext>
            </a:extLst>
          </p:cNvPr>
          <p:cNvSpPr/>
          <p:nvPr/>
        </p:nvSpPr>
        <p:spPr>
          <a:xfrm>
            <a:off x="6126480" y="3291840"/>
            <a:ext cx="2514600" cy="1280160"/>
          </a:xfrm>
          <a:prstGeom prst="rect">
            <a:avLst/>
          </a:prstGeom>
          <a:noFill/>
          <a:ln/>
        </p:spPr>
        <p:txBody>
          <a:bodyPr wrap="square" lIns="0" tIns="0" rIns="0" bIns="0" rtlCol="0" anchor="ctr"/>
          <a:lstStyle/>
          <a:p>
            <a:pPr marL="0" indent="0">
              <a:buNone/>
            </a:pPr>
            <a:r>
              <a:rPr lang="en-US" sz="850" dirty="0">
                <a:solidFill>
                  <a:srgbClr val="1A202C"/>
                </a:solidFill>
              </a:rPr>
              <a:t>Right-click any bar → Drill through → Transaction Detail</a:t>
            </a:r>
            <a:endParaRPr lang="en-US" sz="850" dirty="0"/>
          </a:p>
          <a:p>
            <a:pPr marL="0" indent="0">
              <a:buNone/>
            </a:pPr>
            <a:r>
              <a:rPr lang="en-US" sz="850" dirty="0">
                <a:solidFill>
                  <a:srgbClr val="1A202C"/>
                </a:solidFill>
              </a:rPr>
              <a:t>Configured on 2 fields: portfolio-code AND product-issuer-code</a:t>
            </a:r>
            <a:endParaRPr lang="en-US" sz="850" dirty="0"/>
          </a:p>
          <a:p>
            <a:pPr marL="0" indent="0">
              <a:buNone/>
            </a:pPr>
            <a:r>
              <a:rPr lang="en-US" sz="850" dirty="0">
                <a:solidFill>
                  <a:srgbClr val="1A202C"/>
                </a:solidFill>
              </a:rPr>
              <a:t>Back button only active when reached via drillthrough</a:t>
            </a:r>
            <a:endParaRPr lang="en-US" sz="850" dirty="0"/>
          </a:p>
        </p:txBody>
      </p:sp>
      <p:sp>
        <p:nvSpPr>
          <p:cNvPr id="29" name="Text 27">
            <a:extLst>
              <a:ext uri="{FF2B5EF4-FFF2-40B4-BE49-F238E27FC236}">
                <a16:creationId xmlns:a16="http://schemas.microsoft.com/office/drawing/2014/main" id="{853A9E75-1F83-2F43-E0A8-46B106AEAC2E}"/>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extLst>
      <p:ext uri="{BB962C8B-B14F-4D97-AF65-F5344CB8AC3E}">
        <p14:creationId xmlns:p14="http://schemas.microsoft.com/office/powerpoint/2010/main" val="187711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11" name="Text 9"/>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3" name="Text 21"/>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7" name="Text 25"/>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Drillthrough</a:t>
            </a:r>
            <a:endParaRPr lang="en-US" sz="1100" dirty="0"/>
          </a:p>
        </p:txBody>
      </p:sp>
      <p:sp>
        <p:nvSpPr>
          <p:cNvPr id="29" name="Text 27"/>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pic>
        <p:nvPicPr>
          <p:cNvPr id="34" name="Picture 33">
            <a:extLst>
              <a:ext uri="{FF2B5EF4-FFF2-40B4-BE49-F238E27FC236}">
                <a16:creationId xmlns:a16="http://schemas.microsoft.com/office/drawing/2014/main" id="{513E7596-DB3F-E942-4099-7392E56ECBE0}"/>
              </a:ext>
            </a:extLst>
          </p:cNvPr>
          <p:cNvPicPr>
            <a:picLocks noChangeAspect="1"/>
          </p:cNvPicPr>
          <p:nvPr/>
        </p:nvPicPr>
        <p:blipFill>
          <a:blip r:embed="rId3"/>
          <a:stretch>
            <a:fillRect/>
          </a:stretch>
        </p:blipFill>
        <p:spPr>
          <a:xfrm>
            <a:off x="4852176" y="848376"/>
            <a:ext cx="4291824" cy="3227956"/>
          </a:xfrm>
          <a:prstGeom prst="rect">
            <a:avLst/>
          </a:prstGeom>
        </p:spPr>
      </p:pic>
      <p:sp>
        <p:nvSpPr>
          <p:cNvPr id="35" name="TextBox 34">
            <a:extLst>
              <a:ext uri="{FF2B5EF4-FFF2-40B4-BE49-F238E27FC236}">
                <a16:creationId xmlns:a16="http://schemas.microsoft.com/office/drawing/2014/main" id="{07A5A1C5-BD68-2349-BA38-D6CAB2D02EAB}"/>
              </a:ext>
            </a:extLst>
          </p:cNvPr>
          <p:cNvSpPr txBox="1"/>
          <p:nvPr/>
        </p:nvSpPr>
        <p:spPr>
          <a:xfrm>
            <a:off x="2257865" y="786615"/>
            <a:ext cx="2852224" cy="3508653"/>
          </a:xfrm>
          <a:prstGeom prst="rect">
            <a:avLst/>
          </a:prstGeom>
          <a:noFill/>
        </p:spPr>
        <p:txBody>
          <a:bodyPr wrap="square" rtlCol="0">
            <a:spAutoFit/>
          </a:bodyPr>
          <a:lstStyle/>
          <a:p>
            <a:r>
              <a:rPr lang="en-GB" sz="1200" b="1" u="sng" dirty="0"/>
              <a:t>Why I created the Overview page:</a:t>
            </a:r>
            <a:endParaRPr lang="en-GB" sz="1200" u="sng" dirty="0"/>
          </a:p>
          <a:p>
            <a:r>
              <a:rPr lang="en-GB" sz="1200" dirty="0"/>
              <a:t>When opening any financial report, the first question is always </a:t>
            </a:r>
            <a:r>
              <a:rPr lang="en-GB" sz="1200" i="1" dirty="0"/>
              <a:t>"is everything okay?"</a:t>
            </a:r>
            <a:r>
              <a:rPr lang="en-GB" sz="1200" dirty="0"/>
              <a:t> before any detail. I designed as a true summary</a:t>
            </a:r>
          </a:p>
          <a:p>
            <a:br>
              <a:rPr lang="en-GB" sz="1200" dirty="0"/>
            </a:br>
            <a:r>
              <a:rPr lang="en-GB" sz="1200" b="1" u="sng" dirty="0"/>
              <a:t>Why these 4 KPIs:</a:t>
            </a:r>
            <a:endParaRPr lang="en-GB" sz="1200" u="sng" dirty="0"/>
          </a:p>
          <a:p>
            <a:r>
              <a:rPr lang="en-GB" sz="1200" b="1" dirty="0"/>
              <a:t>Loan Exposure : </a:t>
            </a:r>
            <a:r>
              <a:rPr lang="en-GB" sz="1200" dirty="0"/>
              <a:t>the primary deliverable of the brief</a:t>
            </a:r>
          </a:p>
          <a:p>
            <a:r>
              <a:rPr lang="en-GB" sz="1200" b="1" dirty="0" err="1"/>
              <a:t>Avg</a:t>
            </a:r>
            <a:r>
              <a:rPr lang="en-GB" sz="1200" b="1" dirty="0"/>
              <a:t> LTV % : </a:t>
            </a:r>
            <a:r>
              <a:rPr lang="en-GB" sz="1200" dirty="0"/>
              <a:t>the risk metric, with outliers excluded so the number is honest</a:t>
            </a:r>
          </a:p>
          <a:p>
            <a:r>
              <a:rPr lang="en-GB" sz="1200" b="1" dirty="0"/>
              <a:t>Portfolio Value : </a:t>
            </a:r>
            <a:r>
              <a:rPr lang="en-GB" sz="1200" dirty="0"/>
              <a:t>needed as context for the % calculation</a:t>
            </a:r>
          </a:p>
          <a:p>
            <a:r>
              <a:rPr lang="en-GB" sz="1200" b="1" dirty="0"/>
              <a:t>Flagged Products: </a:t>
            </a:r>
            <a:r>
              <a:rPr lang="en-GB" sz="1200" dirty="0"/>
              <a:t>because the brief explicitly warned about data quality. Surfacing it on the first screen means it cannot be missed or ignored</a:t>
            </a:r>
          </a:p>
          <a:p>
            <a:endParaRPr lang="en-CH" dirty="0"/>
          </a:p>
        </p:txBody>
      </p:sp>
      <p:sp>
        <p:nvSpPr>
          <p:cNvPr id="36" name="TextBox 35">
            <a:extLst>
              <a:ext uri="{FF2B5EF4-FFF2-40B4-BE49-F238E27FC236}">
                <a16:creationId xmlns:a16="http://schemas.microsoft.com/office/drawing/2014/main" id="{096120C4-F47A-9A0F-B279-AC1403F6CCBA}"/>
              </a:ext>
            </a:extLst>
          </p:cNvPr>
          <p:cNvSpPr txBox="1"/>
          <p:nvPr/>
        </p:nvSpPr>
        <p:spPr>
          <a:xfrm>
            <a:off x="2257865" y="4077784"/>
            <a:ext cx="5231720" cy="830997"/>
          </a:xfrm>
          <a:prstGeom prst="rect">
            <a:avLst/>
          </a:prstGeom>
          <a:noFill/>
        </p:spPr>
        <p:txBody>
          <a:bodyPr wrap="square" rtlCol="0">
            <a:spAutoFit/>
          </a:bodyPr>
          <a:lstStyle/>
          <a:p>
            <a:r>
              <a:rPr lang="en-GB" sz="1200" b="1" u="sng" dirty="0"/>
              <a:t>Why the flagged products table here:</a:t>
            </a:r>
            <a:r>
              <a:rPr lang="en-GB" sz="1200" u="sng" dirty="0"/>
              <a:t> </a:t>
            </a:r>
            <a:r>
              <a:rPr lang="en-GB" sz="1200" dirty="0"/>
              <a:t>A KPI count of "4" alone is not enough. The analyst needs to see </a:t>
            </a:r>
            <a:r>
              <a:rPr lang="en-GB" sz="1200" i="1" dirty="0"/>
              <a:t>which</a:t>
            </a:r>
            <a:r>
              <a:rPr lang="en-GB" sz="1200" dirty="0"/>
              <a:t> products immediately, without navigating away. So the table sits directly below the KPIs.</a:t>
            </a:r>
          </a:p>
          <a:p>
            <a:endParaRPr lang="en-CH" sz="1200" dirty="0"/>
          </a:p>
        </p:txBody>
      </p:sp>
      <p:sp>
        <p:nvSpPr>
          <p:cNvPr id="38" name="Shape 4">
            <a:extLst>
              <a:ext uri="{FF2B5EF4-FFF2-40B4-BE49-F238E27FC236}">
                <a16:creationId xmlns:a16="http://schemas.microsoft.com/office/drawing/2014/main" id="{8B320622-3CD8-F5FF-6C29-D1814AA8D50B}"/>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39" name="Text 5">
            <a:extLst>
              <a:ext uri="{FF2B5EF4-FFF2-40B4-BE49-F238E27FC236}">
                <a16:creationId xmlns:a16="http://schemas.microsoft.com/office/drawing/2014/main" id="{F8AA6117-677B-5362-DE6A-5248BB5E64CD}"/>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bg1"/>
                </a:solidFill>
              </a:rPr>
              <a:t>P1  Overview</a:t>
            </a:r>
          </a:p>
          <a:p>
            <a:pPr>
              <a:lnSpc>
                <a:spcPct val="150000"/>
              </a:lnSpc>
            </a:pPr>
            <a:r>
              <a:rPr lang="en-US" sz="1600" b="1" dirty="0">
                <a:solidFill>
                  <a:schemeClr val="tx1">
                    <a:lumMod val="50000"/>
                    <a:lumOff val="50000"/>
                  </a:schemeClr>
                </a:solidFill>
              </a:rPr>
              <a:t>P2  Loan Exposure</a:t>
            </a:r>
          </a:p>
          <a:p>
            <a:pPr>
              <a:lnSpc>
                <a:spcPct val="150000"/>
              </a:lnSpc>
            </a:pPr>
            <a:r>
              <a:rPr lang="en-US" sz="1600" b="1" dirty="0">
                <a:solidFill>
                  <a:schemeClr val="tx1">
                    <a:lumMod val="50000"/>
                    <a:lumOff val="50000"/>
                  </a:schemeClr>
                </a:solidFill>
              </a:rPr>
              <a:t>P3 LTV </a:t>
            </a:r>
          </a:p>
          <a:p>
            <a:pPr>
              <a:lnSpc>
                <a:spcPct val="150000"/>
              </a:lnSpc>
            </a:pPr>
            <a:r>
              <a:rPr lang="en-US" sz="1600" b="1" dirty="0">
                <a:solidFill>
                  <a:schemeClr val="tx1">
                    <a:lumMod val="50000"/>
                    <a:lumOff val="50000"/>
                  </a:schemeClr>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0B5A0-A586-FD6D-3E32-3BC77F5A90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7B2865-F598-50AB-8341-08F09637C711}"/>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D0B7ACFD-FBD9-D0FC-66F2-7BD1213035C7}"/>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BD92D8FC-DD77-9399-02CC-9FFBEE272CA4}"/>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14A67E58-A6B4-B303-24F5-BEA1891C68C8}"/>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13D54370-7D82-EA80-514A-AB2E629C3CD9}"/>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3" name="Text 21">
            <a:extLst>
              <a:ext uri="{FF2B5EF4-FFF2-40B4-BE49-F238E27FC236}">
                <a16:creationId xmlns:a16="http://schemas.microsoft.com/office/drawing/2014/main" id="{D18D783A-0401-21DD-297B-8690CC0324BD}"/>
              </a:ext>
            </a:extLst>
          </p:cNvPr>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7" name="Text 25">
            <a:extLst>
              <a:ext uri="{FF2B5EF4-FFF2-40B4-BE49-F238E27FC236}">
                <a16:creationId xmlns:a16="http://schemas.microsoft.com/office/drawing/2014/main" id="{BE0DB91B-C3C4-4722-A1FF-E029B4598E30}"/>
              </a:ext>
            </a:extLst>
          </p:cNvPr>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Drillthrough</a:t>
            </a:r>
            <a:endParaRPr lang="en-US" sz="1100" dirty="0"/>
          </a:p>
        </p:txBody>
      </p:sp>
      <p:sp>
        <p:nvSpPr>
          <p:cNvPr id="29" name="Text 27">
            <a:extLst>
              <a:ext uri="{FF2B5EF4-FFF2-40B4-BE49-F238E27FC236}">
                <a16:creationId xmlns:a16="http://schemas.microsoft.com/office/drawing/2014/main" id="{6D7A7437-E8B1-3587-DA80-186C7912D0C2}"/>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35" name="TextBox 34">
            <a:extLst>
              <a:ext uri="{FF2B5EF4-FFF2-40B4-BE49-F238E27FC236}">
                <a16:creationId xmlns:a16="http://schemas.microsoft.com/office/drawing/2014/main" id="{E219E730-51C4-ACD0-6DEE-A74B67208A21}"/>
              </a:ext>
            </a:extLst>
          </p:cNvPr>
          <p:cNvSpPr txBox="1"/>
          <p:nvPr/>
        </p:nvSpPr>
        <p:spPr>
          <a:xfrm>
            <a:off x="2257865" y="942042"/>
            <a:ext cx="2314135" cy="2677656"/>
          </a:xfrm>
          <a:prstGeom prst="rect">
            <a:avLst/>
          </a:prstGeom>
          <a:noFill/>
        </p:spPr>
        <p:txBody>
          <a:bodyPr wrap="square" rtlCol="0">
            <a:spAutoFit/>
          </a:bodyPr>
          <a:lstStyle/>
          <a:p>
            <a:r>
              <a:rPr lang="en-GB" sz="1200" b="1" dirty="0"/>
              <a:t>Loan Exposure by Portfolio and by Issuer</a:t>
            </a:r>
            <a:r>
              <a:rPr lang="en-GB" sz="1200" dirty="0"/>
              <a:t> Requirements 1 and 2 answered in a single view, side by side.</a:t>
            </a:r>
          </a:p>
          <a:p>
            <a:r>
              <a:rPr lang="en-GB" sz="1200" b="1" dirty="0"/>
              <a:t>Design Decisions</a:t>
            </a:r>
            <a:r>
              <a:rPr lang="en-GB" sz="1200" dirty="0"/>
              <a:t> LN filter applied in DAX, so it holds regardless of what new product types appear in future datasets. FX conversion via LASTNONBLANK ensures the EUR portfolio is always comparable to USD. Both charts share one date slicer for </a:t>
            </a:r>
            <a:r>
              <a:rPr lang="en-GB" sz="1200" dirty="0" err="1"/>
              <a:t>slection</a:t>
            </a:r>
            <a:r>
              <a:rPr lang="en-GB" sz="1200" dirty="0"/>
              <a:t> of given date.</a:t>
            </a:r>
            <a:br>
              <a:rPr lang="en-GB" sz="1200" dirty="0"/>
            </a:br>
            <a:br>
              <a:rPr lang="en-GB" sz="1200" dirty="0"/>
            </a:br>
            <a:endParaRPr lang="en-GB" sz="1200" dirty="0"/>
          </a:p>
        </p:txBody>
      </p:sp>
      <p:sp>
        <p:nvSpPr>
          <p:cNvPr id="10" name="Shape 4">
            <a:extLst>
              <a:ext uri="{FF2B5EF4-FFF2-40B4-BE49-F238E27FC236}">
                <a16:creationId xmlns:a16="http://schemas.microsoft.com/office/drawing/2014/main" id="{AFCE3867-9952-AAD8-A733-95FB7109F267}"/>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12" name="Text 5">
            <a:extLst>
              <a:ext uri="{FF2B5EF4-FFF2-40B4-BE49-F238E27FC236}">
                <a16:creationId xmlns:a16="http://schemas.microsoft.com/office/drawing/2014/main" id="{568D1FB3-76A7-5F27-007D-C3CF2CD4CC65}"/>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bg1"/>
                </a:solidFill>
              </a:rPr>
              <a:t>P2  Loan Exposure</a:t>
            </a:r>
          </a:p>
          <a:p>
            <a:pPr>
              <a:lnSpc>
                <a:spcPct val="150000"/>
              </a:lnSpc>
            </a:pPr>
            <a:r>
              <a:rPr lang="en-US" sz="1600" b="1" dirty="0">
                <a:solidFill>
                  <a:schemeClr val="tx1">
                    <a:lumMod val="50000"/>
                    <a:lumOff val="50000"/>
                  </a:schemeClr>
                </a:solidFill>
              </a:rPr>
              <a:t>P3 LTV </a:t>
            </a:r>
          </a:p>
          <a:p>
            <a:pPr>
              <a:lnSpc>
                <a:spcPct val="150000"/>
              </a:lnSpc>
            </a:pPr>
            <a:r>
              <a:rPr lang="en-US" sz="1600" b="1" dirty="0">
                <a:solidFill>
                  <a:schemeClr val="tx1">
                    <a:lumMod val="50000"/>
                    <a:lumOff val="50000"/>
                  </a:schemeClr>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pic>
        <p:nvPicPr>
          <p:cNvPr id="20" name="Picture 19">
            <a:extLst>
              <a:ext uri="{FF2B5EF4-FFF2-40B4-BE49-F238E27FC236}">
                <a16:creationId xmlns:a16="http://schemas.microsoft.com/office/drawing/2014/main" id="{BF7D176D-6B51-870B-905C-767983621248}"/>
              </a:ext>
            </a:extLst>
          </p:cNvPr>
          <p:cNvPicPr>
            <a:picLocks noChangeAspect="1"/>
          </p:cNvPicPr>
          <p:nvPr/>
        </p:nvPicPr>
        <p:blipFill>
          <a:blip r:embed="rId3"/>
          <a:stretch>
            <a:fillRect/>
          </a:stretch>
        </p:blipFill>
        <p:spPr>
          <a:xfrm>
            <a:off x="4549140" y="916698"/>
            <a:ext cx="4524007" cy="2594059"/>
          </a:xfrm>
          <a:prstGeom prst="rect">
            <a:avLst/>
          </a:prstGeom>
        </p:spPr>
      </p:pic>
      <p:sp>
        <p:nvSpPr>
          <p:cNvPr id="22" name="TextBox 21">
            <a:extLst>
              <a:ext uri="{FF2B5EF4-FFF2-40B4-BE49-F238E27FC236}">
                <a16:creationId xmlns:a16="http://schemas.microsoft.com/office/drawing/2014/main" id="{8AC007F6-6C05-4733-976D-174E64CF9070}"/>
              </a:ext>
            </a:extLst>
          </p:cNvPr>
          <p:cNvSpPr txBox="1"/>
          <p:nvPr/>
        </p:nvSpPr>
        <p:spPr>
          <a:xfrm>
            <a:off x="2316480" y="3850084"/>
            <a:ext cx="6461760" cy="1015663"/>
          </a:xfrm>
          <a:prstGeom prst="rect">
            <a:avLst/>
          </a:prstGeom>
          <a:noFill/>
        </p:spPr>
        <p:txBody>
          <a:bodyPr wrap="square" rtlCol="0">
            <a:spAutoFit/>
          </a:bodyPr>
          <a:lstStyle/>
          <a:p>
            <a:r>
              <a:rPr lang="en-GB" sz="1200" b="1" dirty="0"/>
              <a:t>What to Watch</a:t>
            </a:r>
            <a:r>
              <a:rPr lang="en-GB" sz="1200" dirty="0"/>
              <a:t> Concentration in a single issuer is a risk signal — the bar chart makes it visible immediately. A position dropping to zero means the loan was fully repaid in the selected period. Drag the date slicer back to see it when it was active. Right-click any bar to drill into individual transactions.</a:t>
            </a:r>
          </a:p>
          <a:p>
            <a:endParaRPr lang="en-CH" sz="1200" dirty="0"/>
          </a:p>
        </p:txBody>
      </p:sp>
    </p:spTree>
    <p:extLst>
      <p:ext uri="{BB962C8B-B14F-4D97-AF65-F5344CB8AC3E}">
        <p14:creationId xmlns:p14="http://schemas.microsoft.com/office/powerpoint/2010/main" val="1398917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39A87-DF39-DD2D-C3DA-9124C60494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F54A1C-3D8F-2ADD-6A2E-4908914717A6}"/>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2DFA007E-A433-FEEA-F192-583D9488BCE1}"/>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13BA744E-C5D2-4932-D68E-D0A48860B005}"/>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B01DDA94-0BC0-1793-3693-1AA217F4EA3A}"/>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7ED2CE13-4233-9D98-535B-30D0475F515E}"/>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3" name="Text 21">
            <a:extLst>
              <a:ext uri="{FF2B5EF4-FFF2-40B4-BE49-F238E27FC236}">
                <a16:creationId xmlns:a16="http://schemas.microsoft.com/office/drawing/2014/main" id="{183A6125-0333-2F5F-6E3A-9D99E5405CB4}"/>
              </a:ext>
            </a:extLst>
          </p:cNvPr>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9" name="Text 27">
            <a:extLst>
              <a:ext uri="{FF2B5EF4-FFF2-40B4-BE49-F238E27FC236}">
                <a16:creationId xmlns:a16="http://schemas.microsoft.com/office/drawing/2014/main" id="{F3A9A94C-0ACF-34B4-FED4-AA4181DF9B18}"/>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10" name="Shape 4">
            <a:extLst>
              <a:ext uri="{FF2B5EF4-FFF2-40B4-BE49-F238E27FC236}">
                <a16:creationId xmlns:a16="http://schemas.microsoft.com/office/drawing/2014/main" id="{B72E94BB-488C-2A65-4EF8-F35C26770CFD}"/>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12" name="Text 5">
            <a:extLst>
              <a:ext uri="{FF2B5EF4-FFF2-40B4-BE49-F238E27FC236}">
                <a16:creationId xmlns:a16="http://schemas.microsoft.com/office/drawing/2014/main" id="{0FA3D064-3062-5C2A-B1AF-07FA74634438}"/>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bg1"/>
                </a:solidFill>
              </a:rPr>
              <a:t>P2  Loan Exposure</a:t>
            </a:r>
          </a:p>
          <a:p>
            <a:pPr>
              <a:lnSpc>
                <a:spcPct val="150000"/>
              </a:lnSpc>
            </a:pPr>
            <a:r>
              <a:rPr lang="en-US" sz="1600" b="1" dirty="0">
                <a:solidFill>
                  <a:schemeClr val="tx1">
                    <a:lumMod val="50000"/>
                    <a:lumOff val="50000"/>
                  </a:schemeClr>
                </a:solidFill>
              </a:rPr>
              <a:t>P3 LTV </a:t>
            </a:r>
          </a:p>
          <a:p>
            <a:pPr>
              <a:lnSpc>
                <a:spcPct val="150000"/>
              </a:lnSpc>
            </a:pPr>
            <a:r>
              <a:rPr lang="en-US" sz="1600" b="1" dirty="0">
                <a:solidFill>
                  <a:schemeClr val="tx1">
                    <a:lumMod val="50000"/>
                    <a:lumOff val="50000"/>
                  </a:schemeClr>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pic>
        <p:nvPicPr>
          <p:cNvPr id="6" name="Picture 5">
            <a:extLst>
              <a:ext uri="{FF2B5EF4-FFF2-40B4-BE49-F238E27FC236}">
                <a16:creationId xmlns:a16="http://schemas.microsoft.com/office/drawing/2014/main" id="{7926DE6F-C9AB-366C-7895-F07D27624B4B}"/>
              </a:ext>
            </a:extLst>
          </p:cNvPr>
          <p:cNvPicPr>
            <a:picLocks noChangeAspect="1"/>
          </p:cNvPicPr>
          <p:nvPr/>
        </p:nvPicPr>
        <p:blipFill>
          <a:blip r:embed="rId3"/>
          <a:stretch>
            <a:fillRect/>
          </a:stretch>
        </p:blipFill>
        <p:spPr>
          <a:xfrm>
            <a:off x="2326446" y="786384"/>
            <a:ext cx="3536890" cy="2121989"/>
          </a:xfrm>
          <a:prstGeom prst="rect">
            <a:avLst/>
          </a:prstGeom>
        </p:spPr>
      </p:pic>
      <p:pic>
        <p:nvPicPr>
          <p:cNvPr id="8" name="Picture 7">
            <a:extLst>
              <a:ext uri="{FF2B5EF4-FFF2-40B4-BE49-F238E27FC236}">
                <a16:creationId xmlns:a16="http://schemas.microsoft.com/office/drawing/2014/main" id="{887774FB-BD7C-F7DB-5ED8-F5DABFCF2EE5}"/>
              </a:ext>
            </a:extLst>
          </p:cNvPr>
          <p:cNvPicPr>
            <a:picLocks noChangeAspect="1"/>
          </p:cNvPicPr>
          <p:nvPr/>
        </p:nvPicPr>
        <p:blipFill>
          <a:blip r:embed="rId4"/>
          <a:srcRect l="9055" r="17959"/>
          <a:stretch>
            <a:fillRect/>
          </a:stretch>
        </p:blipFill>
        <p:spPr>
          <a:xfrm>
            <a:off x="6073140" y="740664"/>
            <a:ext cx="2796540" cy="2167709"/>
          </a:xfrm>
          <a:prstGeom prst="rect">
            <a:avLst/>
          </a:prstGeom>
        </p:spPr>
      </p:pic>
      <p:sp>
        <p:nvSpPr>
          <p:cNvPr id="9" name="TextBox 8">
            <a:extLst>
              <a:ext uri="{FF2B5EF4-FFF2-40B4-BE49-F238E27FC236}">
                <a16:creationId xmlns:a16="http://schemas.microsoft.com/office/drawing/2014/main" id="{59253C78-29A3-F2B6-3399-B44615550A69}"/>
              </a:ext>
            </a:extLst>
          </p:cNvPr>
          <p:cNvSpPr txBox="1"/>
          <p:nvPr/>
        </p:nvSpPr>
        <p:spPr>
          <a:xfrm>
            <a:off x="2257865" y="2866657"/>
            <a:ext cx="6543234" cy="1384995"/>
          </a:xfrm>
          <a:prstGeom prst="rect">
            <a:avLst/>
          </a:prstGeom>
          <a:noFill/>
        </p:spPr>
        <p:txBody>
          <a:bodyPr wrap="square" rtlCol="0">
            <a:spAutoFit/>
          </a:bodyPr>
          <a:lstStyle/>
          <a:p>
            <a:r>
              <a:rPr lang="en-GB" sz="1200" b="1" dirty="0"/>
              <a:t>Drill Through tool: </a:t>
            </a:r>
            <a:r>
              <a:rPr lang="en-GB" sz="1200" dirty="0"/>
              <a:t>A bar chart shows the total. But when a number looks unexpected  the portfolio manager needs to see the individual transactions behind it, without leaving the page or building a new report. </a:t>
            </a:r>
          </a:p>
          <a:p>
            <a:r>
              <a:rPr lang="en-GB" sz="1200" b="1" dirty="0"/>
              <a:t>Usage: </a:t>
            </a:r>
            <a:r>
              <a:rPr lang="en-GB" sz="1200" dirty="0"/>
              <a:t>Right-click any bar → Drill through → Transaction Detail. Every transaction for that issuer or portfolio is there  filterable, auditable.</a:t>
            </a:r>
          </a:p>
          <a:p>
            <a:endParaRPr lang="en-GB" sz="1200" dirty="0"/>
          </a:p>
          <a:p>
            <a:r>
              <a:rPr lang="en-GB" sz="1200" dirty="0"/>
              <a:t>Why these fields where chosen is explain in the P6 Transaction Detail of this presentation </a:t>
            </a:r>
            <a:endParaRPr lang="en-CH" sz="1200" dirty="0"/>
          </a:p>
        </p:txBody>
      </p:sp>
    </p:spTree>
    <p:extLst>
      <p:ext uri="{BB962C8B-B14F-4D97-AF65-F5344CB8AC3E}">
        <p14:creationId xmlns:p14="http://schemas.microsoft.com/office/powerpoint/2010/main" val="2332146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8696C-CCA2-F623-0730-835E9B9222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3A0A41-4374-5B5F-C1B5-E334E14ED9F9}"/>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58CF00D5-4106-3520-76F5-311E3B59D581}"/>
              </a:ext>
            </a:extLst>
          </p:cNvPr>
          <p:cNvSpPr/>
          <p:nvPr/>
        </p:nvSpPr>
        <p:spPr>
          <a:xfrm>
            <a:off x="403275"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09B3DA89-86EC-1674-D445-A686831E548F}"/>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568EB4FD-B5DE-440D-112F-F7EC1F68B85E}"/>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23" name="Text 21">
            <a:extLst>
              <a:ext uri="{FF2B5EF4-FFF2-40B4-BE49-F238E27FC236}">
                <a16:creationId xmlns:a16="http://schemas.microsoft.com/office/drawing/2014/main" id="{125591EF-DE95-42AC-E11B-807411078C2F}"/>
              </a:ext>
            </a:extLst>
          </p:cNvPr>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9" name="Text 27">
            <a:extLst>
              <a:ext uri="{FF2B5EF4-FFF2-40B4-BE49-F238E27FC236}">
                <a16:creationId xmlns:a16="http://schemas.microsoft.com/office/drawing/2014/main" id="{C24B1620-4C06-72B9-C020-8142B7687534}"/>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35" name="TextBox 34">
            <a:extLst>
              <a:ext uri="{FF2B5EF4-FFF2-40B4-BE49-F238E27FC236}">
                <a16:creationId xmlns:a16="http://schemas.microsoft.com/office/drawing/2014/main" id="{8C869703-FFE6-D7D9-E20E-34B4A25843C6}"/>
              </a:ext>
            </a:extLst>
          </p:cNvPr>
          <p:cNvSpPr txBox="1"/>
          <p:nvPr/>
        </p:nvSpPr>
        <p:spPr>
          <a:xfrm>
            <a:off x="2257865" y="809529"/>
            <a:ext cx="2433158" cy="3139321"/>
          </a:xfrm>
          <a:prstGeom prst="rect">
            <a:avLst/>
          </a:prstGeom>
          <a:noFill/>
        </p:spPr>
        <p:txBody>
          <a:bodyPr wrap="square" rtlCol="0">
            <a:spAutoFit/>
          </a:bodyPr>
          <a:lstStyle/>
          <a:p>
            <a:r>
              <a:rPr lang="en-GB" sz="1100" b="1" dirty="0"/>
              <a:t>Loan-to-Value by Portfolio and by Issuer</a:t>
            </a:r>
            <a:r>
              <a:rPr lang="en-GB" sz="1100" dirty="0"/>
              <a:t> Requirements 3 and 4 LTV measures how well each loan is collateralised against the underlying property. The brief defines it as: value of loan divided by value of property.</a:t>
            </a:r>
          </a:p>
          <a:p>
            <a:endParaRPr lang="en-GB" sz="1100" dirty="0"/>
          </a:p>
          <a:p>
            <a:r>
              <a:rPr lang="en-GB" sz="1100" b="1" dirty="0"/>
              <a:t>How Risk is Shown</a:t>
            </a:r>
            <a:r>
              <a:rPr lang="en-GB" sz="1100" dirty="0"/>
              <a:t> Fixed colour gradient grounded in Swiss regulation:</a:t>
            </a:r>
          </a:p>
          <a:p>
            <a:pPr marL="171450" indent="-171450">
              <a:buFont typeface="Arial" panose="020B0604020202020204" pitchFamily="34" charset="0"/>
              <a:buChar char="•"/>
            </a:pPr>
            <a:r>
              <a:rPr lang="en-GB" sz="1100" u="sng" dirty="0">
                <a:solidFill>
                  <a:schemeClr val="accent6">
                    <a:lumMod val="75000"/>
                  </a:schemeClr>
                </a:solidFill>
              </a:rPr>
              <a:t>Green</a:t>
            </a:r>
            <a:r>
              <a:rPr lang="en-GB" sz="1100" dirty="0"/>
              <a:t> below 0.75: within FINMA's maximum LTV for investment properties. </a:t>
            </a:r>
          </a:p>
          <a:p>
            <a:pPr marL="171450" indent="-171450">
              <a:buFont typeface="Arial" panose="020B0604020202020204" pitchFamily="34" charset="0"/>
              <a:buChar char="•"/>
            </a:pPr>
            <a:r>
              <a:rPr lang="en-GB" sz="1100" u="sng" dirty="0">
                <a:solidFill>
                  <a:schemeClr val="accent2">
                    <a:lumMod val="75000"/>
                  </a:schemeClr>
                </a:solidFill>
              </a:rPr>
              <a:t>Amber</a:t>
            </a:r>
            <a:r>
              <a:rPr lang="en-GB" sz="1100" dirty="0"/>
              <a:t> 0.75 to 1.0: above the regulatory threshold, monitor closely. </a:t>
            </a:r>
          </a:p>
          <a:p>
            <a:pPr marL="171450" indent="-171450">
              <a:buFont typeface="Arial" panose="020B0604020202020204" pitchFamily="34" charset="0"/>
              <a:buChar char="•"/>
            </a:pPr>
            <a:r>
              <a:rPr lang="en-GB" sz="1100" u="sng" dirty="0">
                <a:solidFill>
                  <a:srgbClr val="FF0000"/>
                </a:solidFill>
              </a:rPr>
              <a:t>Red</a:t>
            </a:r>
            <a:r>
              <a:rPr lang="en-GB" sz="1100" dirty="0"/>
              <a:t> at 1.0: loan equals property value, collateral no longer covers the risk. </a:t>
            </a:r>
            <a:endParaRPr lang="en-CH" dirty="0"/>
          </a:p>
        </p:txBody>
      </p:sp>
      <p:sp>
        <p:nvSpPr>
          <p:cNvPr id="14" name="Shape 4">
            <a:extLst>
              <a:ext uri="{FF2B5EF4-FFF2-40B4-BE49-F238E27FC236}">
                <a16:creationId xmlns:a16="http://schemas.microsoft.com/office/drawing/2014/main" id="{4A9C4F86-8FCD-A1C1-61D8-4599DEDFC18B}"/>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16" name="Text 5">
            <a:extLst>
              <a:ext uri="{FF2B5EF4-FFF2-40B4-BE49-F238E27FC236}">
                <a16:creationId xmlns:a16="http://schemas.microsoft.com/office/drawing/2014/main" id="{1A69A836-F785-7540-0F86-A5969E192A93}"/>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accent1"/>
                </a:solidFill>
              </a:rPr>
              <a:t>P2  Loan Exposure</a:t>
            </a:r>
          </a:p>
          <a:p>
            <a:pPr>
              <a:lnSpc>
                <a:spcPct val="150000"/>
              </a:lnSpc>
            </a:pPr>
            <a:r>
              <a:rPr lang="en-US" sz="1600" b="1" dirty="0">
                <a:solidFill>
                  <a:schemeClr val="bg1"/>
                </a:solidFill>
              </a:rPr>
              <a:t>P3 LTV </a:t>
            </a:r>
          </a:p>
          <a:p>
            <a:pPr>
              <a:lnSpc>
                <a:spcPct val="150000"/>
              </a:lnSpc>
            </a:pPr>
            <a:r>
              <a:rPr lang="en-US" sz="1600" b="1" dirty="0">
                <a:solidFill>
                  <a:schemeClr val="tx1">
                    <a:lumMod val="50000"/>
                    <a:lumOff val="50000"/>
                  </a:schemeClr>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pic>
        <p:nvPicPr>
          <p:cNvPr id="18" name="Picture 17">
            <a:extLst>
              <a:ext uri="{FF2B5EF4-FFF2-40B4-BE49-F238E27FC236}">
                <a16:creationId xmlns:a16="http://schemas.microsoft.com/office/drawing/2014/main" id="{7D54BA93-5DCF-AD26-BBA4-71A6B65DD4E0}"/>
              </a:ext>
            </a:extLst>
          </p:cNvPr>
          <p:cNvPicPr>
            <a:picLocks noChangeAspect="1"/>
          </p:cNvPicPr>
          <p:nvPr/>
        </p:nvPicPr>
        <p:blipFill>
          <a:blip r:embed="rId3"/>
          <a:stretch>
            <a:fillRect/>
          </a:stretch>
        </p:blipFill>
        <p:spPr>
          <a:xfrm>
            <a:off x="4697490" y="1010015"/>
            <a:ext cx="4333968" cy="617273"/>
          </a:xfrm>
          <a:prstGeom prst="rect">
            <a:avLst/>
          </a:prstGeom>
        </p:spPr>
      </p:pic>
      <p:sp>
        <p:nvSpPr>
          <p:cNvPr id="19" name="TextBox 18">
            <a:extLst>
              <a:ext uri="{FF2B5EF4-FFF2-40B4-BE49-F238E27FC236}">
                <a16:creationId xmlns:a16="http://schemas.microsoft.com/office/drawing/2014/main" id="{C4F370CB-F76A-D0C1-0618-C380D9F137C0}"/>
              </a:ext>
            </a:extLst>
          </p:cNvPr>
          <p:cNvSpPr txBox="1"/>
          <p:nvPr/>
        </p:nvSpPr>
        <p:spPr>
          <a:xfrm>
            <a:off x="2257864" y="3929026"/>
            <a:ext cx="6520375" cy="600164"/>
          </a:xfrm>
          <a:prstGeom prst="rect">
            <a:avLst/>
          </a:prstGeom>
          <a:noFill/>
        </p:spPr>
        <p:txBody>
          <a:bodyPr wrap="square" rtlCol="0">
            <a:spAutoFit/>
          </a:bodyPr>
          <a:lstStyle/>
          <a:p>
            <a:r>
              <a:rPr lang="en-GB" sz="1100" b="1" dirty="0"/>
              <a:t>What can be seen: </a:t>
            </a:r>
            <a:r>
              <a:rPr lang="en-GB" sz="1100" dirty="0"/>
              <a:t>Both portfolios sit in the amber zone at ~0.86. IR-J4V9B is the highest-risk issuer at 0.95 approaching the collateral threshold. Three issuers fall below 0.75, within the FINMA safe zone..</a:t>
            </a:r>
          </a:p>
          <a:p>
            <a:endParaRPr lang="en-CH" sz="1100" dirty="0"/>
          </a:p>
        </p:txBody>
      </p:sp>
      <p:sp>
        <p:nvSpPr>
          <p:cNvPr id="20" name="TextBox 19">
            <a:extLst>
              <a:ext uri="{FF2B5EF4-FFF2-40B4-BE49-F238E27FC236}">
                <a16:creationId xmlns:a16="http://schemas.microsoft.com/office/drawing/2014/main" id="{C9D8B912-33DE-BB1B-4DFC-9606035A6627}"/>
              </a:ext>
            </a:extLst>
          </p:cNvPr>
          <p:cNvSpPr txBox="1"/>
          <p:nvPr/>
        </p:nvSpPr>
        <p:spPr>
          <a:xfrm>
            <a:off x="4609515" y="891143"/>
            <a:ext cx="458780" cy="276999"/>
          </a:xfrm>
          <a:prstGeom prst="rect">
            <a:avLst/>
          </a:prstGeom>
          <a:noFill/>
        </p:spPr>
        <p:txBody>
          <a:bodyPr wrap="none" rtlCol="0">
            <a:spAutoFit/>
          </a:bodyPr>
          <a:lstStyle/>
          <a:p>
            <a:r>
              <a:rPr lang="de-CH" sz="1200" dirty="0"/>
              <a:t>0.75</a:t>
            </a:r>
            <a:endParaRPr lang="en-CH" sz="1200" dirty="0"/>
          </a:p>
        </p:txBody>
      </p:sp>
      <p:sp>
        <p:nvSpPr>
          <p:cNvPr id="21" name="TextBox 20">
            <a:extLst>
              <a:ext uri="{FF2B5EF4-FFF2-40B4-BE49-F238E27FC236}">
                <a16:creationId xmlns:a16="http://schemas.microsoft.com/office/drawing/2014/main" id="{98D90CE0-B407-9655-C584-2E40AFF38390}"/>
              </a:ext>
            </a:extLst>
          </p:cNvPr>
          <p:cNvSpPr txBox="1"/>
          <p:nvPr/>
        </p:nvSpPr>
        <p:spPr>
          <a:xfrm>
            <a:off x="6325024" y="891143"/>
            <a:ext cx="380232" cy="276999"/>
          </a:xfrm>
          <a:prstGeom prst="rect">
            <a:avLst/>
          </a:prstGeom>
          <a:noFill/>
        </p:spPr>
        <p:txBody>
          <a:bodyPr wrap="none" rtlCol="0">
            <a:spAutoFit/>
          </a:bodyPr>
          <a:lstStyle/>
          <a:p>
            <a:r>
              <a:rPr lang="de-CH" sz="1200" dirty="0"/>
              <a:t>0.8</a:t>
            </a:r>
            <a:endParaRPr lang="en-CH" sz="1200" dirty="0"/>
          </a:p>
        </p:txBody>
      </p:sp>
      <p:sp>
        <p:nvSpPr>
          <p:cNvPr id="22" name="TextBox 21">
            <a:extLst>
              <a:ext uri="{FF2B5EF4-FFF2-40B4-BE49-F238E27FC236}">
                <a16:creationId xmlns:a16="http://schemas.microsoft.com/office/drawing/2014/main" id="{2C349CA6-670B-302B-72CE-8438C3E964DF}"/>
              </a:ext>
            </a:extLst>
          </p:cNvPr>
          <p:cNvSpPr txBox="1"/>
          <p:nvPr/>
        </p:nvSpPr>
        <p:spPr>
          <a:xfrm>
            <a:off x="8778240" y="945704"/>
            <a:ext cx="263214" cy="276999"/>
          </a:xfrm>
          <a:prstGeom prst="rect">
            <a:avLst/>
          </a:prstGeom>
          <a:noFill/>
        </p:spPr>
        <p:txBody>
          <a:bodyPr wrap="none" rtlCol="0">
            <a:spAutoFit/>
          </a:bodyPr>
          <a:lstStyle/>
          <a:p>
            <a:r>
              <a:rPr lang="de-CH" sz="1200" dirty="0"/>
              <a:t>1</a:t>
            </a:r>
            <a:endParaRPr lang="en-CH" sz="1200" dirty="0"/>
          </a:p>
        </p:txBody>
      </p:sp>
      <p:sp>
        <p:nvSpPr>
          <p:cNvPr id="24" name="TextBox 23">
            <a:extLst>
              <a:ext uri="{FF2B5EF4-FFF2-40B4-BE49-F238E27FC236}">
                <a16:creationId xmlns:a16="http://schemas.microsoft.com/office/drawing/2014/main" id="{B3FCD1FF-5159-DDAF-FEBB-F699D5B5FD0F}"/>
              </a:ext>
            </a:extLst>
          </p:cNvPr>
          <p:cNvSpPr txBox="1"/>
          <p:nvPr/>
        </p:nvSpPr>
        <p:spPr>
          <a:xfrm>
            <a:off x="2257865" y="4451368"/>
            <a:ext cx="6706135" cy="515526"/>
          </a:xfrm>
          <a:prstGeom prst="rect">
            <a:avLst/>
          </a:prstGeom>
          <a:noFill/>
        </p:spPr>
        <p:txBody>
          <a:bodyPr wrap="square" rtlCol="0">
            <a:spAutoFit/>
          </a:bodyPr>
          <a:lstStyle/>
          <a:p>
            <a:r>
              <a:rPr lang="en-GB" sz="650" dirty="0"/>
              <a:t>¹ Strike Advisory — </a:t>
            </a:r>
            <a:r>
              <a:rPr lang="en-GB" sz="650" i="1" dirty="0"/>
              <a:t>Loan-to-value (LTV) and mortgages in Switzerland</a:t>
            </a:r>
            <a:r>
              <a:rPr lang="en-GB" sz="650" dirty="0"/>
              <a:t> — strike-advisory.ch "Most mortgage institutions do not grant mortgages if the loan-to-value ratio is over 80%"</a:t>
            </a:r>
          </a:p>
          <a:p>
            <a:r>
              <a:rPr lang="en-GB" sz="650" dirty="0"/>
              <a:t>² FINMA / </a:t>
            </a:r>
            <a:r>
              <a:rPr lang="en-GB" sz="650" dirty="0" err="1"/>
              <a:t>Mondaq</a:t>
            </a:r>
            <a:r>
              <a:rPr lang="en-GB" sz="650" dirty="0"/>
              <a:t> — </a:t>
            </a:r>
            <a:r>
              <a:rPr lang="en-GB" sz="650" i="1" dirty="0"/>
              <a:t>Swiss Regulator Further Restricts Mortgage Loan Requirements</a:t>
            </a:r>
            <a:r>
              <a:rPr lang="en-GB" sz="650" dirty="0"/>
              <a:t> — mondaq.com, December 2019 "The maximum loan-to-value ratio is set at 75% for investment properties"</a:t>
            </a:r>
          </a:p>
          <a:p>
            <a:r>
              <a:rPr lang="en-GB" sz="650" dirty="0"/>
              <a:t>³ Brief definition — </a:t>
            </a:r>
            <a:r>
              <a:rPr lang="en-GB" sz="650" i="1" dirty="0"/>
              <a:t>business case.xlsx, Requirements sheet</a:t>
            </a:r>
            <a:r>
              <a:rPr lang="en-GB" sz="650" dirty="0"/>
              <a:t> "loan-to-value = value of loan divided by value of property" — LTV = 1.0 means loan equals property value</a:t>
            </a:r>
          </a:p>
          <a:p>
            <a:endParaRPr lang="en-CH" sz="800" dirty="0"/>
          </a:p>
        </p:txBody>
      </p:sp>
      <p:pic>
        <p:nvPicPr>
          <p:cNvPr id="30" name="Picture 29">
            <a:extLst>
              <a:ext uri="{FF2B5EF4-FFF2-40B4-BE49-F238E27FC236}">
                <a16:creationId xmlns:a16="http://schemas.microsoft.com/office/drawing/2014/main" id="{0E928276-4737-F0E0-A252-B1BD279B0B1F}"/>
              </a:ext>
            </a:extLst>
          </p:cNvPr>
          <p:cNvPicPr>
            <a:picLocks noChangeAspect="1"/>
          </p:cNvPicPr>
          <p:nvPr/>
        </p:nvPicPr>
        <p:blipFill>
          <a:blip r:embed="rId4"/>
          <a:stretch>
            <a:fillRect/>
          </a:stretch>
        </p:blipFill>
        <p:spPr>
          <a:xfrm>
            <a:off x="4568787" y="1646042"/>
            <a:ext cx="4331689" cy="2329729"/>
          </a:xfrm>
          <a:prstGeom prst="rect">
            <a:avLst/>
          </a:prstGeom>
        </p:spPr>
      </p:pic>
    </p:spTree>
    <p:extLst>
      <p:ext uri="{BB962C8B-B14F-4D97-AF65-F5344CB8AC3E}">
        <p14:creationId xmlns:p14="http://schemas.microsoft.com/office/powerpoint/2010/main" val="3468882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F6113-9ADC-AE62-059A-276603204F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8317DF-9215-D9E7-CC44-F51CD9AC0C20}"/>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C6FB1247-3ACC-4A86-69A3-65C181804F3F}"/>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8D00889D-3CDA-BC0D-DE24-578F557E663B}"/>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B43EFAD2-FD62-044F-A3C0-7735CDDCC5FC}"/>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A5A9D214-0181-AAAD-F90E-56F97B878FA2}"/>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7" name="Text 25">
            <a:extLst>
              <a:ext uri="{FF2B5EF4-FFF2-40B4-BE49-F238E27FC236}">
                <a16:creationId xmlns:a16="http://schemas.microsoft.com/office/drawing/2014/main" id="{3F2BABA9-427D-DB6F-2560-737D64B0C78C}"/>
              </a:ext>
            </a:extLst>
          </p:cNvPr>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Drillthrough</a:t>
            </a:r>
            <a:endParaRPr lang="en-US" sz="1100" dirty="0"/>
          </a:p>
        </p:txBody>
      </p:sp>
      <p:sp>
        <p:nvSpPr>
          <p:cNvPr id="29" name="Text 27">
            <a:extLst>
              <a:ext uri="{FF2B5EF4-FFF2-40B4-BE49-F238E27FC236}">
                <a16:creationId xmlns:a16="http://schemas.microsoft.com/office/drawing/2014/main" id="{E9A57F2B-0DE1-F39F-2502-F3E7C25454D5}"/>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35" name="TextBox 34">
            <a:extLst>
              <a:ext uri="{FF2B5EF4-FFF2-40B4-BE49-F238E27FC236}">
                <a16:creationId xmlns:a16="http://schemas.microsoft.com/office/drawing/2014/main" id="{63347E32-F021-09E5-2761-A1624C8D5128}"/>
              </a:ext>
            </a:extLst>
          </p:cNvPr>
          <p:cNvSpPr txBox="1"/>
          <p:nvPr/>
        </p:nvSpPr>
        <p:spPr>
          <a:xfrm>
            <a:off x="2326446" y="3088654"/>
            <a:ext cx="6719026" cy="1846659"/>
          </a:xfrm>
          <a:prstGeom prst="rect">
            <a:avLst/>
          </a:prstGeom>
          <a:noFill/>
        </p:spPr>
        <p:txBody>
          <a:bodyPr wrap="square" rtlCol="0">
            <a:spAutoFit/>
          </a:bodyPr>
          <a:lstStyle/>
          <a:p>
            <a:pPr algn="just"/>
            <a:r>
              <a:rPr lang="en-GB" sz="1200" b="1" dirty="0"/>
              <a:t>Requirement 5: Cases 1 to 4 in %</a:t>
            </a:r>
            <a:r>
              <a:rPr lang="en-GB" sz="1200" dirty="0"/>
              <a:t> All four metrics from requirements 1 to 4 expressed as percentages in a single view. Loan Exposure % and LTV % side by side — two questions answered simultaneously: how big is the position and how risky is it?</a:t>
            </a:r>
          </a:p>
          <a:p>
            <a:pPr algn="just"/>
            <a:r>
              <a:rPr lang="en-GB" sz="1200" b="1" dirty="0"/>
              <a:t>Design Decisions</a:t>
            </a:r>
            <a:r>
              <a:rPr lang="en-GB" sz="1200" dirty="0"/>
              <a:t> Loan Exposure % uses DIVIDE([Loan Exposure], [Portfolio Value]):  zero-safe, returns BLANK for closed positions automatically. LTV % is [</a:t>
            </a:r>
            <a:r>
              <a:rPr lang="en-GB" sz="1200" dirty="0" err="1"/>
              <a:t>Avg</a:t>
            </a:r>
            <a:r>
              <a:rPr lang="en-GB" sz="1200" dirty="0"/>
              <a:t> LTV] × 100 , </a:t>
            </a:r>
            <a:r>
              <a:rPr lang="en-GB" sz="1200" dirty="0">
                <a:hlinkClick r:id="rId3" action="ppaction://hlinksldjump"/>
              </a:rPr>
              <a:t>same calculation as P3</a:t>
            </a:r>
            <a:r>
              <a:rPr lang="en-GB" sz="1200" dirty="0"/>
              <a:t>, same fixed gradient, scaled to percentage. Thresholds remain 75% and 100%  grounded in the same FINMA regulation as P3.</a:t>
            </a:r>
          </a:p>
          <a:p>
            <a:endParaRPr lang="en-GB" sz="1200" dirty="0"/>
          </a:p>
          <a:p>
            <a:endParaRPr lang="en-CH" dirty="0"/>
          </a:p>
        </p:txBody>
      </p:sp>
      <p:sp>
        <p:nvSpPr>
          <p:cNvPr id="9" name="Shape 4">
            <a:extLst>
              <a:ext uri="{FF2B5EF4-FFF2-40B4-BE49-F238E27FC236}">
                <a16:creationId xmlns:a16="http://schemas.microsoft.com/office/drawing/2014/main" id="{18C10DBA-F978-3C15-7186-00C8EC40E42A}"/>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10" name="Text 5">
            <a:extLst>
              <a:ext uri="{FF2B5EF4-FFF2-40B4-BE49-F238E27FC236}">
                <a16:creationId xmlns:a16="http://schemas.microsoft.com/office/drawing/2014/main" id="{886FED9C-B624-27A2-8D6F-038C865CA7C1}"/>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accent1"/>
                </a:solidFill>
              </a:rPr>
              <a:t>P2  Loan Exposure</a:t>
            </a:r>
          </a:p>
          <a:p>
            <a:pPr>
              <a:lnSpc>
                <a:spcPct val="150000"/>
              </a:lnSpc>
            </a:pPr>
            <a:r>
              <a:rPr lang="en-US" sz="1600" b="1" dirty="0">
                <a:solidFill>
                  <a:schemeClr val="accent1"/>
                </a:solidFill>
              </a:rPr>
              <a:t>P3 LTV </a:t>
            </a:r>
          </a:p>
          <a:p>
            <a:pPr>
              <a:lnSpc>
                <a:spcPct val="150000"/>
              </a:lnSpc>
            </a:pPr>
            <a:r>
              <a:rPr lang="en-US" sz="1600" b="1" dirty="0">
                <a:solidFill>
                  <a:schemeClr val="bg1"/>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pic>
        <p:nvPicPr>
          <p:cNvPr id="14" name="Picture 13">
            <a:extLst>
              <a:ext uri="{FF2B5EF4-FFF2-40B4-BE49-F238E27FC236}">
                <a16:creationId xmlns:a16="http://schemas.microsoft.com/office/drawing/2014/main" id="{3CBAEC9A-ACF9-1AFC-C4AF-2F4660AEF350}"/>
              </a:ext>
            </a:extLst>
          </p:cNvPr>
          <p:cNvPicPr>
            <a:picLocks noChangeAspect="1"/>
          </p:cNvPicPr>
          <p:nvPr/>
        </p:nvPicPr>
        <p:blipFill>
          <a:blip r:embed="rId4"/>
          <a:stretch>
            <a:fillRect/>
          </a:stretch>
        </p:blipFill>
        <p:spPr>
          <a:xfrm>
            <a:off x="3552092" y="854809"/>
            <a:ext cx="4093699" cy="2142532"/>
          </a:xfrm>
          <a:prstGeom prst="rect">
            <a:avLst/>
          </a:prstGeom>
        </p:spPr>
      </p:pic>
    </p:spTree>
    <p:extLst>
      <p:ext uri="{BB962C8B-B14F-4D97-AF65-F5344CB8AC3E}">
        <p14:creationId xmlns:p14="http://schemas.microsoft.com/office/powerpoint/2010/main" val="1933044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972EC-FA5A-5E95-E5FD-1768B08DAC8A}"/>
            </a:ext>
          </a:extLst>
        </p:cNvPr>
        <p:cNvGrpSpPr/>
        <p:nvPr/>
      </p:nvGrpSpPr>
      <p:grpSpPr>
        <a:xfrm>
          <a:off x="0" y="0"/>
          <a:ext cx="0" cy="0"/>
          <a:chOff x="0" y="0"/>
          <a:chExt cx="0" cy="0"/>
        </a:xfrm>
      </p:grpSpPr>
      <p:sp>
        <p:nvSpPr>
          <p:cNvPr id="12" name="Shape 4">
            <a:extLst>
              <a:ext uri="{FF2B5EF4-FFF2-40B4-BE49-F238E27FC236}">
                <a16:creationId xmlns:a16="http://schemas.microsoft.com/office/drawing/2014/main" id="{90ABA406-4443-6854-169E-61D17A92BEBD}"/>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2" name="Shape 0">
            <a:extLst>
              <a:ext uri="{FF2B5EF4-FFF2-40B4-BE49-F238E27FC236}">
                <a16:creationId xmlns:a16="http://schemas.microsoft.com/office/drawing/2014/main" id="{AF67A00F-294F-D5F9-D8D2-AC27B3CF9604}"/>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3B54A470-B350-76B8-351F-34BCA9912372}"/>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A359424D-6166-B9BE-B172-2C04B1C3B1B6}"/>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A31B94AD-C8AF-9812-7DBD-7C3503902E93}"/>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26E8F44C-2713-DD66-B343-6D88E6FB1F7C}"/>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7" name="Text 25">
            <a:extLst>
              <a:ext uri="{FF2B5EF4-FFF2-40B4-BE49-F238E27FC236}">
                <a16:creationId xmlns:a16="http://schemas.microsoft.com/office/drawing/2014/main" id="{69037C32-D659-E3F0-B22C-33C6E299A4E5}"/>
              </a:ext>
            </a:extLst>
          </p:cNvPr>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Drillthrough</a:t>
            </a:r>
            <a:endParaRPr lang="en-US" sz="1100" dirty="0"/>
          </a:p>
        </p:txBody>
      </p:sp>
      <p:sp>
        <p:nvSpPr>
          <p:cNvPr id="29" name="Text 27">
            <a:extLst>
              <a:ext uri="{FF2B5EF4-FFF2-40B4-BE49-F238E27FC236}">
                <a16:creationId xmlns:a16="http://schemas.microsoft.com/office/drawing/2014/main" id="{8BE35998-4BAC-734E-24CB-DDDAA8EED7A4}"/>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35" name="TextBox 34">
            <a:extLst>
              <a:ext uri="{FF2B5EF4-FFF2-40B4-BE49-F238E27FC236}">
                <a16:creationId xmlns:a16="http://schemas.microsoft.com/office/drawing/2014/main" id="{A5EB8231-CD73-A81B-6C26-90BCC7DA36F4}"/>
              </a:ext>
            </a:extLst>
          </p:cNvPr>
          <p:cNvSpPr txBox="1"/>
          <p:nvPr/>
        </p:nvSpPr>
        <p:spPr>
          <a:xfrm>
            <a:off x="2232079" y="1022016"/>
            <a:ext cx="2208433" cy="3323987"/>
          </a:xfrm>
          <a:prstGeom prst="rect">
            <a:avLst/>
          </a:prstGeom>
          <a:noFill/>
        </p:spPr>
        <p:txBody>
          <a:bodyPr wrap="square" rtlCol="0">
            <a:spAutoFit/>
          </a:bodyPr>
          <a:lstStyle/>
          <a:p>
            <a:pPr algn="just"/>
            <a:r>
              <a:rPr lang="en-GB" sz="1200" b="1" dirty="0"/>
              <a:t>Loan Exposure Over Time</a:t>
            </a:r>
            <a:r>
              <a:rPr lang="en-GB" sz="1200" dirty="0"/>
              <a:t> Requirement 6: cases 1 to 4 over time with a dynamic slicing window. Two line charts show monthly loan exposure in absolute value and as a percentage of portfolio value simultaneously.</a:t>
            </a:r>
          </a:p>
          <a:p>
            <a:pPr algn="just"/>
            <a:endParaRPr lang="en-GB" sz="1200" dirty="0"/>
          </a:p>
          <a:p>
            <a:pPr algn="just"/>
            <a:r>
              <a:rPr lang="en-GB" sz="1200" b="1" dirty="0"/>
              <a:t>Design Decisions</a:t>
            </a:r>
            <a:r>
              <a:rPr lang="en-GB" sz="1200" dirty="0"/>
              <a:t> The date slicer controls the window. The zero reference line from the Analytics pane makes months where sells exceed buys immediately visible without needing to read the axis carefully.</a:t>
            </a:r>
          </a:p>
          <a:p>
            <a:endParaRPr lang="en-CH" dirty="0"/>
          </a:p>
        </p:txBody>
      </p:sp>
      <p:pic>
        <p:nvPicPr>
          <p:cNvPr id="9" name="Picture 8">
            <a:extLst>
              <a:ext uri="{FF2B5EF4-FFF2-40B4-BE49-F238E27FC236}">
                <a16:creationId xmlns:a16="http://schemas.microsoft.com/office/drawing/2014/main" id="{F082FD30-14AB-191A-1476-7ED2800631DB}"/>
              </a:ext>
            </a:extLst>
          </p:cNvPr>
          <p:cNvPicPr>
            <a:picLocks noChangeAspect="1"/>
          </p:cNvPicPr>
          <p:nvPr/>
        </p:nvPicPr>
        <p:blipFill>
          <a:blip r:embed="rId3"/>
          <a:stretch>
            <a:fillRect/>
          </a:stretch>
        </p:blipFill>
        <p:spPr>
          <a:xfrm>
            <a:off x="4370271" y="955385"/>
            <a:ext cx="4745400" cy="2594247"/>
          </a:xfrm>
          <a:prstGeom prst="rect">
            <a:avLst/>
          </a:prstGeom>
        </p:spPr>
      </p:pic>
      <p:sp>
        <p:nvSpPr>
          <p:cNvPr id="13" name="Text 5">
            <a:extLst>
              <a:ext uri="{FF2B5EF4-FFF2-40B4-BE49-F238E27FC236}">
                <a16:creationId xmlns:a16="http://schemas.microsoft.com/office/drawing/2014/main" id="{A19118FC-5DB1-0204-2D75-AB1FBDC040D6}"/>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accent1"/>
                </a:solidFill>
              </a:rPr>
              <a:t>P2  Loan Exposure</a:t>
            </a:r>
          </a:p>
          <a:p>
            <a:pPr>
              <a:lnSpc>
                <a:spcPct val="150000"/>
              </a:lnSpc>
            </a:pPr>
            <a:r>
              <a:rPr lang="en-US" sz="1600" b="1" dirty="0">
                <a:solidFill>
                  <a:schemeClr val="accent1"/>
                </a:solidFill>
              </a:rPr>
              <a:t>P3 LTV </a:t>
            </a:r>
          </a:p>
          <a:p>
            <a:pPr>
              <a:lnSpc>
                <a:spcPct val="150000"/>
              </a:lnSpc>
            </a:pPr>
            <a:r>
              <a:rPr lang="en-US" sz="1600" b="1" dirty="0">
                <a:solidFill>
                  <a:schemeClr val="accent1"/>
                </a:solidFill>
              </a:rPr>
              <a:t>P4 Metrics </a:t>
            </a:r>
          </a:p>
          <a:p>
            <a:pPr>
              <a:lnSpc>
                <a:spcPct val="150000"/>
              </a:lnSpc>
            </a:pPr>
            <a:r>
              <a:rPr lang="en-US" sz="1600" b="1" dirty="0">
                <a:solidFill>
                  <a:schemeClr val="bg1"/>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sp>
        <p:nvSpPr>
          <p:cNvPr id="14" name="TextBox 13">
            <a:extLst>
              <a:ext uri="{FF2B5EF4-FFF2-40B4-BE49-F238E27FC236}">
                <a16:creationId xmlns:a16="http://schemas.microsoft.com/office/drawing/2014/main" id="{1D57D757-625E-0E1D-355F-5ED4FFF9418F}"/>
              </a:ext>
            </a:extLst>
          </p:cNvPr>
          <p:cNvSpPr txBox="1"/>
          <p:nvPr/>
        </p:nvSpPr>
        <p:spPr>
          <a:xfrm>
            <a:off x="4524322" y="3507045"/>
            <a:ext cx="4578270" cy="1200329"/>
          </a:xfrm>
          <a:prstGeom prst="rect">
            <a:avLst/>
          </a:prstGeom>
          <a:noFill/>
        </p:spPr>
        <p:txBody>
          <a:bodyPr wrap="square" rtlCol="0">
            <a:spAutoFit/>
          </a:bodyPr>
          <a:lstStyle/>
          <a:p>
            <a:r>
              <a:rPr lang="en-GB" sz="1200" b="1" dirty="0"/>
              <a:t>Negative Months : </a:t>
            </a:r>
            <a:r>
              <a:rPr lang="en-GB" sz="1200" dirty="0"/>
              <a:t>June and July show negative exposure. This means sells exceeded buys in those months — loans were being repaid faster than new ones were issued. This is not a data error. It is the loan book contracting. The tool reports what happened accurately.</a:t>
            </a:r>
          </a:p>
          <a:p>
            <a:endParaRPr lang="en-GB" sz="1200" dirty="0"/>
          </a:p>
          <a:p>
            <a:endParaRPr lang="en-CH" sz="1200" dirty="0"/>
          </a:p>
        </p:txBody>
      </p:sp>
    </p:spTree>
    <p:extLst>
      <p:ext uri="{BB962C8B-B14F-4D97-AF65-F5344CB8AC3E}">
        <p14:creationId xmlns:p14="http://schemas.microsoft.com/office/powerpoint/2010/main" val="271765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0B7F-F1EA-642E-C3FB-7B3EA69C450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4A911DC-FED8-BB57-BC82-0FF2D5FCE8BD}"/>
              </a:ext>
            </a:extLst>
          </p:cNvPr>
          <p:cNvPicPr>
            <a:picLocks noChangeAspect="1"/>
          </p:cNvPicPr>
          <p:nvPr/>
        </p:nvPicPr>
        <p:blipFill>
          <a:blip r:embed="rId3"/>
          <a:stretch>
            <a:fillRect/>
          </a:stretch>
        </p:blipFill>
        <p:spPr>
          <a:xfrm>
            <a:off x="4645996" y="890618"/>
            <a:ext cx="4198662" cy="2741311"/>
          </a:xfrm>
          <a:prstGeom prst="rect">
            <a:avLst/>
          </a:prstGeom>
        </p:spPr>
      </p:pic>
      <p:sp>
        <p:nvSpPr>
          <p:cNvPr id="2" name="Shape 0">
            <a:extLst>
              <a:ext uri="{FF2B5EF4-FFF2-40B4-BE49-F238E27FC236}">
                <a16:creationId xmlns:a16="http://schemas.microsoft.com/office/drawing/2014/main" id="{23BFF92A-7A57-4322-2E97-38529EF7404D}"/>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B6D753A7-E8FC-7560-8CBA-08367F2CAC91}"/>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64CDBF6D-CD9A-7A4A-C311-03E64501BED4}"/>
              </a:ext>
            </a:extLst>
          </p:cNvPr>
          <p:cNvSpPr/>
          <p:nvPr/>
        </p:nvSpPr>
        <p:spPr>
          <a:xfrm>
            <a:off x="365760" y="713232"/>
            <a:ext cx="8412480" cy="27432"/>
          </a:xfrm>
          <a:prstGeom prst="rect">
            <a:avLst/>
          </a:prstGeom>
          <a:solidFill>
            <a:srgbClr val="E8ECF2"/>
          </a:solidFill>
          <a:ln/>
        </p:spPr>
        <p:txBody>
          <a:bodyPr/>
          <a:lstStyle/>
          <a:p>
            <a:endParaRPr lang="en-CH"/>
          </a:p>
        </p:txBody>
      </p:sp>
      <p:sp>
        <p:nvSpPr>
          <p:cNvPr id="6" name="Shape 4">
            <a:extLst>
              <a:ext uri="{FF2B5EF4-FFF2-40B4-BE49-F238E27FC236}">
                <a16:creationId xmlns:a16="http://schemas.microsoft.com/office/drawing/2014/main" id="{301BFFD3-D591-4E8D-9DAA-0409CEF96FAC}"/>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7" name="Text 5">
            <a:extLst>
              <a:ext uri="{FF2B5EF4-FFF2-40B4-BE49-F238E27FC236}">
                <a16:creationId xmlns:a16="http://schemas.microsoft.com/office/drawing/2014/main" id="{AA19D6A6-CBE5-4E28-9897-06F1009DD9D7}"/>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accent1"/>
                </a:solidFill>
              </a:rPr>
              <a:t>P2  Loan Exposure</a:t>
            </a:r>
          </a:p>
          <a:p>
            <a:pPr>
              <a:lnSpc>
                <a:spcPct val="150000"/>
              </a:lnSpc>
            </a:pPr>
            <a:r>
              <a:rPr lang="en-US" sz="1600" b="1" dirty="0">
                <a:solidFill>
                  <a:schemeClr val="accent1"/>
                </a:solidFill>
              </a:rPr>
              <a:t>P3 LTV </a:t>
            </a:r>
          </a:p>
          <a:p>
            <a:pPr>
              <a:lnSpc>
                <a:spcPct val="150000"/>
              </a:lnSpc>
            </a:pPr>
            <a:r>
              <a:rPr lang="en-US" sz="1600" b="1" dirty="0">
                <a:solidFill>
                  <a:schemeClr val="accent1"/>
                </a:solidFill>
              </a:rPr>
              <a:t>P4 Metrics</a:t>
            </a:r>
          </a:p>
          <a:p>
            <a:pPr>
              <a:lnSpc>
                <a:spcPct val="150000"/>
              </a:lnSpc>
            </a:pPr>
            <a:r>
              <a:rPr lang="en-US" sz="1600" b="1" dirty="0">
                <a:solidFill>
                  <a:schemeClr val="accent1"/>
                </a:solidFill>
              </a:rPr>
              <a:t>P5 Time Series</a:t>
            </a:r>
          </a:p>
          <a:p>
            <a:pPr>
              <a:lnSpc>
                <a:spcPct val="150000"/>
              </a:lnSpc>
            </a:pPr>
            <a:r>
              <a:rPr lang="en-US" sz="1600" b="1" dirty="0">
                <a:solidFill>
                  <a:schemeClr val="bg1"/>
                </a:solidFill>
              </a:rPr>
              <a:t>P6 Transaction Detail</a:t>
            </a:r>
          </a:p>
          <a:p>
            <a:pPr>
              <a:lnSpc>
                <a:spcPct val="150000"/>
              </a:lnSpc>
            </a:pPr>
            <a:endParaRPr lang="en-US" sz="1100" dirty="0"/>
          </a:p>
          <a:p>
            <a:pPr marL="0" indent="0">
              <a:lnSpc>
                <a:spcPct val="150000"/>
              </a:lnSpc>
              <a:buNone/>
            </a:pPr>
            <a:endParaRPr lang="en-US" sz="1100" dirty="0"/>
          </a:p>
        </p:txBody>
      </p:sp>
      <p:sp>
        <p:nvSpPr>
          <p:cNvPr id="11" name="Text 9">
            <a:extLst>
              <a:ext uri="{FF2B5EF4-FFF2-40B4-BE49-F238E27FC236}">
                <a16:creationId xmlns:a16="http://schemas.microsoft.com/office/drawing/2014/main" id="{95BDB753-EFCF-5DC1-942A-C8B06A76B34E}"/>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B18AEAE1-B7BD-DF43-9386-A8F71F35488D}"/>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7" name="Text 25">
            <a:extLst>
              <a:ext uri="{FF2B5EF4-FFF2-40B4-BE49-F238E27FC236}">
                <a16:creationId xmlns:a16="http://schemas.microsoft.com/office/drawing/2014/main" id="{C99B264C-FCE6-ADAC-DB99-53BEE0EF2306}"/>
              </a:ext>
            </a:extLst>
          </p:cNvPr>
          <p:cNvSpPr/>
          <p:nvPr/>
        </p:nvSpPr>
        <p:spPr>
          <a:xfrm>
            <a:off x="612648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P6  Drillthrough</a:t>
            </a:r>
            <a:endParaRPr lang="en-US" sz="1100" dirty="0"/>
          </a:p>
        </p:txBody>
      </p:sp>
      <p:sp>
        <p:nvSpPr>
          <p:cNvPr id="29" name="Text 27">
            <a:extLst>
              <a:ext uri="{FF2B5EF4-FFF2-40B4-BE49-F238E27FC236}">
                <a16:creationId xmlns:a16="http://schemas.microsoft.com/office/drawing/2014/main" id="{CE41C03E-8405-4CFF-3B93-2109B76DCAD9}"/>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35" name="TextBox 34">
            <a:extLst>
              <a:ext uri="{FF2B5EF4-FFF2-40B4-BE49-F238E27FC236}">
                <a16:creationId xmlns:a16="http://schemas.microsoft.com/office/drawing/2014/main" id="{201077C9-515D-A8FB-7975-E2887BE979D0}"/>
              </a:ext>
            </a:extLst>
          </p:cNvPr>
          <p:cNvSpPr txBox="1"/>
          <p:nvPr/>
        </p:nvSpPr>
        <p:spPr>
          <a:xfrm>
            <a:off x="2257865" y="997400"/>
            <a:ext cx="2606040" cy="2800767"/>
          </a:xfrm>
          <a:prstGeom prst="rect">
            <a:avLst/>
          </a:prstGeom>
          <a:noFill/>
        </p:spPr>
        <p:txBody>
          <a:bodyPr wrap="square" rtlCol="0">
            <a:spAutoFit/>
          </a:bodyPr>
          <a:lstStyle/>
          <a:p>
            <a:r>
              <a:rPr lang="en-GB" sz="1100" b="1" dirty="0"/>
              <a:t>Why these fields:</a:t>
            </a:r>
            <a:endParaRPr lang="en-GB" sz="1100" dirty="0"/>
          </a:p>
          <a:p>
            <a:r>
              <a:rPr lang="en-GB" sz="1100" b="1" dirty="0"/>
              <a:t>transaction-code: </a:t>
            </a:r>
            <a:r>
              <a:rPr lang="en-GB" sz="1100" dirty="0"/>
              <a:t>unique identifier, so the auditor or manager can trace any row back to the source system. Traceability is non-negotiable in a regulated environment.</a:t>
            </a:r>
          </a:p>
          <a:p>
            <a:r>
              <a:rPr lang="en-GB" sz="1100" b="1" dirty="0"/>
              <a:t>transaction-date: </a:t>
            </a:r>
            <a:r>
              <a:rPr lang="en-GB" sz="1100" dirty="0"/>
              <a:t> when did this happen? Essential for understanding if a position is recent or historical.</a:t>
            </a:r>
          </a:p>
          <a:p>
            <a:r>
              <a:rPr lang="en-GB" sz="1100" b="1" dirty="0"/>
              <a:t>Loan Amount: </a:t>
            </a:r>
            <a:r>
              <a:rPr lang="en-GB" sz="1100" dirty="0"/>
              <a:t>the actual value of the transaction. This is what the bar chart summarised </a:t>
            </a:r>
          </a:p>
          <a:p>
            <a:r>
              <a:rPr lang="en-GB" sz="1100" b="1" dirty="0"/>
              <a:t>portfolio-code:</a:t>
            </a:r>
            <a:r>
              <a:rPr lang="en-GB" sz="1100" dirty="0"/>
              <a:t> which portfolio does this belong to. Especially relevant when drilling from the issuer chart where both portfolios may appear.</a:t>
            </a:r>
          </a:p>
        </p:txBody>
      </p:sp>
      <p:sp>
        <p:nvSpPr>
          <p:cNvPr id="10" name="TextBox 9">
            <a:extLst>
              <a:ext uri="{FF2B5EF4-FFF2-40B4-BE49-F238E27FC236}">
                <a16:creationId xmlns:a16="http://schemas.microsoft.com/office/drawing/2014/main" id="{F87392CC-A950-D1A6-6FB0-5D5FA88AABF2}"/>
              </a:ext>
            </a:extLst>
          </p:cNvPr>
          <p:cNvSpPr txBox="1"/>
          <p:nvPr/>
        </p:nvSpPr>
        <p:spPr>
          <a:xfrm>
            <a:off x="2257865" y="3727091"/>
            <a:ext cx="7047913" cy="615553"/>
          </a:xfrm>
          <a:prstGeom prst="rect">
            <a:avLst/>
          </a:prstGeom>
          <a:noFill/>
        </p:spPr>
        <p:txBody>
          <a:bodyPr wrap="square" rtlCol="0">
            <a:spAutoFit/>
          </a:bodyPr>
          <a:lstStyle/>
          <a:p>
            <a:r>
              <a:rPr lang="en-GB" sz="1100" b="1" dirty="0"/>
              <a:t>product-issuer-code: </a:t>
            </a:r>
            <a:r>
              <a:rPr lang="en-GB" sz="1100" dirty="0"/>
              <a:t>confirms which issuer you drilled into. Useful when multiple products belong to the same issuer.</a:t>
            </a:r>
          </a:p>
          <a:p>
            <a:r>
              <a:rPr lang="en-GB" sz="1100" b="1" dirty="0"/>
              <a:t>product-code:</a:t>
            </a:r>
            <a:r>
              <a:rPr lang="en-GB" sz="1100" dirty="0"/>
              <a:t> the specific loan product. Allows the manager to identify which exact instrument is driving the exposure.</a:t>
            </a:r>
          </a:p>
          <a:p>
            <a:endParaRPr lang="en-CH" sz="1200" dirty="0"/>
          </a:p>
        </p:txBody>
      </p:sp>
    </p:spTree>
    <p:extLst>
      <p:ext uri="{BB962C8B-B14F-4D97-AF65-F5344CB8AC3E}">
        <p14:creationId xmlns:p14="http://schemas.microsoft.com/office/powerpoint/2010/main" val="4129966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0026-4EC3-28DE-CF99-DCCFC638A9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B77620C-ECE5-8DD2-7CF8-E5848C6FF2AD}"/>
              </a:ext>
            </a:extLst>
          </p:cNvPr>
          <p:cNvSpPr/>
          <p:nvPr/>
        </p:nvSpPr>
        <p:spPr>
          <a:xfrm>
            <a:off x="0" y="4892040"/>
            <a:ext cx="9144000" cy="265176"/>
          </a:xfrm>
          <a:prstGeom prst="rect">
            <a:avLst/>
          </a:prstGeom>
          <a:solidFill>
            <a:srgbClr val="B89650"/>
          </a:solidFill>
          <a:ln/>
        </p:spPr>
        <p:txBody>
          <a:bodyPr/>
          <a:lstStyle/>
          <a:p>
            <a:endParaRPr lang="en-CH"/>
          </a:p>
        </p:txBody>
      </p:sp>
      <p:sp>
        <p:nvSpPr>
          <p:cNvPr id="3" name="Text 1">
            <a:extLst>
              <a:ext uri="{FF2B5EF4-FFF2-40B4-BE49-F238E27FC236}">
                <a16:creationId xmlns:a16="http://schemas.microsoft.com/office/drawing/2014/main" id="{E6EDBDF4-6FB0-7786-443C-D10C4ED8C58C}"/>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Power BI Dashboard — 6 Pages</a:t>
            </a:r>
            <a:endParaRPr lang="en-US" sz="2600" dirty="0"/>
          </a:p>
        </p:txBody>
      </p:sp>
      <p:sp>
        <p:nvSpPr>
          <p:cNvPr id="4" name="Shape 2">
            <a:extLst>
              <a:ext uri="{FF2B5EF4-FFF2-40B4-BE49-F238E27FC236}">
                <a16:creationId xmlns:a16="http://schemas.microsoft.com/office/drawing/2014/main" id="{2D76ADCB-6C37-C8E0-A04B-C15E49229252}"/>
              </a:ext>
            </a:extLst>
          </p:cNvPr>
          <p:cNvSpPr/>
          <p:nvPr/>
        </p:nvSpPr>
        <p:spPr>
          <a:xfrm>
            <a:off x="365760" y="713232"/>
            <a:ext cx="8412480" cy="27432"/>
          </a:xfrm>
          <a:prstGeom prst="rect">
            <a:avLst/>
          </a:prstGeom>
          <a:solidFill>
            <a:srgbClr val="E8ECF2"/>
          </a:solidFill>
          <a:ln/>
        </p:spPr>
        <p:txBody>
          <a:bodyPr/>
          <a:lstStyle/>
          <a:p>
            <a:endParaRPr lang="en-CH"/>
          </a:p>
        </p:txBody>
      </p:sp>
      <p:sp>
        <p:nvSpPr>
          <p:cNvPr id="11" name="Text 9">
            <a:extLst>
              <a:ext uri="{FF2B5EF4-FFF2-40B4-BE49-F238E27FC236}">
                <a16:creationId xmlns:a16="http://schemas.microsoft.com/office/drawing/2014/main" id="{16AD10D8-0A94-D235-60AA-E98FE79BA1FD}"/>
              </a:ext>
            </a:extLst>
          </p:cNvPr>
          <p:cNvSpPr/>
          <p:nvPr/>
        </p:nvSpPr>
        <p:spPr>
          <a:xfrm>
            <a:off x="329184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P2  Loan Exposure</a:t>
            </a:r>
            <a:endParaRPr lang="en-US" sz="1100" dirty="0"/>
          </a:p>
        </p:txBody>
      </p:sp>
      <p:sp>
        <p:nvSpPr>
          <p:cNvPr id="15" name="Text 13">
            <a:extLst>
              <a:ext uri="{FF2B5EF4-FFF2-40B4-BE49-F238E27FC236}">
                <a16:creationId xmlns:a16="http://schemas.microsoft.com/office/drawing/2014/main" id="{C3967C1A-F65F-65C2-2765-8A4977BF191C}"/>
              </a:ext>
            </a:extLst>
          </p:cNvPr>
          <p:cNvSpPr/>
          <p:nvPr/>
        </p:nvSpPr>
        <p:spPr>
          <a:xfrm>
            <a:off x="6126480" y="86868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P3  LTV (decimal)</a:t>
            </a:r>
            <a:endParaRPr lang="en-US" sz="1100" dirty="0"/>
          </a:p>
        </p:txBody>
      </p:sp>
      <p:sp>
        <p:nvSpPr>
          <p:cNvPr id="23" name="Text 21">
            <a:extLst>
              <a:ext uri="{FF2B5EF4-FFF2-40B4-BE49-F238E27FC236}">
                <a16:creationId xmlns:a16="http://schemas.microsoft.com/office/drawing/2014/main" id="{A71A6747-289C-7A54-B7A6-C6C875FC0EE3}"/>
              </a:ext>
            </a:extLst>
          </p:cNvPr>
          <p:cNvSpPr/>
          <p:nvPr/>
        </p:nvSpPr>
        <p:spPr>
          <a:xfrm>
            <a:off x="3291840" y="2834640"/>
            <a:ext cx="2514600" cy="411480"/>
          </a:xfrm>
          <a:prstGeom prst="rect">
            <a:avLst/>
          </a:prstGeom>
          <a:noFill/>
          <a:ln/>
        </p:spPr>
        <p:txBody>
          <a:bodyPr wrap="square" lIns="0" tIns="0" rIns="0" bIns="0" rtlCol="0" anchor="ctr"/>
          <a:lstStyle/>
          <a:p>
            <a:pPr marL="0" indent="0">
              <a:buNone/>
            </a:pPr>
            <a:r>
              <a:rPr lang="en-US" sz="1100" b="1" dirty="0">
                <a:solidFill>
                  <a:srgbClr val="FFFFFF"/>
                </a:solidFill>
              </a:rPr>
              <a:t>P5  Time Series</a:t>
            </a:r>
            <a:endParaRPr lang="en-US" sz="1100" dirty="0"/>
          </a:p>
        </p:txBody>
      </p:sp>
      <p:sp>
        <p:nvSpPr>
          <p:cNvPr id="29" name="Text 27">
            <a:extLst>
              <a:ext uri="{FF2B5EF4-FFF2-40B4-BE49-F238E27FC236}">
                <a16:creationId xmlns:a16="http://schemas.microsoft.com/office/drawing/2014/main" id="{557F515E-DA51-7F70-EBAC-BE28DF4EFE1F}"/>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
        <p:nvSpPr>
          <p:cNvPr id="10" name="Shape 4">
            <a:extLst>
              <a:ext uri="{FF2B5EF4-FFF2-40B4-BE49-F238E27FC236}">
                <a16:creationId xmlns:a16="http://schemas.microsoft.com/office/drawing/2014/main" id="{B2ABCEE6-4FC7-393A-B6E1-74D14B312B00}"/>
              </a:ext>
            </a:extLst>
          </p:cNvPr>
          <p:cNvSpPr/>
          <p:nvPr/>
        </p:nvSpPr>
        <p:spPr>
          <a:xfrm>
            <a:off x="365759" y="868679"/>
            <a:ext cx="1892106" cy="3766625"/>
          </a:xfrm>
          <a:prstGeom prst="rect">
            <a:avLst/>
          </a:prstGeom>
          <a:solidFill>
            <a:srgbClr val="1C2B4A"/>
          </a:solidFill>
          <a:ln/>
        </p:spPr>
        <p:txBody>
          <a:bodyPr/>
          <a:lstStyle/>
          <a:p>
            <a:endParaRPr lang="en-CH" dirty="0"/>
          </a:p>
        </p:txBody>
      </p:sp>
      <p:sp>
        <p:nvSpPr>
          <p:cNvPr id="12" name="Text 5">
            <a:extLst>
              <a:ext uri="{FF2B5EF4-FFF2-40B4-BE49-F238E27FC236}">
                <a16:creationId xmlns:a16="http://schemas.microsoft.com/office/drawing/2014/main" id="{1A210D46-BB15-4E15-46D2-414727B0BA8A}"/>
              </a:ext>
            </a:extLst>
          </p:cNvPr>
          <p:cNvSpPr/>
          <p:nvPr/>
        </p:nvSpPr>
        <p:spPr>
          <a:xfrm>
            <a:off x="434341" y="740664"/>
            <a:ext cx="2514600" cy="2946128"/>
          </a:xfrm>
          <a:prstGeom prst="rect">
            <a:avLst/>
          </a:prstGeom>
          <a:noFill/>
          <a:ln/>
        </p:spPr>
        <p:txBody>
          <a:bodyPr wrap="square" lIns="0" tIns="0" rIns="0" bIns="0" rtlCol="0" anchor="ctr"/>
          <a:lstStyle/>
          <a:p>
            <a:pPr marL="0" indent="0">
              <a:lnSpc>
                <a:spcPct val="150000"/>
              </a:lnSpc>
              <a:buNone/>
            </a:pPr>
            <a:r>
              <a:rPr lang="en-US" sz="1600" b="1" dirty="0">
                <a:solidFill>
                  <a:schemeClr val="accent1"/>
                </a:solidFill>
              </a:rPr>
              <a:t>P1  Overview</a:t>
            </a:r>
          </a:p>
          <a:p>
            <a:pPr>
              <a:lnSpc>
                <a:spcPct val="150000"/>
              </a:lnSpc>
            </a:pPr>
            <a:r>
              <a:rPr lang="en-US" sz="1600" b="1" dirty="0">
                <a:solidFill>
                  <a:schemeClr val="bg1"/>
                </a:solidFill>
              </a:rPr>
              <a:t>P2  Loan Exposure</a:t>
            </a:r>
          </a:p>
          <a:p>
            <a:pPr>
              <a:lnSpc>
                <a:spcPct val="150000"/>
              </a:lnSpc>
            </a:pPr>
            <a:r>
              <a:rPr lang="en-US" sz="1600" b="1" dirty="0">
                <a:solidFill>
                  <a:schemeClr val="tx1">
                    <a:lumMod val="50000"/>
                    <a:lumOff val="50000"/>
                  </a:schemeClr>
                </a:solidFill>
              </a:rPr>
              <a:t>P3 LTV </a:t>
            </a:r>
          </a:p>
          <a:p>
            <a:pPr>
              <a:lnSpc>
                <a:spcPct val="150000"/>
              </a:lnSpc>
            </a:pPr>
            <a:r>
              <a:rPr lang="en-US" sz="1600" b="1" dirty="0">
                <a:solidFill>
                  <a:schemeClr val="tx1">
                    <a:lumMod val="50000"/>
                    <a:lumOff val="50000"/>
                  </a:schemeClr>
                </a:solidFill>
              </a:rPr>
              <a:t>P4 Metrics</a:t>
            </a:r>
          </a:p>
          <a:p>
            <a:pPr>
              <a:lnSpc>
                <a:spcPct val="150000"/>
              </a:lnSpc>
            </a:pPr>
            <a:r>
              <a:rPr lang="en-US" sz="1600" b="1" dirty="0">
                <a:solidFill>
                  <a:schemeClr val="tx1">
                    <a:lumMod val="50000"/>
                    <a:lumOff val="50000"/>
                  </a:schemeClr>
                </a:solidFill>
              </a:rPr>
              <a:t>P5 Time Series</a:t>
            </a:r>
          </a:p>
          <a:p>
            <a:pPr>
              <a:lnSpc>
                <a:spcPct val="150000"/>
              </a:lnSpc>
            </a:pPr>
            <a:r>
              <a:rPr lang="en-US" sz="1600" b="1" dirty="0">
                <a:solidFill>
                  <a:schemeClr val="tx1">
                    <a:lumMod val="50000"/>
                    <a:lumOff val="50000"/>
                  </a:schemeClr>
                </a:solidFill>
              </a:rPr>
              <a:t>P6 Transaction Detail</a:t>
            </a:r>
          </a:p>
          <a:p>
            <a:pPr>
              <a:lnSpc>
                <a:spcPct val="150000"/>
              </a:lnSpc>
            </a:pPr>
            <a:endParaRPr lang="en-US" sz="1100" dirty="0"/>
          </a:p>
          <a:p>
            <a:pPr marL="0" indent="0">
              <a:lnSpc>
                <a:spcPct val="150000"/>
              </a:lnSpc>
              <a:buNone/>
            </a:pPr>
            <a:endParaRPr lang="en-US" sz="1100" dirty="0"/>
          </a:p>
        </p:txBody>
      </p:sp>
      <p:pic>
        <p:nvPicPr>
          <p:cNvPr id="8" name="Picture 7">
            <a:extLst>
              <a:ext uri="{FF2B5EF4-FFF2-40B4-BE49-F238E27FC236}">
                <a16:creationId xmlns:a16="http://schemas.microsoft.com/office/drawing/2014/main" id="{631BCE7B-FF79-057C-1263-FC39E22DEA4C}"/>
              </a:ext>
            </a:extLst>
          </p:cNvPr>
          <p:cNvPicPr>
            <a:picLocks noChangeAspect="1"/>
          </p:cNvPicPr>
          <p:nvPr/>
        </p:nvPicPr>
        <p:blipFill>
          <a:blip r:embed="rId3"/>
          <a:srcRect l="9055" r="17959"/>
          <a:stretch>
            <a:fillRect/>
          </a:stretch>
        </p:blipFill>
        <p:spPr>
          <a:xfrm>
            <a:off x="6073140" y="1358619"/>
            <a:ext cx="2796540" cy="2167709"/>
          </a:xfrm>
          <a:prstGeom prst="rect">
            <a:avLst/>
          </a:prstGeom>
        </p:spPr>
      </p:pic>
      <p:sp>
        <p:nvSpPr>
          <p:cNvPr id="9" name="TextBox 8">
            <a:extLst>
              <a:ext uri="{FF2B5EF4-FFF2-40B4-BE49-F238E27FC236}">
                <a16:creationId xmlns:a16="http://schemas.microsoft.com/office/drawing/2014/main" id="{F49CABAE-BAFF-39E9-4997-3E52FCE1D416}"/>
              </a:ext>
            </a:extLst>
          </p:cNvPr>
          <p:cNvSpPr txBox="1"/>
          <p:nvPr/>
        </p:nvSpPr>
        <p:spPr>
          <a:xfrm>
            <a:off x="2257865" y="947139"/>
            <a:ext cx="3868615" cy="3416320"/>
          </a:xfrm>
          <a:prstGeom prst="rect">
            <a:avLst/>
          </a:prstGeom>
          <a:noFill/>
        </p:spPr>
        <p:txBody>
          <a:bodyPr wrap="square" rtlCol="0">
            <a:spAutoFit/>
          </a:bodyPr>
          <a:lstStyle/>
          <a:p>
            <a:r>
              <a:rPr lang="en-GB" sz="1200" b="1" dirty="0"/>
              <a:t>Why these fields:</a:t>
            </a:r>
            <a:endParaRPr lang="en-GB" sz="1200" dirty="0"/>
          </a:p>
          <a:p>
            <a:r>
              <a:rPr lang="en-GB" sz="1200" b="1" dirty="0"/>
              <a:t>transaction-code</a:t>
            </a:r>
            <a:r>
              <a:rPr lang="en-GB" sz="1200" dirty="0"/>
              <a:t> — unique identifier, so the auditor or manager can trace any row back to the source system. Traceability is non-negotiable in a regulated environment.</a:t>
            </a:r>
          </a:p>
          <a:p>
            <a:r>
              <a:rPr lang="en-GB" sz="1200" b="1" dirty="0"/>
              <a:t>transaction-date</a:t>
            </a:r>
            <a:r>
              <a:rPr lang="en-GB" sz="1200" dirty="0"/>
              <a:t> — when did this happen? Essential for understanding if a position is recent or historical.</a:t>
            </a:r>
          </a:p>
          <a:p>
            <a:r>
              <a:rPr lang="en-GB" sz="1200" b="1" dirty="0"/>
              <a:t>Loan Amount</a:t>
            </a:r>
            <a:r>
              <a:rPr lang="en-GB" sz="1200" dirty="0"/>
              <a:t> — the actual value of the transaction. This is what the bar chart summarised — here you see each individual component.</a:t>
            </a:r>
          </a:p>
          <a:p>
            <a:r>
              <a:rPr lang="en-GB" sz="1200" b="1" dirty="0"/>
              <a:t>portfolio-code</a:t>
            </a:r>
            <a:r>
              <a:rPr lang="en-GB" sz="1200" dirty="0"/>
              <a:t> — which portfolio does this belong to. Especially relevant when drilling from the issuer chart where both portfolios may appear.</a:t>
            </a:r>
          </a:p>
          <a:p>
            <a:r>
              <a:rPr lang="en-GB" sz="1200" b="1" dirty="0"/>
              <a:t>product-issuer-code</a:t>
            </a:r>
            <a:r>
              <a:rPr lang="en-GB" sz="1200" dirty="0"/>
              <a:t> — confirms which issuer you drilled into. Useful when multiple products belong to the same issuer.</a:t>
            </a:r>
          </a:p>
          <a:p>
            <a:r>
              <a:rPr lang="en-GB" sz="1200" b="1" dirty="0"/>
              <a:t>product-code</a:t>
            </a:r>
            <a:r>
              <a:rPr lang="en-GB" sz="1200" dirty="0"/>
              <a:t> — the specific loan product. Allows the manager to identify which exact instrument is driving the exposure.</a:t>
            </a:r>
          </a:p>
        </p:txBody>
      </p:sp>
    </p:spTree>
    <p:extLst>
      <p:ext uri="{BB962C8B-B14F-4D97-AF65-F5344CB8AC3E}">
        <p14:creationId xmlns:p14="http://schemas.microsoft.com/office/powerpoint/2010/main" val="693155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DAX variables— Architecture</a:t>
            </a:r>
            <a:endParaRPr lang="en-US" sz="26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60" name="Text 58"/>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pic>
        <p:nvPicPr>
          <p:cNvPr id="63" name="Picture 62">
            <a:extLst>
              <a:ext uri="{FF2B5EF4-FFF2-40B4-BE49-F238E27FC236}">
                <a16:creationId xmlns:a16="http://schemas.microsoft.com/office/drawing/2014/main" id="{44E1F2DA-7C74-66FC-97AF-25DB98A8D9A5}"/>
              </a:ext>
            </a:extLst>
          </p:cNvPr>
          <p:cNvPicPr>
            <a:picLocks noChangeAspect="1"/>
          </p:cNvPicPr>
          <p:nvPr/>
        </p:nvPicPr>
        <p:blipFill>
          <a:blip r:embed="rId3"/>
          <a:stretch>
            <a:fillRect/>
          </a:stretch>
        </p:blipFill>
        <p:spPr>
          <a:xfrm>
            <a:off x="1012874" y="1216152"/>
            <a:ext cx="2328522" cy="3018541"/>
          </a:xfrm>
          <a:prstGeom prst="rect">
            <a:avLst/>
          </a:prstGeom>
        </p:spPr>
      </p:pic>
      <p:sp>
        <p:nvSpPr>
          <p:cNvPr id="64" name="TextBox 63">
            <a:extLst>
              <a:ext uri="{FF2B5EF4-FFF2-40B4-BE49-F238E27FC236}">
                <a16:creationId xmlns:a16="http://schemas.microsoft.com/office/drawing/2014/main" id="{10C9B5D4-326A-B063-7B49-9F2D642CAE51}"/>
              </a:ext>
            </a:extLst>
          </p:cNvPr>
          <p:cNvSpPr txBox="1"/>
          <p:nvPr/>
        </p:nvSpPr>
        <p:spPr>
          <a:xfrm>
            <a:off x="4161370" y="1681089"/>
            <a:ext cx="3690434" cy="1200329"/>
          </a:xfrm>
          <a:prstGeom prst="rect">
            <a:avLst/>
          </a:prstGeom>
          <a:noFill/>
        </p:spPr>
        <p:txBody>
          <a:bodyPr wrap="none" rtlCol="0">
            <a:spAutoFit/>
          </a:bodyPr>
          <a:lstStyle/>
          <a:p>
            <a:pPr algn="ctr"/>
            <a:r>
              <a:rPr lang="de-CH" dirty="0"/>
              <a:t>For the detailed DAX documentation:</a:t>
            </a:r>
          </a:p>
          <a:p>
            <a:pPr algn="ctr"/>
            <a:endParaRPr lang="de-CH" dirty="0"/>
          </a:p>
          <a:p>
            <a:pPr algn="ctr"/>
            <a:r>
              <a:rPr lang="de-CH" dirty="0"/>
              <a:t>Scan the QR Code or </a:t>
            </a:r>
            <a:r>
              <a:rPr lang="de-CH" dirty="0">
                <a:hlinkClick r:id="rId4"/>
              </a:rPr>
              <a:t>CLIQUE HERE</a:t>
            </a:r>
            <a:endParaRPr lang="de-CH" dirty="0"/>
          </a:p>
          <a:p>
            <a:endParaRPr lang="en-CH"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Bar"/>
          <p:cNvSpPr/>
          <p:nvPr/>
        </p:nvSpPr>
        <p:spPr>
          <a:xfrm>
            <a:off x="0" y="4892040"/>
            <a:ext cx="9144000" cy="265176"/>
          </a:xfrm>
          <a:prstGeom prst="rect">
            <a:avLst/>
          </a:prstGeom>
          <a:solidFill>
            <a:srgbClr val="B89650"/>
          </a:solidFill>
          <a:ln/>
        </p:spPr>
        <p:txBody>
          <a:bodyPr/>
          <a:lstStyle/>
          <a:p>
            <a:endParaRPr lang="en-US"/>
          </a:p>
        </p:txBody>
      </p:sp>
      <p:sp>
        <p:nvSpPr>
          <p:cNvPr id="3" name="FooterText"/>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p>
        </p:txBody>
      </p:sp>
      <p:sp>
        <p:nvSpPr>
          <p:cNvPr id="4" name="Title"/>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Python Pipeline — What It Found</a:t>
            </a:r>
          </a:p>
        </p:txBody>
      </p:sp>
      <p:sp>
        <p:nvSpPr>
          <p:cNvPr id="5" name="Divider"/>
          <p:cNvSpPr/>
          <p:nvPr/>
        </p:nvSpPr>
        <p:spPr>
          <a:xfrm>
            <a:off x="365760" y="713232"/>
            <a:ext cx="8412480" cy="27432"/>
          </a:xfrm>
          <a:prstGeom prst="rect">
            <a:avLst/>
          </a:prstGeom>
          <a:solidFill>
            <a:srgbClr val="E8ECF2"/>
          </a:solidFill>
          <a:ln/>
        </p:spPr>
        <p:txBody>
          <a:bodyPr/>
          <a:lstStyle/>
          <a:p>
            <a:endParaRPr lang="en-US"/>
          </a:p>
        </p:txBody>
      </p:sp>
      <p:sp>
        <p:nvSpPr>
          <p:cNvPr id="10" name="Card1Bg"/>
          <p:cNvSpPr/>
          <p:nvPr/>
        </p:nvSpPr>
        <p:spPr>
          <a:xfrm>
            <a:off x="385000" y="1650000"/>
            <a:ext cx="1900000" cy="950000"/>
          </a:xfrm>
          <a:prstGeom prst="rect">
            <a:avLst/>
          </a:prstGeom>
          <a:solidFill>
            <a:srgbClr val="FEF2F2"/>
          </a:solidFill>
          <a:ln w="9525">
            <a:solidFill>
              <a:srgbClr val="FECACA"/>
            </a:solidFill>
          </a:ln>
        </p:spPr>
        <p:txBody>
          <a:bodyPr/>
          <a:lstStyle/>
          <a:p>
            <a:endParaRPr lang="en-US"/>
          </a:p>
        </p:txBody>
      </p:sp>
      <p:sp>
        <p:nvSpPr>
          <p:cNvPr id="11" name="Card1Top"/>
          <p:cNvSpPr/>
          <p:nvPr/>
        </p:nvSpPr>
        <p:spPr>
          <a:xfrm>
            <a:off x="385000" y="1650000"/>
            <a:ext cx="1900000" cy="45000"/>
          </a:xfrm>
          <a:prstGeom prst="rect">
            <a:avLst/>
          </a:prstGeom>
          <a:solidFill>
            <a:srgbClr val="8B1A1A"/>
          </a:solidFill>
          <a:ln/>
        </p:spPr>
        <p:txBody>
          <a:bodyPr/>
          <a:lstStyle/>
          <a:p>
            <a:endParaRPr lang="en-US"/>
          </a:p>
        </p:txBody>
      </p:sp>
      <p:sp>
        <p:nvSpPr>
          <p:cNvPr id="12" name="Card1Num"/>
          <p:cNvSpPr/>
          <p:nvPr/>
        </p:nvSpPr>
        <p:spPr>
          <a:xfrm>
            <a:off x="385000" y="1680000"/>
            <a:ext cx="1900000" cy="500000"/>
          </a:xfrm>
          <a:prstGeom prst="rect">
            <a:avLst/>
          </a:prstGeom>
          <a:noFill/>
          <a:ln/>
        </p:spPr>
        <p:txBody>
          <a:bodyPr wrap="square" lIns="0" tIns="0" rIns="0" bIns="0" rtlCol="0" anchor="ctr"/>
          <a:lstStyle/>
          <a:p>
            <a:pPr marL="0" indent="0" algn="ctr">
              <a:buNone/>
            </a:pPr>
            <a:r>
              <a:rPr lang="en-US" sz="4800" b="1" dirty="0">
                <a:solidFill>
                  <a:srgbClr val="8B1A1A"/>
                </a:solidFill>
              </a:rPr>
              <a:t>0</a:t>
            </a:r>
          </a:p>
        </p:txBody>
      </p:sp>
      <p:sp>
        <p:nvSpPr>
          <p:cNvPr id="13" name="Card1Label"/>
          <p:cNvSpPr/>
          <p:nvPr/>
        </p:nvSpPr>
        <p:spPr>
          <a:xfrm>
            <a:off x="385000" y="2180000"/>
            <a:ext cx="1900000" cy="320000"/>
          </a:xfrm>
          <a:prstGeom prst="rect">
            <a:avLst/>
          </a:prstGeom>
          <a:noFill/>
          <a:ln/>
        </p:spPr>
        <p:txBody>
          <a:bodyPr wrap="square" lIns="0" tIns="0" rIns="0" bIns="0" rtlCol="0" anchor="ctr"/>
          <a:lstStyle/>
          <a:p>
            <a:pPr marL="0" indent="0" algn="ctr">
              <a:buNone/>
            </a:pPr>
            <a:r>
              <a:rPr lang="en-US" sz="1100" b="1" dirty="0">
                <a:solidFill>
                  <a:srgbClr val="1C2B4A"/>
                </a:solidFill>
              </a:rPr>
              <a:t>High Severity</a:t>
            </a:r>
          </a:p>
          <a:p>
            <a:pPr marL="0" indent="0" algn="ctr">
              <a:buNone/>
            </a:pPr>
            <a:r>
              <a:rPr lang="en-US" sz="900" dirty="0">
                <a:solidFill>
                  <a:srgbClr val="6B7280"/>
                </a:solidFill>
              </a:rPr>
              <a:t>Breaks calculations</a:t>
            </a:r>
          </a:p>
        </p:txBody>
      </p:sp>
      <p:sp>
        <p:nvSpPr>
          <p:cNvPr id="20" name="Card2Bg"/>
          <p:cNvSpPr/>
          <p:nvPr/>
        </p:nvSpPr>
        <p:spPr>
          <a:xfrm>
            <a:off x="2560000" y="1650000"/>
            <a:ext cx="1900000" cy="950000"/>
          </a:xfrm>
          <a:prstGeom prst="rect">
            <a:avLst/>
          </a:prstGeom>
          <a:solidFill>
            <a:srgbClr val="FFFBEB"/>
          </a:solidFill>
          <a:ln w="9525">
            <a:solidFill>
              <a:srgbClr val="FDE68A"/>
            </a:solidFill>
          </a:ln>
        </p:spPr>
        <p:txBody>
          <a:bodyPr/>
          <a:lstStyle/>
          <a:p>
            <a:endParaRPr lang="en-US"/>
          </a:p>
        </p:txBody>
      </p:sp>
      <p:sp>
        <p:nvSpPr>
          <p:cNvPr id="21" name="Card2Top"/>
          <p:cNvSpPr/>
          <p:nvPr/>
        </p:nvSpPr>
        <p:spPr>
          <a:xfrm>
            <a:off x="2560000" y="1650000"/>
            <a:ext cx="1900000" cy="45000"/>
          </a:xfrm>
          <a:prstGeom prst="rect">
            <a:avLst/>
          </a:prstGeom>
          <a:solidFill>
            <a:srgbClr val="7A4D0A"/>
          </a:solidFill>
          <a:ln/>
        </p:spPr>
        <p:txBody>
          <a:bodyPr/>
          <a:lstStyle/>
          <a:p>
            <a:endParaRPr lang="en-US"/>
          </a:p>
        </p:txBody>
      </p:sp>
      <p:sp>
        <p:nvSpPr>
          <p:cNvPr id="22" name="Card2Num"/>
          <p:cNvSpPr/>
          <p:nvPr/>
        </p:nvSpPr>
        <p:spPr>
          <a:xfrm>
            <a:off x="2560000" y="1680000"/>
            <a:ext cx="1900000" cy="500000"/>
          </a:xfrm>
          <a:prstGeom prst="rect">
            <a:avLst/>
          </a:prstGeom>
          <a:noFill/>
          <a:ln/>
        </p:spPr>
        <p:txBody>
          <a:bodyPr wrap="square" lIns="0" tIns="0" rIns="0" bIns="0" rtlCol="0" anchor="ctr"/>
          <a:lstStyle/>
          <a:p>
            <a:pPr marL="0" indent="0" algn="ctr">
              <a:buNone/>
            </a:pPr>
            <a:r>
              <a:rPr lang="en-US" sz="4800" b="1" dirty="0">
                <a:solidFill>
                  <a:srgbClr val="7A4D0A"/>
                </a:solidFill>
              </a:rPr>
              <a:t>0</a:t>
            </a:r>
          </a:p>
        </p:txBody>
      </p:sp>
      <p:sp>
        <p:nvSpPr>
          <p:cNvPr id="23" name="Card2Label"/>
          <p:cNvSpPr/>
          <p:nvPr/>
        </p:nvSpPr>
        <p:spPr>
          <a:xfrm>
            <a:off x="2560000" y="2180000"/>
            <a:ext cx="1900000" cy="320000"/>
          </a:xfrm>
          <a:prstGeom prst="rect">
            <a:avLst/>
          </a:prstGeom>
          <a:noFill/>
          <a:ln/>
        </p:spPr>
        <p:txBody>
          <a:bodyPr wrap="square" lIns="0" tIns="0" rIns="0" bIns="0" rtlCol="0" anchor="ctr"/>
          <a:lstStyle/>
          <a:p>
            <a:pPr marL="0" indent="0" algn="ctr">
              <a:buNone/>
            </a:pPr>
            <a:r>
              <a:rPr lang="en-US" sz="1100" b="1" dirty="0">
                <a:solidFill>
                  <a:srgbClr val="1C2B4A"/>
                </a:solidFill>
              </a:rPr>
              <a:t>Medium Severity</a:t>
            </a:r>
          </a:p>
          <a:p>
            <a:pPr marL="0" indent="0" algn="ctr">
              <a:buNone/>
            </a:pPr>
            <a:r>
              <a:rPr lang="en-US" sz="900" dirty="0">
                <a:solidFill>
                  <a:srgbClr val="6B7280"/>
                </a:solidFill>
              </a:rPr>
              <a:t>Distorts metrics</a:t>
            </a:r>
          </a:p>
        </p:txBody>
      </p:sp>
      <p:sp>
        <p:nvSpPr>
          <p:cNvPr id="30" name="Card3Bg"/>
          <p:cNvSpPr/>
          <p:nvPr/>
        </p:nvSpPr>
        <p:spPr>
          <a:xfrm>
            <a:off x="4735000" y="1650000"/>
            <a:ext cx="1900000" cy="950000"/>
          </a:xfrm>
          <a:prstGeom prst="rect">
            <a:avLst/>
          </a:prstGeom>
          <a:solidFill>
            <a:srgbClr val="F0FDF4"/>
          </a:solidFill>
          <a:ln w="9525">
            <a:solidFill>
              <a:srgbClr val="BBF7D0"/>
            </a:solidFill>
          </a:ln>
        </p:spPr>
        <p:txBody>
          <a:bodyPr/>
          <a:lstStyle/>
          <a:p>
            <a:endParaRPr lang="en-US"/>
          </a:p>
        </p:txBody>
      </p:sp>
      <p:sp>
        <p:nvSpPr>
          <p:cNvPr id="31" name="Card3Top"/>
          <p:cNvSpPr/>
          <p:nvPr/>
        </p:nvSpPr>
        <p:spPr>
          <a:xfrm>
            <a:off x="4735000" y="1650000"/>
            <a:ext cx="1900000" cy="45000"/>
          </a:xfrm>
          <a:prstGeom prst="rect">
            <a:avLst/>
          </a:prstGeom>
          <a:solidFill>
            <a:srgbClr val="144D2E"/>
          </a:solidFill>
          <a:ln/>
        </p:spPr>
        <p:txBody>
          <a:bodyPr/>
          <a:lstStyle/>
          <a:p>
            <a:endParaRPr lang="en-US"/>
          </a:p>
        </p:txBody>
      </p:sp>
      <p:sp>
        <p:nvSpPr>
          <p:cNvPr id="32" name="Card3Num"/>
          <p:cNvSpPr/>
          <p:nvPr/>
        </p:nvSpPr>
        <p:spPr>
          <a:xfrm>
            <a:off x="4735000" y="1680000"/>
            <a:ext cx="1900000" cy="500000"/>
          </a:xfrm>
          <a:prstGeom prst="rect">
            <a:avLst/>
          </a:prstGeom>
          <a:noFill/>
          <a:ln/>
        </p:spPr>
        <p:txBody>
          <a:bodyPr wrap="square" lIns="0" tIns="0" rIns="0" bIns="0" rtlCol="0" anchor="ctr"/>
          <a:lstStyle/>
          <a:p>
            <a:pPr marL="0" indent="0" algn="ctr">
              <a:buNone/>
            </a:pPr>
            <a:r>
              <a:rPr lang="en-US" sz="4800" b="1" dirty="0">
                <a:solidFill>
                  <a:srgbClr val="144D2E"/>
                </a:solidFill>
              </a:rPr>
              <a:t>4</a:t>
            </a:r>
          </a:p>
        </p:txBody>
      </p:sp>
      <p:sp>
        <p:nvSpPr>
          <p:cNvPr id="33" name="Card3Label"/>
          <p:cNvSpPr/>
          <p:nvPr/>
        </p:nvSpPr>
        <p:spPr>
          <a:xfrm>
            <a:off x="4735000" y="2180000"/>
            <a:ext cx="1900000" cy="320000"/>
          </a:xfrm>
          <a:prstGeom prst="rect">
            <a:avLst/>
          </a:prstGeom>
          <a:noFill/>
          <a:ln/>
        </p:spPr>
        <p:txBody>
          <a:bodyPr wrap="square" lIns="0" tIns="0" rIns="0" bIns="0" rtlCol="0" anchor="ctr"/>
          <a:lstStyle/>
          <a:p>
            <a:pPr marL="0" indent="0" algn="ctr">
              <a:buNone/>
            </a:pPr>
            <a:r>
              <a:rPr lang="en-US" sz="1100" b="1" dirty="0">
                <a:solidFill>
                  <a:srgbClr val="1C2B4A"/>
                </a:solidFill>
              </a:rPr>
              <a:t>Low Severity</a:t>
            </a:r>
          </a:p>
          <a:p>
            <a:pPr marL="0" indent="0" algn="ctr">
              <a:buNone/>
            </a:pPr>
            <a:r>
              <a:rPr lang="en-US" sz="900" dirty="0">
                <a:solidFill>
                  <a:srgbClr val="6B7280"/>
                </a:solidFill>
              </a:rPr>
              <a:t>Investigate &amp; flag</a:t>
            </a:r>
          </a:p>
        </p:txBody>
      </p:sp>
      <p:sp>
        <p:nvSpPr>
          <p:cNvPr id="40" name="Card4Bg"/>
          <p:cNvSpPr/>
          <p:nvPr/>
        </p:nvSpPr>
        <p:spPr>
          <a:xfrm>
            <a:off x="6910000" y="1650000"/>
            <a:ext cx="1900000" cy="950000"/>
          </a:xfrm>
          <a:prstGeom prst="rect">
            <a:avLst/>
          </a:prstGeom>
          <a:solidFill>
            <a:srgbClr val="EFF6FF"/>
          </a:solidFill>
          <a:ln w="9525">
            <a:solidFill>
              <a:srgbClr val="BFDBFE"/>
            </a:solidFill>
          </a:ln>
        </p:spPr>
        <p:txBody>
          <a:bodyPr/>
          <a:lstStyle/>
          <a:p>
            <a:endParaRPr lang="en-US"/>
          </a:p>
        </p:txBody>
      </p:sp>
      <p:sp>
        <p:nvSpPr>
          <p:cNvPr id="41" name="Card4Top"/>
          <p:cNvSpPr/>
          <p:nvPr/>
        </p:nvSpPr>
        <p:spPr>
          <a:xfrm>
            <a:off x="6910000" y="1650000"/>
            <a:ext cx="1900000" cy="45000"/>
          </a:xfrm>
          <a:prstGeom prst="rect">
            <a:avLst/>
          </a:prstGeom>
          <a:solidFill>
            <a:srgbClr val="1E3A5F"/>
          </a:solidFill>
          <a:ln/>
        </p:spPr>
        <p:txBody>
          <a:bodyPr/>
          <a:lstStyle/>
          <a:p>
            <a:endParaRPr lang="en-US"/>
          </a:p>
        </p:txBody>
      </p:sp>
      <p:sp>
        <p:nvSpPr>
          <p:cNvPr id="42" name="Card4Num"/>
          <p:cNvSpPr/>
          <p:nvPr/>
        </p:nvSpPr>
        <p:spPr>
          <a:xfrm>
            <a:off x="6910000" y="1680000"/>
            <a:ext cx="1900000" cy="500000"/>
          </a:xfrm>
          <a:prstGeom prst="rect">
            <a:avLst/>
          </a:prstGeom>
          <a:noFill/>
          <a:ln/>
        </p:spPr>
        <p:txBody>
          <a:bodyPr wrap="square" lIns="0" tIns="0" rIns="0" bIns="0" rtlCol="0" anchor="ctr"/>
          <a:lstStyle/>
          <a:p>
            <a:pPr marL="0" indent="0" algn="ctr">
              <a:buNone/>
            </a:pPr>
            <a:r>
              <a:rPr lang="en-US" sz="4800" b="1" dirty="0">
                <a:solidFill>
                  <a:srgbClr val="1E3A5F"/>
                </a:solidFill>
              </a:rPr>
              <a:t>6</a:t>
            </a:r>
          </a:p>
        </p:txBody>
      </p:sp>
      <p:sp>
        <p:nvSpPr>
          <p:cNvPr id="43" name="Card4Label"/>
          <p:cNvSpPr/>
          <p:nvPr/>
        </p:nvSpPr>
        <p:spPr>
          <a:xfrm>
            <a:off x="6910000" y="2180000"/>
            <a:ext cx="1900000" cy="320000"/>
          </a:xfrm>
          <a:prstGeom prst="rect">
            <a:avLst/>
          </a:prstGeom>
          <a:noFill/>
          <a:ln/>
        </p:spPr>
        <p:txBody>
          <a:bodyPr wrap="square" lIns="0" tIns="0" rIns="0" bIns="0" rtlCol="0" anchor="ctr"/>
          <a:lstStyle/>
          <a:p>
            <a:pPr marL="0" indent="0" algn="ctr">
              <a:buNone/>
            </a:pPr>
            <a:r>
              <a:rPr lang="en-US" sz="1100" b="1" dirty="0">
                <a:solidFill>
                  <a:srgbClr val="1C2B4A"/>
                </a:solidFill>
              </a:rPr>
              <a:t>Observations</a:t>
            </a:r>
          </a:p>
          <a:p>
            <a:pPr marL="0" indent="0" algn="ctr">
              <a:buNone/>
            </a:pPr>
            <a:r>
              <a:rPr lang="en-US" sz="900" dirty="0">
                <a:solidFill>
                  <a:srgbClr val="6B7280"/>
                </a:solidFill>
              </a:rPr>
              <a:t>Expected behaviour</a:t>
            </a:r>
          </a:p>
        </p:txBody>
      </p:sp>
      <p:sp>
        <p:nvSpPr>
          <p:cNvPr id="50" name="FindingBg"/>
          <p:cNvSpPr/>
          <p:nvPr/>
        </p:nvSpPr>
        <p:spPr>
          <a:xfrm>
            <a:off x="385000" y="2730000"/>
            <a:ext cx="8424000" cy="760000"/>
          </a:xfrm>
          <a:prstGeom prst="rect">
            <a:avLst/>
          </a:prstGeom>
          <a:solidFill>
            <a:srgbClr val="FFFBEB"/>
          </a:solidFill>
          <a:ln w="19050">
            <a:solidFill>
              <a:srgbClr val="B89650"/>
            </a:solidFill>
          </a:ln>
        </p:spPr>
        <p:txBody>
          <a:bodyPr/>
          <a:lstStyle/>
          <a:p>
            <a:endParaRPr lang="en-US"/>
          </a:p>
        </p:txBody>
      </p:sp>
      <p:sp>
        <p:nvSpPr>
          <p:cNvPr id="51" name="FindingText"/>
          <p:cNvSpPr/>
          <p:nvPr/>
        </p:nvSpPr>
        <p:spPr>
          <a:xfrm>
            <a:off x="385000" y="2730000"/>
            <a:ext cx="8424000" cy="760000"/>
          </a:xfrm>
          <a:prstGeom prst="rect">
            <a:avLst/>
          </a:prstGeom>
          <a:noFill/>
          <a:ln/>
        </p:spPr>
        <p:txBody>
          <a:bodyPr wrap="square" lIns="182880" tIns="91440" rIns="182880" bIns="91440" rtlCol="0" anchor="ctr"/>
          <a:lstStyle/>
          <a:p>
            <a:pPr marL="0" indent="0" algn="ctr">
              <a:buNone/>
            </a:pPr>
            <a:r>
              <a:rPr lang="en-US" sz="1300" b="1" dirty="0">
                <a:solidFill>
                  <a:srgbClr val="7A4D0A"/>
                </a:solidFill>
              </a:rPr>
              <a:t>⚠️  Key finding: PR-P4N4N  |  loan-property-value-ratio = 33.33  (outlier — normal range 0.69–1.67)</a:t>
            </a:r>
          </a:p>
          <a:p>
            <a:pPr marL="0" indent="0" algn="ctr">
              <a:buNone/>
            </a:pPr>
            <a:r>
              <a:rPr lang="en-US" sz="1100" dirty="0">
                <a:solidFill>
                  <a:srgbClr val="6B7280"/>
                </a:solidFill>
              </a:rPr>
              <a:t>Flagged automatically — excluded from LTV averages in DAX · Raw data preserved unchanged</a:t>
            </a:r>
          </a:p>
        </p:txBody>
      </p:sp>
      <p:sp>
        <p:nvSpPr>
          <p:cNvPr id="60" name="Tagline"/>
          <p:cNvSpPr/>
          <p:nvPr/>
        </p:nvSpPr>
        <p:spPr>
          <a:xfrm>
            <a:off x="385000" y="3620000"/>
            <a:ext cx="8424000" cy="320000"/>
          </a:xfrm>
          <a:prstGeom prst="rect">
            <a:avLst/>
          </a:prstGeom>
          <a:noFill/>
          <a:ln/>
        </p:spPr>
        <p:txBody>
          <a:bodyPr wrap="square" lIns="0" tIns="0" rIns="0" bIns="0" rtlCol="0" anchor="ctr"/>
          <a:lstStyle/>
          <a:p>
            <a:pPr marL="0" indent="0" algn="ctr">
              <a:buNone/>
            </a:pPr>
            <a:r>
              <a:rPr lang="en-US" sz="1200" dirty="0">
                <a:solidFill>
                  <a:srgbClr val="1C2B4A"/>
                </a:solidFill>
              </a:rPr>
              <a:t>20 checks run · schema-agnostic · no configuration needed · any file, any column names</a:t>
            </a:r>
          </a:p>
        </p:txBody>
      </p:sp>
      <p:sp>
        <p:nvSpPr>
          <p:cNvPr id="70" name="OutputsLabel"/>
          <p:cNvSpPr/>
          <p:nvPr/>
        </p:nvSpPr>
        <p:spPr>
          <a:xfrm>
            <a:off x="385000" y="4050000"/>
            <a:ext cx="8424000" cy="300000"/>
          </a:xfrm>
          <a:prstGeom prst="rect">
            <a:avLst/>
          </a:prstGeom>
          <a:noFill/>
          <a:ln/>
        </p:spPr>
        <p:txBody>
          <a:bodyPr wrap="square" lIns="0" tIns="0" rIns="0" bIns="0" rtlCol="0" anchor="ctr"/>
          <a:lstStyle/>
          <a:p>
            <a:pPr marL="0" indent="0" algn="ctr">
              <a:buNone/>
            </a:pPr>
            <a:r>
              <a:rPr lang="en-US" sz="1000" b="1" dirty="0">
                <a:solidFill>
                  <a:srgbClr val="1C2B4A"/>
                </a:solidFill>
              </a:rPr>
              <a:t>Outputs generated automatically:</a:t>
            </a:r>
          </a:p>
        </p:txBody>
      </p:sp>
      <p:sp>
        <p:nvSpPr>
          <p:cNvPr id="71" name="Out1"/>
          <p:cNvSpPr/>
          <p:nvPr/>
        </p:nvSpPr>
        <p:spPr>
          <a:xfrm>
            <a:off x="385000" y="4430000"/>
            <a:ext cx="1950000" cy="280000"/>
          </a:xfrm>
          <a:prstGeom prst="rect">
            <a:avLst/>
          </a:prstGeom>
          <a:solidFill>
            <a:srgbClr val="EEF2FF"/>
          </a:solidFill>
          <a:ln w="9525">
            <a:solidFill>
              <a:srgbClr val="C7D2FE"/>
            </a:solidFill>
          </a:ln>
        </p:spPr>
        <p:txBody>
          <a:bodyPr wrap="square" lIns="91440" tIns="45720" rIns="91440" bIns="45720" rtlCol="0" anchor="ctr"/>
          <a:lstStyle/>
          <a:p>
            <a:pPr marL="0" indent="0" algn="ctr">
              <a:buNone/>
            </a:pPr>
            <a:r>
              <a:rPr lang="en-US" sz="1000" b="1" dirty="0">
                <a:solidFill>
                  <a:srgbClr val="1D4ED8"/>
                </a:solidFill>
              </a:rPr>
              <a:t>8-page HTML report</a:t>
            </a:r>
          </a:p>
        </p:txBody>
      </p:sp>
      <p:sp>
        <p:nvSpPr>
          <p:cNvPr id="72" name="Out2"/>
          <p:cNvSpPr/>
          <p:nvPr/>
        </p:nvSpPr>
        <p:spPr>
          <a:xfrm>
            <a:off x="2435000" y="4430000"/>
            <a:ext cx="1950000" cy="280000"/>
          </a:xfrm>
          <a:prstGeom prst="rect">
            <a:avLst/>
          </a:prstGeom>
          <a:solidFill>
            <a:srgbClr val="F5F3FF"/>
          </a:solidFill>
          <a:ln w="9525">
            <a:solidFill>
              <a:srgbClr val="DDD6FE"/>
            </a:solidFill>
          </a:ln>
        </p:spPr>
        <p:txBody>
          <a:bodyPr wrap="square" lIns="91440" tIns="45720" rIns="91440" bIns="45720" rtlCol="0" anchor="ctr"/>
          <a:lstStyle/>
          <a:p>
            <a:pPr marL="0" indent="0" algn="ctr">
              <a:buNone/>
            </a:pPr>
            <a:r>
              <a:rPr lang="en-US" sz="1000" b="1" dirty="0">
                <a:solidFill>
                  <a:srgbClr val="7C3AED"/>
                </a:solidFill>
              </a:rPr>
              <a:t>Section PDFs (per severity)</a:t>
            </a:r>
          </a:p>
        </p:txBody>
      </p:sp>
      <p:sp>
        <p:nvSpPr>
          <p:cNvPr id="73" name="Out3"/>
          <p:cNvSpPr/>
          <p:nvPr/>
        </p:nvSpPr>
        <p:spPr>
          <a:xfrm>
            <a:off x="4485000" y="4430000"/>
            <a:ext cx="1950000" cy="280000"/>
          </a:xfrm>
          <a:prstGeom prst="rect">
            <a:avLst/>
          </a:prstGeom>
          <a:solidFill>
            <a:srgbClr val="F0FDF4"/>
          </a:solidFill>
          <a:ln w="9525">
            <a:solidFill>
              <a:srgbClr val="BBF7D0"/>
            </a:solidFill>
          </a:ln>
        </p:spPr>
        <p:txBody>
          <a:bodyPr wrap="square" lIns="91440" tIns="45720" rIns="91440" bIns="45720" rtlCol="0" anchor="ctr"/>
          <a:lstStyle/>
          <a:p>
            <a:pPr marL="0" indent="0" algn="ctr">
              <a:buNone/>
            </a:pPr>
            <a:r>
              <a:rPr lang="en-US" sz="1000" b="1" dirty="0">
                <a:solidFill>
                  <a:srgbClr val="059669"/>
                </a:solidFill>
              </a:rPr>
              <a:t>Excel checklist + Power Query</a:t>
            </a:r>
          </a:p>
        </p:txBody>
      </p:sp>
      <p:sp>
        <p:nvSpPr>
          <p:cNvPr id="74" name="Out4"/>
          <p:cNvSpPr/>
          <p:nvPr/>
        </p:nvSpPr>
        <p:spPr>
          <a:xfrm>
            <a:off x="6535000" y="4430000"/>
            <a:ext cx="1950000" cy="280000"/>
          </a:xfrm>
          <a:prstGeom prst="rect">
            <a:avLst/>
          </a:prstGeom>
          <a:solidFill>
            <a:srgbClr val="FFFBEB"/>
          </a:solidFill>
          <a:ln w="9525">
            <a:solidFill>
              <a:srgbClr val="FDE68A"/>
            </a:solidFill>
          </a:ln>
        </p:spPr>
        <p:txBody>
          <a:bodyPr wrap="square" lIns="91440" tIns="45720" rIns="91440" bIns="45720" rtlCol="0" anchor="ctr"/>
          <a:lstStyle/>
          <a:p>
            <a:pPr marL="0" indent="0" algn="ctr">
              <a:buNone/>
            </a:pPr>
            <a:r>
              <a:rPr lang="en-US" sz="1000" b="1" dirty="0">
                <a:solidFill>
                  <a:srgbClr val="D97706"/>
                </a:solidFill>
              </a:rPr>
              <a:t>Data Dictionary + baseline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Bar"/>
          <p:cNvSpPr/>
          <p:nvPr/>
        </p:nvSpPr>
        <p:spPr>
          <a:xfrm>
            <a:off x="0" y="4892040"/>
            <a:ext cx="9144000" cy="265176"/>
          </a:xfrm>
          <a:prstGeom prst="rect">
            <a:avLst/>
          </a:prstGeom>
          <a:solidFill>
            <a:srgbClr val="B89650"/>
          </a:solidFill>
          <a:ln/>
        </p:spPr>
        <p:txBody>
          <a:bodyPr/>
          <a:lstStyle/>
          <a:p>
            <a:endParaRPr lang="en-US"/>
          </a:p>
        </p:txBody>
      </p:sp>
      <p:sp>
        <p:nvSpPr>
          <p:cNvPr id="3" name="FooterText"/>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p>
        </p:txBody>
      </p:sp>
      <p:sp>
        <p:nvSpPr>
          <p:cNvPr id="4" name="Title"/>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Tool Overview</a:t>
            </a:r>
          </a:p>
        </p:txBody>
      </p:sp>
      <p:sp>
        <p:nvSpPr>
          <p:cNvPr id="50" name="ResultBg"/>
          <p:cNvSpPr/>
          <p:nvPr/>
        </p:nvSpPr>
        <p:spPr>
          <a:xfrm>
            <a:off x="354240" y="3895000"/>
            <a:ext cx="8424000" cy="350000"/>
          </a:xfrm>
          <a:prstGeom prst="rect">
            <a:avLst/>
          </a:prstGeom>
          <a:solidFill>
            <a:srgbClr val="F0FDF4"/>
          </a:solidFill>
          <a:ln w="19050">
            <a:solidFill>
              <a:srgbClr val="144D2E"/>
            </a:solidFill>
          </a:ln>
        </p:spPr>
        <p:txBody>
          <a:bodyPr/>
          <a:lstStyle/>
          <a:p>
            <a:endParaRPr lang="en-US"/>
          </a:p>
        </p:txBody>
      </p:sp>
      <p:sp>
        <p:nvSpPr>
          <p:cNvPr id="51" name="ResultText"/>
          <p:cNvSpPr/>
          <p:nvPr/>
        </p:nvSpPr>
        <p:spPr>
          <a:xfrm>
            <a:off x="354240" y="3885372"/>
            <a:ext cx="8424000" cy="350000"/>
          </a:xfrm>
          <a:prstGeom prst="rect">
            <a:avLst/>
          </a:prstGeom>
          <a:noFill/>
          <a:ln/>
        </p:spPr>
        <p:txBody>
          <a:bodyPr wrap="square" lIns="182880" tIns="45720" rIns="182880" bIns="45720" rtlCol="0" anchor="ctr"/>
          <a:lstStyle/>
          <a:p>
            <a:pPr marL="0" indent="0" algn="ctr">
              <a:buNone/>
            </a:pPr>
            <a:r>
              <a:rPr lang="en-US" sz="1200" b="1" dirty="0">
                <a:solidFill>
                  <a:srgbClr val="144D2E"/>
                </a:solidFill>
              </a:rPr>
              <a:t>Navigate to the triggers to see detailed findings</a:t>
            </a:r>
          </a:p>
        </p:txBody>
      </p:sp>
      <p:sp>
        <p:nvSpPr>
          <p:cNvPr id="61" name="DriftNote"/>
          <p:cNvSpPr/>
          <p:nvPr/>
        </p:nvSpPr>
        <p:spPr>
          <a:xfrm>
            <a:off x="354240" y="4292040"/>
            <a:ext cx="8424000" cy="250000"/>
          </a:xfrm>
          <a:prstGeom prst="rect">
            <a:avLst/>
          </a:prstGeom>
          <a:noFill/>
          <a:ln/>
        </p:spPr>
        <p:txBody>
          <a:bodyPr wrap="square" lIns="0" tIns="0" rIns="0" bIns="0" rtlCol="0" anchor="ctr"/>
          <a:lstStyle/>
          <a:p>
            <a:pPr marL="0" indent="0" algn="ctr">
              <a:buNone/>
            </a:pPr>
            <a:r>
              <a:rPr lang="en-US" sz="950" i="1" dirty="0">
                <a:solidFill>
                  <a:srgbClr val="6B7280"/>
                </a:solidFill>
              </a:rPr>
              <a:t>⚡  To reset drift detection: delete output/schema_baseline.json — next upload creates a fresh baseline automatically</a:t>
            </a:r>
          </a:p>
        </p:txBody>
      </p:sp>
      <p:pic>
        <p:nvPicPr>
          <p:cNvPr id="7" name="Picture 6">
            <a:extLst>
              <a:ext uri="{FF2B5EF4-FFF2-40B4-BE49-F238E27FC236}">
                <a16:creationId xmlns:a16="http://schemas.microsoft.com/office/drawing/2014/main" id="{8AFDCF16-104B-BCBE-219D-E0989C574AE7}"/>
              </a:ext>
            </a:extLst>
          </p:cNvPr>
          <p:cNvPicPr>
            <a:picLocks noChangeAspect="1"/>
          </p:cNvPicPr>
          <p:nvPr/>
        </p:nvPicPr>
        <p:blipFill>
          <a:blip r:embed="rId3"/>
          <a:stretch>
            <a:fillRect/>
          </a:stretch>
        </p:blipFill>
        <p:spPr>
          <a:xfrm>
            <a:off x="295422" y="821380"/>
            <a:ext cx="3290011" cy="2974131"/>
          </a:xfrm>
          <a:prstGeom prst="rect">
            <a:avLst/>
          </a:prstGeom>
        </p:spPr>
      </p:pic>
      <p:pic>
        <p:nvPicPr>
          <p:cNvPr id="15" name="Picture 14">
            <a:extLst>
              <a:ext uri="{FF2B5EF4-FFF2-40B4-BE49-F238E27FC236}">
                <a16:creationId xmlns:a16="http://schemas.microsoft.com/office/drawing/2014/main" id="{E170B2DF-A68E-228F-7750-5B57300F2E61}"/>
              </a:ext>
            </a:extLst>
          </p:cNvPr>
          <p:cNvPicPr>
            <a:picLocks noChangeAspect="1"/>
          </p:cNvPicPr>
          <p:nvPr/>
        </p:nvPicPr>
        <p:blipFill>
          <a:blip r:embed="rId4"/>
          <a:stretch>
            <a:fillRect/>
          </a:stretch>
        </p:blipFill>
        <p:spPr>
          <a:xfrm>
            <a:off x="3714367" y="777240"/>
            <a:ext cx="4966645" cy="29741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BFD74-6350-BA8D-7666-8A859C323B6C}"/>
            </a:ext>
          </a:extLst>
        </p:cNvPr>
        <p:cNvGrpSpPr/>
        <p:nvPr/>
      </p:nvGrpSpPr>
      <p:grpSpPr>
        <a:xfrm>
          <a:off x="0" y="0"/>
          <a:ext cx="0" cy="0"/>
          <a:chOff x="0" y="0"/>
          <a:chExt cx="0" cy="0"/>
        </a:xfrm>
      </p:grpSpPr>
      <p:sp>
        <p:nvSpPr>
          <p:cNvPr id="2" name="FooterBar">
            <a:extLst>
              <a:ext uri="{FF2B5EF4-FFF2-40B4-BE49-F238E27FC236}">
                <a16:creationId xmlns:a16="http://schemas.microsoft.com/office/drawing/2014/main" id="{5F1CA17B-3A3F-84FF-405D-E6C21546A4AD}"/>
              </a:ext>
            </a:extLst>
          </p:cNvPr>
          <p:cNvSpPr/>
          <p:nvPr/>
        </p:nvSpPr>
        <p:spPr>
          <a:xfrm>
            <a:off x="0" y="4892040"/>
            <a:ext cx="9144000" cy="265176"/>
          </a:xfrm>
          <a:prstGeom prst="rect">
            <a:avLst/>
          </a:prstGeom>
          <a:solidFill>
            <a:srgbClr val="B89650"/>
          </a:solidFill>
          <a:ln/>
        </p:spPr>
        <p:txBody>
          <a:bodyPr/>
          <a:lstStyle/>
          <a:p>
            <a:endParaRPr lang="en-US"/>
          </a:p>
        </p:txBody>
      </p:sp>
      <p:sp>
        <p:nvSpPr>
          <p:cNvPr id="3" name="FooterText">
            <a:extLst>
              <a:ext uri="{FF2B5EF4-FFF2-40B4-BE49-F238E27FC236}">
                <a16:creationId xmlns:a16="http://schemas.microsoft.com/office/drawing/2014/main" id="{758BFD47-D015-5AEE-CBC2-B0FF7A7DC53D}"/>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p>
        </p:txBody>
      </p:sp>
      <p:sp>
        <p:nvSpPr>
          <p:cNvPr id="4" name="Title">
            <a:extLst>
              <a:ext uri="{FF2B5EF4-FFF2-40B4-BE49-F238E27FC236}">
                <a16:creationId xmlns:a16="http://schemas.microsoft.com/office/drawing/2014/main" id="{4FD7948B-0E88-06D3-3766-FFAACFD4683D}"/>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Tool Overview</a:t>
            </a:r>
          </a:p>
        </p:txBody>
      </p:sp>
      <p:sp>
        <p:nvSpPr>
          <p:cNvPr id="50" name="ResultBg">
            <a:extLst>
              <a:ext uri="{FF2B5EF4-FFF2-40B4-BE49-F238E27FC236}">
                <a16:creationId xmlns:a16="http://schemas.microsoft.com/office/drawing/2014/main" id="{C23CAD9C-F6C3-CE07-3A10-3E4CDCD88E4C}"/>
              </a:ext>
            </a:extLst>
          </p:cNvPr>
          <p:cNvSpPr/>
          <p:nvPr/>
        </p:nvSpPr>
        <p:spPr>
          <a:xfrm>
            <a:off x="354240" y="3895000"/>
            <a:ext cx="8424000" cy="350000"/>
          </a:xfrm>
          <a:prstGeom prst="rect">
            <a:avLst/>
          </a:prstGeom>
          <a:solidFill>
            <a:srgbClr val="F0FDF4"/>
          </a:solidFill>
          <a:ln w="19050">
            <a:solidFill>
              <a:srgbClr val="144D2E"/>
            </a:solidFill>
          </a:ln>
        </p:spPr>
        <p:txBody>
          <a:bodyPr/>
          <a:lstStyle/>
          <a:p>
            <a:endParaRPr lang="en-US"/>
          </a:p>
        </p:txBody>
      </p:sp>
      <p:sp>
        <p:nvSpPr>
          <p:cNvPr id="51" name="ResultText">
            <a:extLst>
              <a:ext uri="{FF2B5EF4-FFF2-40B4-BE49-F238E27FC236}">
                <a16:creationId xmlns:a16="http://schemas.microsoft.com/office/drawing/2014/main" id="{CAB3BD34-8DB5-1F6F-D596-EF46F0576205}"/>
              </a:ext>
            </a:extLst>
          </p:cNvPr>
          <p:cNvSpPr/>
          <p:nvPr/>
        </p:nvSpPr>
        <p:spPr>
          <a:xfrm>
            <a:off x="354240" y="3885372"/>
            <a:ext cx="8424000" cy="350000"/>
          </a:xfrm>
          <a:prstGeom prst="rect">
            <a:avLst/>
          </a:prstGeom>
          <a:noFill/>
          <a:ln/>
        </p:spPr>
        <p:txBody>
          <a:bodyPr wrap="square" lIns="182880" tIns="45720" rIns="182880" bIns="45720" rtlCol="0" anchor="ctr"/>
          <a:lstStyle/>
          <a:p>
            <a:pPr marL="0" indent="0" algn="ctr">
              <a:buNone/>
            </a:pPr>
            <a:r>
              <a:rPr lang="en-US" sz="1200" b="1" dirty="0">
                <a:solidFill>
                  <a:srgbClr val="144D2E"/>
                </a:solidFill>
              </a:rPr>
              <a:t>A summary list of the finding is presented, you can explode them to detailed analyses of what it found. The user can download the PDF of each page  </a:t>
            </a:r>
          </a:p>
        </p:txBody>
      </p:sp>
      <p:sp>
        <p:nvSpPr>
          <p:cNvPr id="61" name="DriftNote">
            <a:extLst>
              <a:ext uri="{FF2B5EF4-FFF2-40B4-BE49-F238E27FC236}">
                <a16:creationId xmlns:a16="http://schemas.microsoft.com/office/drawing/2014/main" id="{B85476F7-0DB4-5039-864B-772B8C8F323A}"/>
              </a:ext>
            </a:extLst>
          </p:cNvPr>
          <p:cNvSpPr/>
          <p:nvPr/>
        </p:nvSpPr>
        <p:spPr>
          <a:xfrm>
            <a:off x="354240" y="4292040"/>
            <a:ext cx="8424000" cy="250000"/>
          </a:xfrm>
          <a:prstGeom prst="rect">
            <a:avLst/>
          </a:prstGeom>
          <a:noFill/>
          <a:ln/>
        </p:spPr>
        <p:txBody>
          <a:bodyPr wrap="square" lIns="0" tIns="0" rIns="0" bIns="0" rtlCol="0" anchor="ctr"/>
          <a:lstStyle/>
          <a:p>
            <a:pPr marL="0" indent="0" algn="ctr">
              <a:buNone/>
            </a:pPr>
            <a:r>
              <a:rPr lang="en-US" sz="950" i="1" dirty="0">
                <a:solidFill>
                  <a:srgbClr val="6B7280"/>
                </a:solidFill>
              </a:rPr>
              <a:t>⚡  To reset drift detection: delete output/schema_baseline.json — next upload creates a fresh baseline automatically</a:t>
            </a:r>
          </a:p>
        </p:txBody>
      </p:sp>
      <p:pic>
        <p:nvPicPr>
          <p:cNvPr id="6" name="Picture 5">
            <a:extLst>
              <a:ext uri="{FF2B5EF4-FFF2-40B4-BE49-F238E27FC236}">
                <a16:creationId xmlns:a16="http://schemas.microsoft.com/office/drawing/2014/main" id="{8B80DFF5-7648-8F41-E29A-B6294ABF85ED}"/>
              </a:ext>
            </a:extLst>
          </p:cNvPr>
          <p:cNvPicPr>
            <a:picLocks noChangeAspect="1"/>
          </p:cNvPicPr>
          <p:nvPr/>
        </p:nvPicPr>
        <p:blipFill>
          <a:blip r:embed="rId3"/>
          <a:stretch>
            <a:fillRect/>
          </a:stretch>
        </p:blipFill>
        <p:spPr>
          <a:xfrm>
            <a:off x="261914" y="898500"/>
            <a:ext cx="4975464" cy="2401367"/>
          </a:xfrm>
          <a:prstGeom prst="rect">
            <a:avLst/>
          </a:prstGeom>
        </p:spPr>
      </p:pic>
      <p:pic>
        <p:nvPicPr>
          <p:cNvPr id="10" name="Picture 9">
            <a:extLst>
              <a:ext uri="{FF2B5EF4-FFF2-40B4-BE49-F238E27FC236}">
                <a16:creationId xmlns:a16="http://schemas.microsoft.com/office/drawing/2014/main" id="{0EE7D825-3376-820A-E4A5-E799144BED99}"/>
              </a:ext>
            </a:extLst>
          </p:cNvPr>
          <p:cNvPicPr>
            <a:picLocks noChangeAspect="1"/>
          </p:cNvPicPr>
          <p:nvPr/>
        </p:nvPicPr>
        <p:blipFill>
          <a:blip r:embed="rId4"/>
          <a:stretch>
            <a:fillRect/>
          </a:stretch>
        </p:blipFill>
        <p:spPr>
          <a:xfrm>
            <a:off x="5715472" y="662259"/>
            <a:ext cx="2636748" cy="472481"/>
          </a:xfrm>
          <a:prstGeom prst="rect">
            <a:avLst/>
          </a:prstGeom>
        </p:spPr>
      </p:pic>
      <p:pic>
        <p:nvPicPr>
          <p:cNvPr id="12" name="Picture 11">
            <a:extLst>
              <a:ext uri="{FF2B5EF4-FFF2-40B4-BE49-F238E27FC236}">
                <a16:creationId xmlns:a16="http://schemas.microsoft.com/office/drawing/2014/main" id="{0410AD95-1AD1-DA8A-797D-A5D9E6E3BD3B}"/>
              </a:ext>
            </a:extLst>
          </p:cNvPr>
          <p:cNvPicPr>
            <a:picLocks noChangeAspect="1"/>
          </p:cNvPicPr>
          <p:nvPr/>
        </p:nvPicPr>
        <p:blipFill>
          <a:blip r:embed="rId5"/>
          <a:srcRect r="46108"/>
          <a:stretch>
            <a:fillRect/>
          </a:stretch>
        </p:blipFill>
        <p:spPr>
          <a:xfrm>
            <a:off x="6028006" y="1001529"/>
            <a:ext cx="2011680" cy="1097654"/>
          </a:xfrm>
          <a:prstGeom prst="rect">
            <a:avLst/>
          </a:prstGeom>
        </p:spPr>
      </p:pic>
      <p:sp>
        <p:nvSpPr>
          <p:cNvPr id="13" name="TextBox 12">
            <a:extLst>
              <a:ext uri="{FF2B5EF4-FFF2-40B4-BE49-F238E27FC236}">
                <a16:creationId xmlns:a16="http://schemas.microsoft.com/office/drawing/2014/main" id="{1012AE08-8C1F-B391-740B-2B31D30F6545}"/>
              </a:ext>
            </a:extLst>
          </p:cNvPr>
          <p:cNvSpPr txBox="1"/>
          <p:nvPr/>
        </p:nvSpPr>
        <p:spPr>
          <a:xfrm>
            <a:off x="6028006" y="2433711"/>
            <a:ext cx="1992853" cy="230832"/>
          </a:xfrm>
          <a:prstGeom prst="rect">
            <a:avLst/>
          </a:prstGeom>
          <a:noFill/>
        </p:spPr>
        <p:txBody>
          <a:bodyPr wrap="none" rtlCol="0">
            <a:spAutoFit/>
          </a:bodyPr>
          <a:lstStyle/>
          <a:p>
            <a:r>
              <a:rPr lang="de-CH" sz="900" dirty="0">
                <a:hlinkClick r:id="rId6"/>
              </a:rPr>
              <a:t>CLICK HERE  for Full PDF report sample</a:t>
            </a:r>
            <a:endParaRPr lang="en-CH" sz="900" dirty="0"/>
          </a:p>
        </p:txBody>
      </p:sp>
    </p:spTree>
    <p:extLst>
      <p:ext uri="{BB962C8B-B14F-4D97-AF65-F5344CB8AC3E}">
        <p14:creationId xmlns:p14="http://schemas.microsoft.com/office/powerpoint/2010/main" val="210248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C82A-A361-5762-9E56-2E59B7186A11}"/>
            </a:ext>
          </a:extLst>
        </p:cNvPr>
        <p:cNvGrpSpPr/>
        <p:nvPr/>
      </p:nvGrpSpPr>
      <p:grpSpPr>
        <a:xfrm>
          <a:off x="0" y="0"/>
          <a:ext cx="0" cy="0"/>
          <a:chOff x="0" y="0"/>
          <a:chExt cx="0" cy="0"/>
        </a:xfrm>
      </p:grpSpPr>
      <p:sp>
        <p:nvSpPr>
          <p:cNvPr id="2" name="FooterBar">
            <a:extLst>
              <a:ext uri="{FF2B5EF4-FFF2-40B4-BE49-F238E27FC236}">
                <a16:creationId xmlns:a16="http://schemas.microsoft.com/office/drawing/2014/main" id="{FB7441AC-0117-C9C6-92E5-D0AB750BA278}"/>
              </a:ext>
            </a:extLst>
          </p:cNvPr>
          <p:cNvSpPr/>
          <p:nvPr/>
        </p:nvSpPr>
        <p:spPr>
          <a:xfrm>
            <a:off x="0" y="4892040"/>
            <a:ext cx="9144000" cy="265176"/>
          </a:xfrm>
          <a:prstGeom prst="rect">
            <a:avLst/>
          </a:prstGeom>
          <a:solidFill>
            <a:srgbClr val="B89650"/>
          </a:solidFill>
          <a:ln/>
        </p:spPr>
        <p:txBody>
          <a:bodyPr/>
          <a:lstStyle/>
          <a:p>
            <a:endParaRPr lang="en-US"/>
          </a:p>
        </p:txBody>
      </p:sp>
      <p:sp>
        <p:nvSpPr>
          <p:cNvPr id="3" name="FooterText">
            <a:extLst>
              <a:ext uri="{FF2B5EF4-FFF2-40B4-BE49-F238E27FC236}">
                <a16:creationId xmlns:a16="http://schemas.microsoft.com/office/drawing/2014/main" id="{7CEA71FD-E963-DC42-D103-2DA9B4F2A08F}"/>
              </a:ext>
            </a:extLst>
          </p:cNvPr>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p>
        </p:txBody>
      </p:sp>
      <p:sp>
        <p:nvSpPr>
          <p:cNvPr id="4" name="Title">
            <a:extLst>
              <a:ext uri="{FF2B5EF4-FFF2-40B4-BE49-F238E27FC236}">
                <a16:creationId xmlns:a16="http://schemas.microsoft.com/office/drawing/2014/main" id="{3302508F-D48B-B48A-F6BB-F404B299584B}"/>
              </a:ext>
            </a:extLst>
          </p:cNvPr>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How to Run the Pipeline</a:t>
            </a:r>
          </a:p>
        </p:txBody>
      </p:sp>
      <p:sp>
        <p:nvSpPr>
          <p:cNvPr id="5" name="Divider">
            <a:extLst>
              <a:ext uri="{FF2B5EF4-FFF2-40B4-BE49-F238E27FC236}">
                <a16:creationId xmlns:a16="http://schemas.microsoft.com/office/drawing/2014/main" id="{A7A1E8B2-5588-ED5D-174A-2527E7D74BE3}"/>
              </a:ext>
            </a:extLst>
          </p:cNvPr>
          <p:cNvSpPr/>
          <p:nvPr/>
        </p:nvSpPr>
        <p:spPr>
          <a:xfrm>
            <a:off x="365760" y="713232"/>
            <a:ext cx="8412480" cy="27432"/>
          </a:xfrm>
          <a:prstGeom prst="rect">
            <a:avLst/>
          </a:prstGeom>
          <a:solidFill>
            <a:srgbClr val="E8ECF2"/>
          </a:solidFill>
          <a:ln/>
        </p:spPr>
        <p:txBody>
          <a:bodyPr/>
          <a:lstStyle/>
          <a:p>
            <a:endParaRPr lang="en-US"/>
          </a:p>
        </p:txBody>
      </p:sp>
      <p:sp>
        <p:nvSpPr>
          <p:cNvPr id="10" name="LabelA">
            <a:extLst>
              <a:ext uri="{FF2B5EF4-FFF2-40B4-BE49-F238E27FC236}">
                <a16:creationId xmlns:a16="http://schemas.microsoft.com/office/drawing/2014/main" id="{DFF2325B-3EFA-2D27-026F-A1752B82E1B6}"/>
              </a:ext>
            </a:extLst>
          </p:cNvPr>
          <p:cNvSpPr/>
          <p:nvPr/>
        </p:nvSpPr>
        <p:spPr>
          <a:xfrm>
            <a:off x="360000" y="800000"/>
            <a:ext cx="3900000" cy="280000"/>
          </a:xfrm>
          <a:prstGeom prst="rect">
            <a:avLst/>
          </a:prstGeom>
          <a:solidFill>
            <a:srgbClr val="1C2B4A"/>
          </a:solidFill>
          <a:ln/>
        </p:spPr>
        <p:txBody>
          <a:bodyPr wrap="square" lIns="91440" tIns="45720" rIns="91440" bIns="45720" rtlCol="0" anchor="ctr"/>
          <a:lstStyle/>
          <a:p>
            <a:pPr marL="0" indent="0" algn="ctr">
              <a:buNone/>
            </a:pPr>
            <a:r>
              <a:rPr lang="en-US" sz="1200" b="1" dirty="0">
                <a:solidFill>
                  <a:srgbClr val="FFFFFF"/>
                </a:solidFill>
              </a:rPr>
              <a:t>📁  Option A — Non-technical (bat file)</a:t>
            </a:r>
          </a:p>
        </p:txBody>
      </p:sp>
      <p:sp>
        <p:nvSpPr>
          <p:cNvPr id="11" name="LabelB">
            <a:extLst>
              <a:ext uri="{FF2B5EF4-FFF2-40B4-BE49-F238E27FC236}">
                <a16:creationId xmlns:a16="http://schemas.microsoft.com/office/drawing/2014/main" id="{89A06FB5-D256-4A7F-FA17-6D41F7A84738}"/>
              </a:ext>
            </a:extLst>
          </p:cNvPr>
          <p:cNvSpPr/>
          <p:nvPr/>
        </p:nvSpPr>
        <p:spPr>
          <a:xfrm>
            <a:off x="4884000" y="800000"/>
            <a:ext cx="3900000" cy="280000"/>
          </a:xfrm>
          <a:prstGeom prst="rect">
            <a:avLst/>
          </a:prstGeom>
          <a:solidFill>
            <a:srgbClr val="B89650"/>
          </a:solidFill>
          <a:ln/>
        </p:spPr>
        <p:txBody>
          <a:bodyPr wrap="square" lIns="91440" tIns="45720" rIns="91440" bIns="45720" rtlCol="0" anchor="ctr"/>
          <a:lstStyle/>
          <a:p>
            <a:pPr marL="0" indent="0" algn="ctr">
              <a:buNone/>
            </a:pPr>
            <a:r>
              <a:rPr lang="en-US" sz="1200" b="1" dirty="0">
                <a:solidFill>
                  <a:srgbClr val="FFFFFF"/>
                </a:solidFill>
              </a:rPr>
              <a:t>💻  Option B — Technical (terminal)</a:t>
            </a:r>
          </a:p>
        </p:txBody>
      </p:sp>
      <p:sp>
        <p:nvSpPr>
          <p:cNvPr id="20" name="A1Circle">
            <a:extLst>
              <a:ext uri="{FF2B5EF4-FFF2-40B4-BE49-F238E27FC236}">
                <a16:creationId xmlns:a16="http://schemas.microsoft.com/office/drawing/2014/main" id="{40AE38A3-5030-BE5D-B411-6F7A217F41F4}"/>
              </a:ext>
            </a:extLst>
          </p:cNvPr>
          <p:cNvSpPr/>
          <p:nvPr/>
        </p:nvSpPr>
        <p:spPr>
          <a:xfrm>
            <a:off x="360000" y="1170000"/>
            <a:ext cx="320000" cy="320000"/>
          </a:xfrm>
          <a:prstGeom prst="ellipse">
            <a:avLst/>
          </a:prstGeom>
          <a:solidFill>
            <a:srgbClr val="1C2B4A"/>
          </a:solidFill>
          <a:ln/>
        </p:spPr>
        <p:txBody>
          <a:bodyPr wrap="square" lIns="0" tIns="0" rIns="0" bIns="0" rtlCol="0" anchor="ctr"/>
          <a:lstStyle/>
          <a:p>
            <a:pPr marL="0" indent="0" algn="ctr">
              <a:buNone/>
            </a:pPr>
            <a:r>
              <a:rPr lang="en-US" sz="1100" b="1" dirty="0">
                <a:solidFill>
                  <a:srgbClr val="FFFFFF"/>
                </a:solidFill>
              </a:rPr>
              <a:t>1</a:t>
            </a:r>
          </a:p>
        </p:txBody>
      </p:sp>
      <p:sp>
        <p:nvSpPr>
          <p:cNvPr id="21" name="A1Text">
            <a:extLst>
              <a:ext uri="{FF2B5EF4-FFF2-40B4-BE49-F238E27FC236}">
                <a16:creationId xmlns:a16="http://schemas.microsoft.com/office/drawing/2014/main" id="{2AC014FC-F8DD-6B65-DE1A-1BC872F2FD65}"/>
              </a:ext>
            </a:extLst>
          </p:cNvPr>
          <p:cNvSpPr/>
          <p:nvPr/>
        </p:nvSpPr>
        <p:spPr>
          <a:xfrm>
            <a:off x="740000" y="1160000"/>
            <a:ext cx="3520000" cy="380000"/>
          </a:xfrm>
          <a:prstGeom prst="rect">
            <a:avLst/>
          </a:prstGeom>
          <a:noFill/>
          <a:ln/>
        </p:spPr>
        <p:txBody>
          <a:bodyPr wrap="square" lIns="0" tIns="0" rIns="0" bIns="0" rtlCol="0" anchor="ctr"/>
          <a:lstStyle/>
          <a:p>
            <a:pPr marL="0" indent="0">
              <a:buNone/>
            </a:pPr>
            <a:r>
              <a:rPr lang="en-US" sz="1200" b="1" dirty="0">
                <a:solidFill>
                  <a:srgbClr val="1C2B4A"/>
                </a:solidFill>
              </a:rPr>
              <a:t>Download the project folder</a:t>
            </a:r>
          </a:p>
          <a:p>
            <a:pPr marL="0" indent="0">
              <a:buNone/>
            </a:pPr>
            <a:r>
              <a:rPr lang="en-US" sz="1000" dirty="0">
                <a:solidFill>
                  <a:srgbClr val="6B7280"/>
                </a:solidFill>
              </a:rPr>
              <a:t>Unzip to any folder on your computer</a:t>
            </a:r>
          </a:p>
        </p:txBody>
      </p:sp>
      <p:sp>
        <p:nvSpPr>
          <p:cNvPr id="22" name="A2Circle">
            <a:extLst>
              <a:ext uri="{FF2B5EF4-FFF2-40B4-BE49-F238E27FC236}">
                <a16:creationId xmlns:a16="http://schemas.microsoft.com/office/drawing/2014/main" id="{C5F0355B-E954-7885-5D08-735F79C258FF}"/>
              </a:ext>
            </a:extLst>
          </p:cNvPr>
          <p:cNvSpPr/>
          <p:nvPr/>
        </p:nvSpPr>
        <p:spPr>
          <a:xfrm>
            <a:off x="360000" y="1680000"/>
            <a:ext cx="320000" cy="320000"/>
          </a:xfrm>
          <a:prstGeom prst="ellipse">
            <a:avLst/>
          </a:prstGeom>
          <a:solidFill>
            <a:srgbClr val="1C2B4A"/>
          </a:solidFill>
          <a:ln/>
        </p:spPr>
        <p:txBody>
          <a:bodyPr wrap="square" lIns="0" tIns="0" rIns="0" bIns="0" rtlCol="0" anchor="ctr"/>
          <a:lstStyle/>
          <a:p>
            <a:pPr marL="0" indent="0" algn="ctr">
              <a:buNone/>
            </a:pPr>
            <a:r>
              <a:rPr lang="en-US" sz="1100" b="1" dirty="0">
                <a:solidFill>
                  <a:srgbClr val="FFFFFF"/>
                </a:solidFill>
              </a:rPr>
              <a:t>2</a:t>
            </a:r>
          </a:p>
        </p:txBody>
      </p:sp>
      <p:sp>
        <p:nvSpPr>
          <p:cNvPr id="23" name="A2Cmd">
            <a:extLst>
              <a:ext uri="{FF2B5EF4-FFF2-40B4-BE49-F238E27FC236}">
                <a16:creationId xmlns:a16="http://schemas.microsoft.com/office/drawing/2014/main" id="{28AE365E-9572-4CE1-6767-561551F088C6}"/>
              </a:ext>
            </a:extLst>
          </p:cNvPr>
          <p:cNvSpPr/>
          <p:nvPr/>
        </p:nvSpPr>
        <p:spPr>
          <a:xfrm>
            <a:off x="740000" y="1670000"/>
            <a:ext cx="3520000" cy="280000"/>
          </a:xfrm>
          <a:prstGeom prst="rect">
            <a:avLst/>
          </a:prstGeom>
          <a:solidFill>
            <a:srgbClr val="1E293B"/>
          </a:solidFill>
          <a:ln/>
        </p:spPr>
        <p:txBody>
          <a:bodyPr wrap="square" lIns="91440" tIns="45720" rIns="91440" bIns="45720" rtlCol="0" anchor="ctr"/>
          <a:lstStyle/>
          <a:p>
            <a:pPr marL="0" indent="0">
              <a:buNone/>
            </a:pPr>
            <a:r>
              <a:rPr lang="en-US" sz="1100" dirty="0">
                <a:solidFill>
                  <a:srgbClr val="86EFAC"/>
                </a:solidFill>
              </a:rPr>
              <a:t>Double-click:  launch_pipeline.bat</a:t>
            </a:r>
          </a:p>
        </p:txBody>
      </p:sp>
      <p:sp>
        <p:nvSpPr>
          <p:cNvPr id="24" name="A2Sub">
            <a:extLst>
              <a:ext uri="{FF2B5EF4-FFF2-40B4-BE49-F238E27FC236}">
                <a16:creationId xmlns:a16="http://schemas.microsoft.com/office/drawing/2014/main" id="{20B2D0E0-89BA-F5D2-1A7F-69E45C005823}"/>
              </a:ext>
            </a:extLst>
          </p:cNvPr>
          <p:cNvSpPr/>
          <p:nvPr/>
        </p:nvSpPr>
        <p:spPr>
          <a:xfrm>
            <a:off x="740000" y="1960000"/>
            <a:ext cx="3520000" cy="200000"/>
          </a:xfrm>
          <a:prstGeom prst="rect">
            <a:avLst/>
          </a:prstGeom>
          <a:noFill/>
          <a:ln/>
        </p:spPr>
        <p:txBody>
          <a:bodyPr wrap="square" lIns="0" tIns="0" rIns="0" bIns="0" rtlCol="0" anchor="ctr"/>
          <a:lstStyle/>
          <a:p>
            <a:pPr marL="0" indent="0">
              <a:buNone/>
            </a:pPr>
            <a:r>
              <a:rPr lang="en-US" sz="950" i="1" dirty="0">
                <a:solidFill>
                  <a:srgbClr val="6B7280"/>
                </a:solidFill>
              </a:rPr>
              <a:t>Installs dependencies + starts server automatically</a:t>
            </a:r>
          </a:p>
        </p:txBody>
      </p:sp>
      <p:sp>
        <p:nvSpPr>
          <p:cNvPr id="25" name="A3Circle">
            <a:extLst>
              <a:ext uri="{FF2B5EF4-FFF2-40B4-BE49-F238E27FC236}">
                <a16:creationId xmlns:a16="http://schemas.microsoft.com/office/drawing/2014/main" id="{AD703C35-C342-C0A8-AC01-6A716D11230C}"/>
              </a:ext>
            </a:extLst>
          </p:cNvPr>
          <p:cNvSpPr/>
          <p:nvPr/>
        </p:nvSpPr>
        <p:spPr>
          <a:xfrm>
            <a:off x="360000" y="2280000"/>
            <a:ext cx="320000" cy="320000"/>
          </a:xfrm>
          <a:prstGeom prst="ellipse">
            <a:avLst/>
          </a:prstGeom>
          <a:solidFill>
            <a:srgbClr val="1C2B4A"/>
          </a:solidFill>
          <a:ln/>
        </p:spPr>
        <p:txBody>
          <a:bodyPr wrap="square" lIns="0" tIns="0" rIns="0" bIns="0" rtlCol="0" anchor="ctr"/>
          <a:lstStyle/>
          <a:p>
            <a:pPr marL="0" indent="0" algn="ctr">
              <a:buNone/>
            </a:pPr>
            <a:r>
              <a:rPr lang="en-US" sz="1100" b="1" dirty="0">
                <a:solidFill>
                  <a:srgbClr val="FFFFFF"/>
                </a:solidFill>
              </a:rPr>
              <a:t>3</a:t>
            </a:r>
          </a:p>
        </p:txBody>
      </p:sp>
      <p:sp>
        <p:nvSpPr>
          <p:cNvPr id="26" name="A3Text">
            <a:extLst>
              <a:ext uri="{FF2B5EF4-FFF2-40B4-BE49-F238E27FC236}">
                <a16:creationId xmlns:a16="http://schemas.microsoft.com/office/drawing/2014/main" id="{BBDBEC14-C7E1-457C-0AA1-958F191C9B59}"/>
              </a:ext>
            </a:extLst>
          </p:cNvPr>
          <p:cNvSpPr/>
          <p:nvPr/>
        </p:nvSpPr>
        <p:spPr>
          <a:xfrm>
            <a:off x="740000" y="2270000"/>
            <a:ext cx="3520000" cy="380000"/>
          </a:xfrm>
          <a:prstGeom prst="rect">
            <a:avLst/>
          </a:prstGeom>
          <a:noFill/>
          <a:ln/>
        </p:spPr>
        <p:txBody>
          <a:bodyPr wrap="square" lIns="0" tIns="0" rIns="0" bIns="0" rtlCol="0" anchor="ctr"/>
          <a:lstStyle/>
          <a:p>
            <a:pPr marL="0" indent="0">
              <a:buNone/>
            </a:pPr>
            <a:r>
              <a:rPr lang="en-US" sz="1200" b="1" dirty="0">
                <a:solidFill>
                  <a:srgbClr val="1C2B4A"/>
                </a:solidFill>
              </a:rPr>
              <a:t>Browser opens automatically</a:t>
            </a:r>
          </a:p>
          <a:p>
            <a:pPr marL="0" indent="0">
              <a:buNone/>
            </a:pPr>
            <a:r>
              <a:rPr lang="en-US" sz="1000" dirty="0">
                <a:solidFill>
                  <a:srgbClr val="6B7280"/>
                </a:solidFill>
              </a:rPr>
              <a:t>localhost:5000 — Chrome, Edge, Safari, Firefox</a:t>
            </a:r>
          </a:p>
        </p:txBody>
      </p:sp>
      <p:sp>
        <p:nvSpPr>
          <p:cNvPr id="27" name="A4Circle">
            <a:extLst>
              <a:ext uri="{FF2B5EF4-FFF2-40B4-BE49-F238E27FC236}">
                <a16:creationId xmlns:a16="http://schemas.microsoft.com/office/drawing/2014/main" id="{97AE08BC-E235-D74C-1954-2C7722222E1F}"/>
              </a:ext>
            </a:extLst>
          </p:cNvPr>
          <p:cNvSpPr/>
          <p:nvPr/>
        </p:nvSpPr>
        <p:spPr>
          <a:xfrm>
            <a:off x="360000" y="2780000"/>
            <a:ext cx="320000" cy="320000"/>
          </a:xfrm>
          <a:prstGeom prst="ellipse">
            <a:avLst/>
          </a:prstGeom>
          <a:solidFill>
            <a:srgbClr val="1C2B4A"/>
          </a:solidFill>
          <a:ln/>
        </p:spPr>
        <p:txBody>
          <a:bodyPr wrap="square" lIns="0" tIns="0" rIns="0" bIns="0" rtlCol="0" anchor="ctr"/>
          <a:lstStyle/>
          <a:p>
            <a:pPr marL="0" indent="0" algn="ctr">
              <a:buNone/>
            </a:pPr>
            <a:r>
              <a:rPr lang="en-US" sz="1100" b="1" dirty="0">
                <a:solidFill>
                  <a:srgbClr val="FFFFFF"/>
                </a:solidFill>
              </a:rPr>
              <a:t>4</a:t>
            </a:r>
          </a:p>
        </p:txBody>
      </p:sp>
      <p:sp>
        <p:nvSpPr>
          <p:cNvPr id="28" name="A4Text">
            <a:extLst>
              <a:ext uri="{FF2B5EF4-FFF2-40B4-BE49-F238E27FC236}">
                <a16:creationId xmlns:a16="http://schemas.microsoft.com/office/drawing/2014/main" id="{3C10F020-178D-2A73-3449-B6BF5FB711F9}"/>
              </a:ext>
            </a:extLst>
          </p:cNvPr>
          <p:cNvSpPr/>
          <p:nvPr/>
        </p:nvSpPr>
        <p:spPr>
          <a:xfrm>
            <a:off x="740000" y="2770000"/>
            <a:ext cx="3520000" cy="380000"/>
          </a:xfrm>
          <a:prstGeom prst="rect">
            <a:avLst/>
          </a:prstGeom>
          <a:noFill/>
          <a:ln/>
        </p:spPr>
        <p:txBody>
          <a:bodyPr wrap="square" lIns="0" tIns="0" rIns="0" bIns="0" rtlCol="0" anchor="ctr"/>
          <a:lstStyle/>
          <a:p>
            <a:pPr marL="0" indent="0">
              <a:buNone/>
            </a:pPr>
            <a:r>
              <a:rPr lang="en-US" sz="1200" b="1" dirty="0">
                <a:solidFill>
                  <a:srgbClr val="1C2B4A"/>
                </a:solidFill>
              </a:rPr>
              <a:t>Drag &amp; drop your files</a:t>
            </a:r>
          </a:p>
          <a:p>
            <a:pPr marL="0" indent="0">
              <a:buNone/>
            </a:pPr>
            <a:r>
              <a:rPr lang="en-US" sz="1000" dirty="0">
                <a:solidFill>
                  <a:srgbClr val="6B7280"/>
                </a:solidFill>
              </a:rPr>
              <a:t>business_case.xlsx + fx.csv + prices.csv</a:t>
            </a:r>
          </a:p>
        </p:txBody>
      </p:sp>
      <p:sp>
        <p:nvSpPr>
          <p:cNvPr id="30" name="B1Circle">
            <a:extLst>
              <a:ext uri="{FF2B5EF4-FFF2-40B4-BE49-F238E27FC236}">
                <a16:creationId xmlns:a16="http://schemas.microsoft.com/office/drawing/2014/main" id="{BAE02CBF-8C05-9467-C697-96C012EC05CC}"/>
              </a:ext>
            </a:extLst>
          </p:cNvPr>
          <p:cNvSpPr/>
          <p:nvPr/>
        </p:nvSpPr>
        <p:spPr>
          <a:xfrm>
            <a:off x="4884000" y="1170000"/>
            <a:ext cx="320000" cy="320000"/>
          </a:xfrm>
          <a:prstGeom prst="ellipse">
            <a:avLst/>
          </a:prstGeom>
          <a:solidFill>
            <a:srgbClr val="B89650"/>
          </a:solidFill>
          <a:ln/>
        </p:spPr>
        <p:txBody>
          <a:bodyPr wrap="square" lIns="0" tIns="0" rIns="0" bIns="0" rtlCol="0" anchor="ctr"/>
          <a:lstStyle/>
          <a:p>
            <a:pPr marL="0" indent="0" algn="ctr">
              <a:buNone/>
            </a:pPr>
            <a:r>
              <a:rPr lang="en-US" sz="1100" b="1" dirty="0">
                <a:solidFill>
                  <a:srgbClr val="FFFFFF"/>
                </a:solidFill>
              </a:rPr>
              <a:t>1</a:t>
            </a:r>
          </a:p>
        </p:txBody>
      </p:sp>
      <p:sp>
        <p:nvSpPr>
          <p:cNvPr id="31" name="B1Cmd">
            <a:extLst>
              <a:ext uri="{FF2B5EF4-FFF2-40B4-BE49-F238E27FC236}">
                <a16:creationId xmlns:a16="http://schemas.microsoft.com/office/drawing/2014/main" id="{43ACC40C-516F-5809-902A-38C94E1D0B2C}"/>
              </a:ext>
            </a:extLst>
          </p:cNvPr>
          <p:cNvSpPr/>
          <p:nvPr/>
        </p:nvSpPr>
        <p:spPr>
          <a:xfrm>
            <a:off x="5264000" y="1160000"/>
            <a:ext cx="3520000" cy="280000"/>
          </a:xfrm>
          <a:prstGeom prst="rect">
            <a:avLst/>
          </a:prstGeom>
          <a:solidFill>
            <a:srgbClr val="1E293B"/>
          </a:solidFill>
          <a:ln/>
        </p:spPr>
        <p:txBody>
          <a:bodyPr wrap="square" lIns="91440" tIns="45720" rIns="91440" bIns="45720" rtlCol="0" anchor="ctr"/>
          <a:lstStyle/>
          <a:p>
            <a:pPr marL="0" indent="0">
              <a:buNone/>
            </a:pPr>
            <a:r>
              <a:rPr lang="en-US" sz="1000" dirty="0">
                <a:solidFill>
                  <a:srgbClr val="86EFAC"/>
                </a:solidFill>
              </a:rPr>
              <a:t>$ pip install -r requirements.txt</a:t>
            </a:r>
          </a:p>
        </p:txBody>
      </p:sp>
      <p:sp>
        <p:nvSpPr>
          <p:cNvPr id="32" name="B1Sub">
            <a:extLst>
              <a:ext uri="{FF2B5EF4-FFF2-40B4-BE49-F238E27FC236}">
                <a16:creationId xmlns:a16="http://schemas.microsoft.com/office/drawing/2014/main" id="{5F5EBA20-FAD8-4F8B-9842-864EE88FB1CA}"/>
              </a:ext>
            </a:extLst>
          </p:cNvPr>
          <p:cNvSpPr/>
          <p:nvPr/>
        </p:nvSpPr>
        <p:spPr>
          <a:xfrm>
            <a:off x="5264000" y="1450000"/>
            <a:ext cx="3520000" cy="180000"/>
          </a:xfrm>
          <a:prstGeom prst="rect">
            <a:avLst/>
          </a:prstGeom>
          <a:noFill/>
          <a:ln/>
        </p:spPr>
        <p:txBody>
          <a:bodyPr wrap="square" lIns="0" tIns="0" rIns="0" bIns="0" rtlCol="0" anchor="ctr"/>
          <a:lstStyle/>
          <a:p>
            <a:pPr marL="0" indent="0">
              <a:buNone/>
            </a:pPr>
            <a:r>
              <a:rPr lang="en-US" sz="950" i="1" dirty="0">
                <a:solidFill>
                  <a:srgbClr val="6B7280"/>
                </a:solidFill>
              </a:rPr>
              <a:t>Once only — all pure Python, no Docker</a:t>
            </a:r>
          </a:p>
        </p:txBody>
      </p:sp>
      <p:sp>
        <p:nvSpPr>
          <p:cNvPr id="33" name="B2Circle">
            <a:extLst>
              <a:ext uri="{FF2B5EF4-FFF2-40B4-BE49-F238E27FC236}">
                <a16:creationId xmlns:a16="http://schemas.microsoft.com/office/drawing/2014/main" id="{E7C0DE86-E80C-D7F3-4E81-9AEDCEF3F624}"/>
              </a:ext>
            </a:extLst>
          </p:cNvPr>
          <p:cNvSpPr/>
          <p:nvPr/>
        </p:nvSpPr>
        <p:spPr>
          <a:xfrm>
            <a:off x="4884000" y="1750000"/>
            <a:ext cx="320000" cy="320000"/>
          </a:xfrm>
          <a:prstGeom prst="ellipse">
            <a:avLst/>
          </a:prstGeom>
          <a:solidFill>
            <a:srgbClr val="B89650"/>
          </a:solidFill>
          <a:ln/>
        </p:spPr>
        <p:txBody>
          <a:bodyPr wrap="square" lIns="0" tIns="0" rIns="0" bIns="0" rtlCol="0" anchor="ctr"/>
          <a:lstStyle/>
          <a:p>
            <a:pPr marL="0" indent="0" algn="ctr">
              <a:buNone/>
            </a:pPr>
            <a:r>
              <a:rPr lang="en-US" sz="1100" b="1" dirty="0">
                <a:solidFill>
                  <a:srgbClr val="FFFFFF"/>
                </a:solidFill>
              </a:rPr>
              <a:t>2</a:t>
            </a:r>
          </a:p>
        </p:txBody>
      </p:sp>
      <p:sp>
        <p:nvSpPr>
          <p:cNvPr id="34" name="B2Cmd">
            <a:extLst>
              <a:ext uri="{FF2B5EF4-FFF2-40B4-BE49-F238E27FC236}">
                <a16:creationId xmlns:a16="http://schemas.microsoft.com/office/drawing/2014/main" id="{686E9232-0419-E92D-B515-2C234B367E66}"/>
              </a:ext>
            </a:extLst>
          </p:cNvPr>
          <p:cNvSpPr/>
          <p:nvPr/>
        </p:nvSpPr>
        <p:spPr>
          <a:xfrm>
            <a:off x="5264000" y="1740000"/>
            <a:ext cx="3520000" cy="280000"/>
          </a:xfrm>
          <a:prstGeom prst="rect">
            <a:avLst/>
          </a:prstGeom>
          <a:solidFill>
            <a:srgbClr val="1E293B"/>
          </a:solidFill>
          <a:ln/>
        </p:spPr>
        <p:txBody>
          <a:bodyPr wrap="square" lIns="91440" tIns="45720" rIns="91440" bIns="45720" rtlCol="0" anchor="ctr"/>
          <a:lstStyle/>
          <a:p>
            <a:pPr marL="0" indent="0">
              <a:buNone/>
            </a:pPr>
            <a:r>
              <a:rPr lang="en-US" sz="1000" dirty="0">
                <a:solidFill>
                  <a:srgbClr val="86EFAC"/>
                </a:solidFill>
              </a:rPr>
              <a:t>$ python app.py</a:t>
            </a:r>
          </a:p>
        </p:txBody>
      </p:sp>
      <p:sp>
        <p:nvSpPr>
          <p:cNvPr id="35" name="B2Sub">
            <a:extLst>
              <a:ext uri="{FF2B5EF4-FFF2-40B4-BE49-F238E27FC236}">
                <a16:creationId xmlns:a16="http://schemas.microsoft.com/office/drawing/2014/main" id="{80967ED6-2633-2022-DBA1-70EEF9AA170E}"/>
              </a:ext>
            </a:extLst>
          </p:cNvPr>
          <p:cNvSpPr/>
          <p:nvPr/>
        </p:nvSpPr>
        <p:spPr>
          <a:xfrm>
            <a:off x="5264000" y="2030000"/>
            <a:ext cx="3520000" cy="180000"/>
          </a:xfrm>
          <a:prstGeom prst="rect">
            <a:avLst/>
          </a:prstGeom>
          <a:noFill/>
          <a:ln/>
        </p:spPr>
        <p:txBody>
          <a:bodyPr wrap="square" lIns="0" tIns="0" rIns="0" bIns="0" rtlCol="0" anchor="ctr"/>
          <a:lstStyle/>
          <a:p>
            <a:pPr marL="0" indent="0">
              <a:buNone/>
            </a:pPr>
            <a:r>
              <a:rPr lang="en-US" sz="950" i="1" dirty="0">
                <a:solidFill>
                  <a:srgbClr val="6B7280"/>
                </a:solidFill>
              </a:rPr>
              <a:t>Server starts at localhost:5000 — keep terminal open</a:t>
            </a:r>
          </a:p>
        </p:txBody>
      </p:sp>
      <p:sp>
        <p:nvSpPr>
          <p:cNvPr id="36" name="B3Circle">
            <a:extLst>
              <a:ext uri="{FF2B5EF4-FFF2-40B4-BE49-F238E27FC236}">
                <a16:creationId xmlns:a16="http://schemas.microsoft.com/office/drawing/2014/main" id="{465FE3C9-D1E4-0A93-70F9-2C1E945AAD3F}"/>
              </a:ext>
            </a:extLst>
          </p:cNvPr>
          <p:cNvSpPr/>
          <p:nvPr/>
        </p:nvSpPr>
        <p:spPr>
          <a:xfrm>
            <a:off x="4884000" y="2340000"/>
            <a:ext cx="320000" cy="320000"/>
          </a:xfrm>
          <a:prstGeom prst="ellipse">
            <a:avLst/>
          </a:prstGeom>
          <a:solidFill>
            <a:srgbClr val="B89650"/>
          </a:solidFill>
          <a:ln/>
        </p:spPr>
        <p:txBody>
          <a:bodyPr wrap="square" lIns="0" tIns="0" rIns="0" bIns="0" rtlCol="0" anchor="ctr"/>
          <a:lstStyle/>
          <a:p>
            <a:pPr marL="0" indent="0" algn="ctr">
              <a:buNone/>
            </a:pPr>
            <a:r>
              <a:rPr lang="en-US" sz="1100" b="1" dirty="0">
                <a:solidFill>
                  <a:srgbClr val="FFFFFF"/>
                </a:solidFill>
              </a:rPr>
              <a:t>3</a:t>
            </a:r>
          </a:p>
        </p:txBody>
      </p:sp>
      <p:sp>
        <p:nvSpPr>
          <p:cNvPr id="37" name="B3Text">
            <a:extLst>
              <a:ext uri="{FF2B5EF4-FFF2-40B4-BE49-F238E27FC236}">
                <a16:creationId xmlns:a16="http://schemas.microsoft.com/office/drawing/2014/main" id="{E8C2E877-7734-D352-27AE-095760FACC79}"/>
              </a:ext>
            </a:extLst>
          </p:cNvPr>
          <p:cNvSpPr/>
          <p:nvPr/>
        </p:nvSpPr>
        <p:spPr>
          <a:xfrm>
            <a:off x="5264000" y="2330000"/>
            <a:ext cx="3520000" cy="380000"/>
          </a:xfrm>
          <a:prstGeom prst="rect">
            <a:avLst/>
          </a:prstGeom>
          <a:noFill/>
          <a:ln/>
        </p:spPr>
        <p:txBody>
          <a:bodyPr wrap="square" lIns="0" tIns="0" rIns="0" bIns="0" rtlCol="0" anchor="ctr"/>
          <a:lstStyle/>
          <a:p>
            <a:pPr marL="0" indent="0">
              <a:buNone/>
            </a:pPr>
            <a:r>
              <a:rPr lang="en-US" sz="1200" b="1" dirty="0">
                <a:solidFill>
                  <a:srgbClr val="1C2B4A"/>
                </a:solidFill>
              </a:rPr>
              <a:t>Open browser</a:t>
            </a:r>
          </a:p>
          <a:p>
            <a:pPr marL="0" indent="0">
              <a:buNone/>
            </a:pPr>
            <a:r>
              <a:rPr lang="en-US" sz="1000" dirty="0">
                <a:solidFill>
                  <a:srgbClr val="6B7280"/>
                </a:solidFill>
              </a:rPr>
              <a:t>Navigate to http://localhost:5000</a:t>
            </a:r>
          </a:p>
        </p:txBody>
      </p:sp>
      <p:sp>
        <p:nvSpPr>
          <p:cNvPr id="38" name="B4Circle">
            <a:extLst>
              <a:ext uri="{FF2B5EF4-FFF2-40B4-BE49-F238E27FC236}">
                <a16:creationId xmlns:a16="http://schemas.microsoft.com/office/drawing/2014/main" id="{ABA1E072-2834-A57A-EB3F-7BF46804D7C8}"/>
              </a:ext>
            </a:extLst>
          </p:cNvPr>
          <p:cNvSpPr/>
          <p:nvPr/>
        </p:nvSpPr>
        <p:spPr>
          <a:xfrm>
            <a:off x="4884000" y="2840000"/>
            <a:ext cx="320000" cy="320000"/>
          </a:xfrm>
          <a:prstGeom prst="ellipse">
            <a:avLst/>
          </a:prstGeom>
          <a:solidFill>
            <a:srgbClr val="B89650"/>
          </a:solidFill>
          <a:ln/>
        </p:spPr>
        <p:txBody>
          <a:bodyPr wrap="square" lIns="0" tIns="0" rIns="0" bIns="0" rtlCol="0" anchor="ctr"/>
          <a:lstStyle/>
          <a:p>
            <a:pPr marL="0" indent="0" algn="ctr">
              <a:buNone/>
            </a:pPr>
            <a:r>
              <a:rPr lang="en-US" sz="1100" b="1" dirty="0">
                <a:solidFill>
                  <a:srgbClr val="FFFFFF"/>
                </a:solidFill>
              </a:rPr>
              <a:t>4</a:t>
            </a:r>
          </a:p>
        </p:txBody>
      </p:sp>
      <p:sp>
        <p:nvSpPr>
          <p:cNvPr id="39" name="B4Text">
            <a:extLst>
              <a:ext uri="{FF2B5EF4-FFF2-40B4-BE49-F238E27FC236}">
                <a16:creationId xmlns:a16="http://schemas.microsoft.com/office/drawing/2014/main" id="{84B5E883-D068-EDDE-A808-F29EFB3E8C0E}"/>
              </a:ext>
            </a:extLst>
          </p:cNvPr>
          <p:cNvSpPr/>
          <p:nvPr/>
        </p:nvSpPr>
        <p:spPr>
          <a:xfrm>
            <a:off x="5264000" y="2830000"/>
            <a:ext cx="3520000" cy="380000"/>
          </a:xfrm>
          <a:prstGeom prst="rect">
            <a:avLst/>
          </a:prstGeom>
          <a:noFill/>
          <a:ln/>
        </p:spPr>
        <p:txBody>
          <a:bodyPr wrap="square" lIns="0" tIns="0" rIns="0" bIns="0" rtlCol="0" anchor="ctr"/>
          <a:lstStyle/>
          <a:p>
            <a:pPr marL="0" indent="0">
              <a:buNone/>
            </a:pPr>
            <a:r>
              <a:rPr lang="en-US" sz="1200" b="1" dirty="0">
                <a:solidFill>
                  <a:srgbClr val="1C2B4A"/>
                </a:solidFill>
              </a:rPr>
              <a:t>Drag &amp; drop your files</a:t>
            </a:r>
          </a:p>
          <a:p>
            <a:pPr marL="0" indent="0">
              <a:buNone/>
            </a:pPr>
            <a:r>
              <a:rPr lang="en-US" sz="1000" dirty="0">
                <a:solidFill>
                  <a:srgbClr val="6B7280"/>
                </a:solidFill>
              </a:rPr>
              <a:t>business_case.xlsx + fx.csv + prices.csv</a:t>
            </a:r>
          </a:p>
        </p:txBody>
      </p:sp>
      <p:sp>
        <p:nvSpPr>
          <p:cNvPr id="50" name="ResultBg">
            <a:extLst>
              <a:ext uri="{FF2B5EF4-FFF2-40B4-BE49-F238E27FC236}">
                <a16:creationId xmlns:a16="http://schemas.microsoft.com/office/drawing/2014/main" id="{ABE3192D-7687-FCF6-86B4-F4B61C2F087A}"/>
              </a:ext>
            </a:extLst>
          </p:cNvPr>
          <p:cNvSpPr/>
          <p:nvPr/>
        </p:nvSpPr>
        <p:spPr>
          <a:xfrm>
            <a:off x="360000" y="3360000"/>
            <a:ext cx="8424000" cy="350000"/>
          </a:xfrm>
          <a:prstGeom prst="rect">
            <a:avLst/>
          </a:prstGeom>
          <a:solidFill>
            <a:srgbClr val="F0FDF4"/>
          </a:solidFill>
          <a:ln w="19050">
            <a:solidFill>
              <a:srgbClr val="144D2E"/>
            </a:solidFill>
          </a:ln>
        </p:spPr>
        <p:txBody>
          <a:bodyPr/>
          <a:lstStyle/>
          <a:p>
            <a:endParaRPr lang="en-US"/>
          </a:p>
        </p:txBody>
      </p:sp>
      <p:sp>
        <p:nvSpPr>
          <p:cNvPr id="51" name="ResultText">
            <a:extLst>
              <a:ext uri="{FF2B5EF4-FFF2-40B4-BE49-F238E27FC236}">
                <a16:creationId xmlns:a16="http://schemas.microsoft.com/office/drawing/2014/main" id="{6C579361-0319-3B08-9649-C523442C4330}"/>
              </a:ext>
            </a:extLst>
          </p:cNvPr>
          <p:cNvSpPr/>
          <p:nvPr/>
        </p:nvSpPr>
        <p:spPr>
          <a:xfrm>
            <a:off x="360000" y="3360000"/>
            <a:ext cx="8424000" cy="350000"/>
          </a:xfrm>
          <a:prstGeom prst="rect">
            <a:avLst/>
          </a:prstGeom>
          <a:noFill/>
          <a:ln/>
        </p:spPr>
        <p:txBody>
          <a:bodyPr wrap="square" lIns="182880" tIns="45720" rIns="182880" bIns="45720" rtlCol="0" anchor="ctr"/>
          <a:lstStyle/>
          <a:p>
            <a:pPr marL="0" indent="0" algn="ctr">
              <a:buNone/>
            </a:pPr>
            <a:r>
              <a:rPr lang="en-US" sz="1200" b="1" dirty="0">
                <a:solidFill>
                  <a:srgbClr val="144D2E"/>
                </a:solidFill>
              </a:rPr>
              <a:t>✅  Both paths produce the same result: 8-page HTML report + section PDFs in ~5 seconds</a:t>
            </a:r>
          </a:p>
        </p:txBody>
      </p:sp>
      <p:sp>
        <p:nvSpPr>
          <p:cNvPr id="60" name="ColSep">
            <a:extLst>
              <a:ext uri="{FF2B5EF4-FFF2-40B4-BE49-F238E27FC236}">
                <a16:creationId xmlns:a16="http://schemas.microsoft.com/office/drawing/2014/main" id="{F8D7FB6E-7512-9BC2-4078-F3A7A4A1D7AD}"/>
              </a:ext>
            </a:extLst>
          </p:cNvPr>
          <p:cNvSpPr/>
          <p:nvPr/>
        </p:nvSpPr>
        <p:spPr>
          <a:xfrm>
            <a:off x="4572000" y="800000"/>
            <a:ext cx="27432" cy="2900000"/>
          </a:xfrm>
          <a:prstGeom prst="rect">
            <a:avLst/>
          </a:prstGeom>
          <a:solidFill>
            <a:srgbClr val="E8ECF2"/>
          </a:solidFill>
          <a:ln/>
        </p:spPr>
        <p:txBody>
          <a:bodyPr/>
          <a:lstStyle/>
          <a:p>
            <a:endParaRPr lang="en-US"/>
          </a:p>
        </p:txBody>
      </p:sp>
      <p:sp>
        <p:nvSpPr>
          <p:cNvPr id="61" name="DriftNote">
            <a:extLst>
              <a:ext uri="{FF2B5EF4-FFF2-40B4-BE49-F238E27FC236}">
                <a16:creationId xmlns:a16="http://schemas.microsoft.com/office/drawing/2014/main" id="{64D61F35-A6A6-A157-AD4B-1F960A565619}"/>
              </a:ext>
            </a:extLst>
          </p:cNvPr>
          <p:cNvSpPr/>
          <p:nvPr/>
        </p:nvSpPr>
        <p:spPr>
          <a:xfrm>
            <a:off x="360000" y="3800000"/>
            <a:ext cx="8424000" cy="250000"/>
          </a:xfrm>
          <a:prstGeom prst="rect">
            <a:avLst/>
          </a:prstGeom>
          <a:noFill/>
          <a:ln/>
        </p:spPr>
        <p:txBody>
          <a:bodyPr wrap="square" lIns="0" tIns="0" rIns="0" bIns="0" rtlCol="0" anchor="ctr"/>
          <a:lstStyle/>
          <a:p>
            <a:pPr marL="0" indent="0" algn="ctr">
              <a:buNone/>
            </a:pPr>
            <a:r>
              <a:rPr lang="en-US" sz="950" i="1" dirty="0">
                <a:solidFill>
                  <a:srgbClr val="6B7280"/>
                </a:solidFill>
              </a:rPr>
              <a:t>⚡  To reset drift detection: delete output/schema_baseline.json — next upload creates a fresh baseline automatically</a:t>
            </a:r>
          </a:p>
        </p:txBody>
      </p:sp>
    </p:spTree>
    <p:extLst>
      <p:ext uri="{BB962C8B-B14F-4D97-AF65-F5344CB8AC3E}">
        <p14:creationId xmlns:p14="http://schemas.microsoft.com/office/powerpoint/2010/main" val="269860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200" b="1" dirty="0">
                <a:solidFill>
                  <a:srgbClr val="1C2B4A"/>
                </a:solidFill>
              </a:rPr>
              <a:t>Data Model — 5 Tables, 2 Relationships + DAX Date Logic</a:t>
            </a:r>
            <a:endParaRPr lang="en-US" sz="22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5" name="Shape 3"/>
          <p:cNvSpPr/>
          <p:nvPr/>
        </p:nvSpPr>
        <p:spPr>
          <a:xfrm>
            <a:off x="3474720" y="1463040"/>
            <a:ext cx="2194560" cy="1554480"/>
          </a:xfrm>
          <a:prstGeom prst="rect">
            <a:avLst/>
          </a:prstGeom>
          <a:solidFill>
            <a:srgbClr val="EEF2FF"/>
          </a:solidFill>
          <a:ln w="12700">
            <a:solidFill>
              <a:srgbClr val="1C2B4A"/>
            </a:solidFill>
            <a:prstDash val="solid"/>
          </a:ln>
        </p:spPr>
        <p:txBody>
          <a:bodyPr/>
          <a:lstStyle/>
          <a:p>
            <a:endParaRPr lang="en-CH"/>
          </a:p>
        </p:txBody>
      </p:sp>
      <p:sp>
        <p:nvSpPr>
          <p:cNvPr id="6" name="Text 4"/>
          <p:cNvSpPr/>
          <p:nvPr/>
        </p:nvSpPr>
        <p:spPr>
          <a:xfrm>
            <a:off x="3474720" y="1508760"/>
            <a:ext cx="2194560" cy="365760"/>
          </a:xfrm>
          <a:prstGeom prst="rect">
            <a:avLst/>
          </a:prstGeom>
          <a:noFill/>
          <a:ln/>
        </p:spPr>
        <p:txBody>
          <a:bodyPr wrap="square" lIns="0" tIns="0" rIns="0" bIns="0" rtlCol="0" anchor="ctr"/>
          <a:lstStyle/>
          <a:p>
            <a:pPr marL="0" indent="0" algn="ctr">
              <a:buNone/>
            </a:pPr>
            <a:r>
              <a:rPr lang="en-US" sz="1200" b="1" dirty="0">
                <a:solidFill>
                  <a:srgbClr val="1C2B4A"/>
                </a:solidFill>
              </a:rPr>
              <a:t>transactions</a:t>
            </a:r>
            <a:endParaRPr lang="en-US" sz="1200" dirty="0"/>
          </a:p>
        </p:txBody>
      </p:sp>
      <p:sp>
        <p:nvSpPr>
          <p:cNvPr id="7" name="Text 5"/>
          <p:cNvSpPr/>
          <p:nvPr/>
        </p:nvSpPr>
        <p:spPr>
          <a:xfrm>
            <a:off x="3520440" y="1874520"/>
            <a:ext cx="2103120" cy="1005840"/>
          </a:xfrm>
          <a:prstGeom prst="rect">
            <a:avLst/>
          </a:prstGeom>
          <a:noFill/>
          <a:ln/>
        </p:spPr>
        <p:txBody>
          <a:bodyPr wrap="square" lIns="0" tIns="0" rIns="0" bIns="0" rtlCol="0" anchor="ctr"/>
          <a:lstStyle/>
          <a:p>
            <a:pPr marL="0" indent="0" algn="ctr">
              <a:buNone/>
            </a:pPr>
            <a:r>
              <a:rPr lang="en-US" sz="800" dirty="0">
                <a:solidFill>
                  <a:srgbClr val="1A202C"/>
                </a:solidFill>
              </a:rPr>
              <a:t>transaction-code (PK)</a:t>
            </a:r>
            <a:endParaRPr lang="en-US" sz="800" dirty="0"/>
          </a:p>
          <a:p>
            <a:pPr marL="0" indent="0" algn="ctr">
              <a:buNone/>
            </a:pPr>
            <a:r>
              <a:rPr lang="en-US" sz="800" dirty="0">
                <a:solidFill>
                  <a:srgbClr val="1A202C"/>
                </a:solidFill>
              </a:rPr>
              <a:t>product-code (FK)</a:t>
            </a:r>
            <a:endParaRPr lang="en-US" sz="800" dirty="0"/>
          </a:p>
          <a:p>
            <a:pPr marL="0" indent="0" algn="ctr">
              <a:buNone/>
            </a:pPr>
            <a:r>
              <a:rPr lang="en-US" sz="800" dirty="0">
                <a:solidFill>
                  <a:srgbClr val="1A202C"/>
                </a:solidFill>
              </a:rPr>
              <a:t>portfolio-code (FK)</a:t>
            </a:r>
            <a:endParaRPr lang="en-US" sz="800" dirty="0"/>
          </a:p>
          <a:p>
            <a:pPr marL="0" indent="0" algn="ctr">
              <a:buNone/>
            </a:pPr>
            <a:r>
              <a:rPr lang="en-US" sz="800" dirty="0">
                <a:solidFill>
                  <a:srgbClr val="1A202C"/>
                </a:solidFill>
              </a:rPr>
              <a:t>transaction-date · quantity · price</a:t>
            </a:r>
            <a:endParaRPr lang="en-US" sz="800" dirty="0"/>
          </a:p>
        </p:txBody>
      </p:sp>
      <p:sp>
        <p:nvSpPr>
          <p:cNvPr id="8" name="Shape 6"/>
          <p:cNvSpPr/>
          <p:nvPr/>
        </p:nvSpPr>
        <p:spPr>
          <a:xfrm>
            <a:off x="365760" y="1005840"/>
            <a:ext cx="2103120" cy="1554480"/>
          </a:xfrm>
          <a:prstGeom prst="rect">
            <a:avLst/>
          </a:prstGeom>
          <a:solidFill>
            <a:srgbClr val="FFFFFF"/>
          </a:solidFill>
          <a:ln w="12700">
            <a:solidFill>
              <a:srgbClr val="E8ECF2"/>
            </a:solidFill>
            <a:prstDash val="solid"/>
          </a:ln>
        </p:spPr>
        <p:txBody>
          <a:bodyPr/>
          <a:lstStyle/>
          <a:p>
            <a:endParaRPr lang="en-CH"/>
          </a:p>
        </p:txBody>
      </p:sp>
      <p:sp>
        <p:nvSpPr>
          <p:cNvPr id="9" name="Shape 7"/>
          <p:cNvSpPr/>
          <p:nvPr/>
        </p:nvSpPr>
        <p:spPr>
          <a:xfrm>
            <a:off x="365760" y="1005840"/>
            <a:ext cx="45720" cy="1554480"/>
          </a:xfrm>
          <a:prstGeom prst="rect">
            <a:avLst/>
          </a:prstGeom>
          <a:solidFill>
            <a:srgbClr val="1A7A4A"/>
          </a:solidFill>
          <a:ln/>
        </p:spPr>
        <p:txBody>
          <a:bodyPr/>
          <a:lstStyle/>
          <a:p>
            <a:endParaRPr lang="en-CH"/>
          </a:p>
        </p:txBody>
      </p:sp>
      <p:sp>
        <p:nvSpPr>
          <p:cNvPr id="10" name="Text 8"/>
          <p:cNvSpPr/>
          <p:nvPr/>
        </p:nvSpPr>
        <p:spPr>
          <a:xfrm>
            <a:off x="457200" y="1051560"/>
            <a:ext cx="1920240" cy="365760"/>
          </a:xfrm>
          <a:prstGeom prst="rect">
            <a:avLst/>
          </a:prstGeom>
          <a:noFill/>
          <a:ln/>
        </p:spPr>
        <p:txBody>
          <a:bodyPr wrap="square" lIns="0" tIns="0" rIns="0" bIns="0" rtlCol="0" anchor="ctr"/>
          <a:lstStyle/>
          <a:p>
            <a:pPr marL="0" indent="0">
              <a:buNone/>
            </a:pPr>
            <a:r>
              <a:rPr lang="en-US" sz="1200" b="1" dirty="0">
                <a:solidFill>
                  <a:srgbClr val="1C2B4A"/>
                </a:solidFill>
              </a:rPr>
              <a:t>products</a:t>
            </a:r>
            <a:endParaRPr lang="en-US" sz="1200" dirty="0"/>
          </a:p>
        </p:txBody>
      </p:sp>
      <p:sp>
        <p:nvSpPr>
          <p:cNvPr id="11" name="Text 9"/>
          <p:cNvSpPr/>
          <p:nvPr/>
        </p:nvSpPr>
        <p:spPr>
          <a:xfrm>
            <a:off x="457200" y="1417320"/>
            <a:ext cx="1920240" cy="1005840"/>
          </a:xfrm>
          <a:prstGeom prst="rect">
            <a:avLst/>
          </a:prstGeom>
          <a:noFill/>
          <a:ln/>
        </p:spPr>
        <p:txBody>
          <a:bodyPr wrap="square" lIns="0" tIns="0" rIns="0" bIns="0" rtlCol="0" anchor="ctr"/>
          <a:lstStyle/>
          <a:p>
            <a:pPr marL="0" indent="0">
              <a:buNone/>
            </a:pPr>
            <a:r>
              <a:rPr lang="en-US" sz="800" dirty="0">
                <a:solidFill>
                  <a:srgbClr val="1A202C"/>
                </a:solidFill>
              </a:rPr>
              <a:t>product-code (PK)</a:t>
            </a:r>
            <a:endParaRPr lang="en-US" sz="800" dirty="0"/>
          </a:p>
          <a:p>
            <a:pPr marL="0" indent="0">
              <a:buNone/>
            </a:pPr>
            <a:r>
              <a:rPr lang="en-US" sz="800" dirty="0">
                <a:solidFill>
                  <a:srgbClr val="1A202C"/>
                </a:solidFill>
              </a:rPr>
              <a:t>product-type</a:t>
            </a:r>
            <a:endParaRPr lang="en-US" sz="800" dirty="0"/>
          </a:p>
          <a:p>
            <a:pPr marL="0" indent="0">
              <a:buNone/>
            </a:pPr>
            <a:r>
              <a:rPr lang="en-US" sz="800" dirty="0">
                <a:solidFill>
                  <a:srgbClr val="1A202C"/>
                </a:solidFill>
              </a:rPr>
              <a:t>product-currency</a:t>
            </a:r>
            <a:endParaRPr lang="en-US" sz="800" dirty="0"/>
          </a:p>
          <a:p>
            <a:pPr marL="0" indent="0">
              <a:buNone/>
            </a:pPr>
            <a:r>
              <a:rPr lang="en-US" sz="800" dirty="0">
                <a:solidFill>
                  <a:srgbClr val="1A202C"/>
                </a:solidFill>
              </a:rPr>
              <a:t>product-issuer-code</a:t>
            </a:r>
            <a:endParaRPr lang="en-US" sz="800" dirty="0"/>
          </a:p>
          <a:p>
            <a:pPr marL="0" indent="0">
              <a:buNone/>
            </a:pPr>
            <a:r>
              <a:rPr lang="en-US" sz="800" dirty="0">
                <a:solidFill>
                  <a:srgbClr val="1A202C"/>
                </a:solidFill>
              </a:rPr>
              <a:t>loan-property-value-ratio</a:t>
            </a:r>
            <a:endParaRPr lang="en-US" sz="800" dirty="0"/>
          </a:p>
        </p:txBody>
      </p:sp>
      <p:sp>
        <p:nvSpPr>
          <p:cNvPr id="12" name="Shape 10"/>
          <p:cNvSpPr/>
          <p:nvPr/>
        </p:nvSpPr>
        <p:spPr>
          <a:xfrm>
            <a:off x="6675120" y="1005840"/>
            <a:ext cx="2103120" cy="1097280"/>
          </a:xfrm>
          <a:prstGeom prst="rect">
            <a:avLst/>
          </a:prstGeom>
          <a:solidFill>
            <a:srgbClr val="FFFFFF"/>
          </a:solidFill>
          <a:ln w="12700">
            <a:solidFill>
              <a:srgbClr val="E8ECF2"/>
            </a:solidFill>
            <a:prstDash val="solid"/>
          </a:ln>
        </p:spPr>
        <p:txBody>
          <a:bodyPr/>
          <a:lstStyle/>
          <a:p>
            <a:endParaRPr lang="en-CH"/>
          </a:p>
        </p:txBody>
      </p:sp>
      <p:sp>
        <p:nvSpPr>
          <p:cNvPr id="13" name="Shape 11"/>
          <p:cNvSpPr/>
          <p:nvPr/>
        </p:nvSpPr>
        <p:spPr>
          <a:xfrm>
            <a:off x="6675120" y="1005840"/>
            <a:ext cx="45720" cy="1097280"/>
          </a:xfrm>
          <a:prstGeom prst="rect">
            <a:avLst/>
          </a:prstGeom>
          <a:solidFill>
            <a:srgbClr val="1A7A4A"/>
          </a:solidFill>
          <a:ln/>
        </p:spPr>
        <p:txBody>
          <a:bodyPr/>
          <a:lstStyle/>
          <a:p>
            <a:endParaRPr lang="en-CH"/>
          </a:p>
        </p:txBody>
      </p:sp>
      <p:sp>
        <p:nvSpPr>
          <p:cNvPr id="14" name="Text 12"/>
          <p:cNvSpPr/>
          <p:nvPr/>
        </p:nvSpPr>
        <p:spPr>
          <a:xfrm>
            <a:off x="6766560" y="1051560"/>
            <a:ext cx="1920240" cy="365760"/>
          </a:xfrm>
          <a:prstGeom prst="rect">
            <a:avLst/>
          </a:prstGeom>
          <a:noFill/>
          <a:ln/>
        </p:spPr>
        <p:txBody>
          <a:bodyPr wrap="square" lIns="0" tIns="0" rIns="0" bIns="0" rtlCol="0" anchor="ctr"/>
          <a:lstStyle/>
          <a:p>
            <a:pPr marL="0" indent="0">
              <a:buNone/>
            </a:pPr>
            <a:r>
              <a:rPr lang="en-US" sz="1200" b="1" dirty="0">
                <a:solidFill>
                  <a:srgbClr val="1C2B4A"/>
                </a:solidFill>
              </a:rPr>
              <a:t>portfolios</a:t>
            </a:r>
            <a:endParaRPr lang="en-US" sz="1200" dirty="0"/>
          </a:p>
        </p:txBody>
      </p:sp>
      <p:sp>
        <p:nvSpPr>
          <p:cNvPr id="15" name="Text 13"/>
          <p:cNvSpPr/>
          <p:nvPr/>
        </p:nvSpPr>
        <p:spPr>
          <a:xfrm>
            <a:off x="6766560" y="1417320"/>
            <a:ext cx="1920240" cy="457200"/>
          </a:xfrm>
          <a:prstGeom prst="rect">
            <a:avLst/>
          </a:prstGeom>
          <a:noFill/>
          <a:ln/>
        </p:spPr>
        <p:txBody>
          <a:bodyPr wrap="square" lIns="0" tIns="0" rIns="0" bIns="0" rtlCol="0" anchor="ctr"/>
          <a:lstStyle/>
          <a:p>
            <a:pPr marL="0" indent="0">
              <a:buNone/>
            </a:pPr>
            <a:r>
              <a:rPr lang="en-US" sz="800" dirty="0">
                <a:solidFill>
                  <a:srgbClr val="1A202C"/>
                </a:solidFill>
              </a:rPr>
              <a:t>portfolio-code (PK)</a:t>
            </a:r>
            <a:endParaRPr lang="en-US" sz="800" dirty="0"/>
          </a:p>
          <a:p>
            <a:pPr marL="0" indent="0">
              <a:buNone/>
            </a:pPr>
            <a:r>
              <a:rPr lang="en-US" sz="800" dirty="0">
                <a:solidFill>
                  <a:srgbClr val="1A202C"/>
                </a:solidFill>
              </a:rPr>
              <a:t>portfolio-currency</a:t>
            </a:r>
            <a:endParaRPr lang="en-US" sz="800" dirty="0"/>
          </a:p>
        </p:txBody>
      </p:sp>
      <p:sp>
        <p:nvSpPr>
          <p:cNvPr id="16" name="Shape 14"/>
          <p:cNvSpPr/>
          <p:nvPr/>
        </p:nvSpPr>
        <p:spPr>
          <a:xfrm>
            <a:off x="365760" y="3017520"/>
            <a:ext cx="2103120" cy="1371600"/>
          </a:xfrm>
          <a:prstGeom prst="rect">
            <a:avLst/>
          </a:prstGeom>
          <a:solidFill>
            <a:srgbClr val="FFFBEB"/>
          </a:solidFill>
          <a:ln w="12700">
            <a:solidFill>
              <a:srgbClr val="E8ECF2"/>
            </a:solidFill>
            <a:prstDash val="solid"/>
          </a:ln>
        </p:spPr>
        <p:txBody>
          <a:bodyPr/>
          <a:lstStyle/>
          <a:p>
            <a:endParaRPr lang="en-CH"/>
          </a:p>
        </p:txBody>
      </p:sp>
      <p:sp>
        <p:nvSpPr>
          <p:cNvPr id="17" name="Shape 15"/>
          <p:cNvSpPr/>
          <p:nvPr/>
        </p:nvSpPr>
        <p:spPr>
          <a:xfrm>
            <a:off x="365760" y="3017520"/>
            <a:ext cx="45720" cy="1371600"/>
          </a:xfrm>
          <a:prstGeom prst="rect">
            <a:avLst/>
          </a:prstGeom>
          <a:solidFill>
            <a:srgbClr val="D4820A"/>
          </a:solidFill>
          <a:ln/>
        </p:spPr>
        <p:txBody>
          <a:bodyPr/>
          <a:lstStyle/>
          <a:p>
            <a:endParaRPr lang="en-CH"/>
          </a:p>
        </p:txBody>
      </p:sp>
      <p:sp>
        <p:nvSpPr>
          <p:cNvPr id="18" name="Text 16"/>
          <p:cNvSpPr/>
          <p:nvPr/>
        </p:nvSpPr>
        <p:spPr>
          <a:xfrm>
            <a:off x="457200" y="3063240"/>
            <a:ext cx="1920240" cy="365760"/>
          </a:xfrm>
          <a:prstGeom prst="rect">
            <a:avLst/>
          </a:prstGeom>
          <a:noFill/>
          <a:ln/>
        </p:spPr>
        <p:txBody>
          <a:bodyPr wrap="square" lIns="0" tIns="0" rIns="0" bIns="0" rtlCol="0" anchor="ctr"/>
          <a:lstStyle/>
          <a:p>
            <a:pPr marL="0" indent="0">
              <a:buNone/>
            </a:pPr>
            <a:r>
              <a:rPr lang="en-US" sz="1200" b="1" dirty="0">
                <a:solidFill>
                  <a:srgbClr val="1C2B4A"/>
                </a:solidFill>
              </a:rPr>
              <a:t>fx.csv</a:t>
            </a:r>
            <a:endParaRPr lang="en-US" sz="1200" dirty="0"/>
          </a:p>
        </p:txBody>
      </p:sp>
      <p:sp>
        <p:nvSpPr>
          <p:cNvPr id="19" name="Text 17"/>
          <p:cNvSpPr/>
          <p:nvPr/>
        </p:nvSpPr>
        <p:spPr>
          <a:xfrm>
            <a:off x="457200" y="3429000"/>
            <a:ext cx="1920240" cy="822960"/>
          </a:xfrm>
          <a:prstGeom prst="rect">
            <a:avLst/>
          </a:prstGeom>
          <a:noFill/>
          <a:ln/>
        </p:spPr>
        <p:txBody>
          <a:bodyPr wrap="square" lIns="0" tIns="0" rIns="0" bIns="0" rtlCol="0" anchor="ctr"/>
          <a:lstStyle/>
          <a:p>
            <a:pPr marL="0" indent="0">
              <a:buNone/>
            </a:pPr>
            <a:r>
              <a:rPr lang="en-US" sz="800" dirty="0">
                <a:solidFill>
                  <a:srgbClr val="1A202C"/>
                </a:solidFill>
              </a:rPr>
              <a:t>price-date</a:t>
            </a:r>
            <a:endParaRPr lang="en-US" sz="800" dirty="0"/>
          </a:p>
          <a:p>
            <a:pPr marL="0" indent="0">
              <a:buNone/>
            </a:pPr>
            <a:r>
              <a:rPr lang="en-US" sz="800" dirty="0">
                <a:solidFill>
                  <a:srgbClr val="1A202C"/>
                </a:solidFill>
              </a:rPr>
              <a:t>EURUSD</a:t>
            </a:r>
            <a:endParaRPr lang="en-US" sz="800" dirty="0"/>
          </a:p>
          <a:p>
            <a:pPr marL="0" indent="0">
              <a:buNone/>
            </a:pPr>
            <a:r>
              <a:rPr lang="en-US" sz="800" dirty="0">
                <a:solidFill>
                  <a:srgbClr val="1A202C"/>
                </a:solidFill>
              </a:rPr>
              <a:t>⚡ DAX LASTNONBLANK</a:t>
            </a:r>
            <a:endParaRPr lang="en-US" sz="800" dirty="0"/>
          </a:p>
          <a:p>
            <a:pPr marL="0" indent="0">
              <a:buNone/>
            </a:pPr>
            <a:r>
              <a:rPr lang="en-US" sz="800" dirty="0">
                <a:solidFill>
                  <a:srgbClr val="1A202C"/>
                </a:solidFill>
              </a:rPr>
              <a:t>(no hard relationship)</a:t>
            </a:r>
            <a:endParaRPr lang="en-US" sz="800" dirty="0"/>
          </a:p>
        </p:txBody>
      </p:sp>
      <p:sp>
        <p:nvSpPr>
          <p:cNvPr id="20" name="Shape 18"/>
          <p:cNvSpPr/>
          <p:nvPr/>
        </p:nvSpPr>
        <p:spPr>
          <a:xfrm>
            <a:off x="6675120" y="2468880"/>
            <a:ext cx="2103120" cy="1371600"/>
          </a:xfrm>
          <a:prstGeom prst="rect">
            <a:avLst/>
          </a:prstGeom>
          <a:solidFill>
            <a:srgbClr val="FFFBEB"/>
          </a:solidFill>
          <a:ln w="12700">
            <a:solidFill>
              <a:srgbClr val="E8ECF2"/>
            </a:solidFill>
            <a:prstDash val="solid"/>
          </a:ln>
        </p:spPr>
        <p:txBody>
          <a:bodyPr/>
          <a:lstStyle/>
          <a:p>
            <a:endParaRPr lang="en-CH"/>
          </a:p>
        </p:txBody>
      </p:sp>
      <p:sp>
        <p:nvSpPr>
          <p:cNvPr id="21" name="Shape 19"/>
          <p:cNvSpPr/>
          <p:nvPr/>
        </p:nvSpPr>
        <p:spPr>
          <a:xfrm>
            <a:off x="6675120" y="2468880"/>
            <a:ext cx="45720" cy="1371600"/>
          </a:xfrm>
          <a:prstGeom prst="rect">
            <a:avLst/>
          </a:prstGeom>
          <a:solidFill>
            <a:srgbClr val="D4820A"/>
          </a:solidFill>
          <a:ln/>
        </p:spPr>
        <p:txBody>
          <a:bodyPr/>
          <a:lstStyle/>
          <a:p>
            <a:endParaRPr lang="en-CH"/>
          </a:p>
        </p:txBody>
      </p:sp>
      <p:sp>
        <p:nvSpPr>
          <p:cNvPr id="22" name="Text 20"/>
          <p:cNvSpPr/>
          <p:nvPr/>
        </p:nvSpPr>
        <p:spPr>
          <a:xfrm>
            <a:off x="6766560" y="2514600"/>
            <a:ext cx="1920240" cy="365760"/>
          </a:xfrm>
          <a:prstGeom prst="rect">
            <a:avLst/>
          </a:prstGeom>
          <a:noFill/>
          <a:ln/>
        </p:spPr>
        <p:txBody>
          <a:bodyPr wrap="square" lIns="0" tIns="0" rIns="0" bIns="0" rtlCol="0" anchor="ctr"/>
          <a:lstStyle/>
          <a:p>
            <a:pPr marL="0" indent="0">
              <a:buNone/>
            </a:pPr>
            <a:r>
              <a:rPr lang="en-US" sz="1200" b="1" dirty="0">
                <a:solidFill>
                  <a:srgbClr val="1C2B4A"/>
                </a:solidFill>
              </a:rPr>
              <a:t>prices.csv</a:t>
            </a:r>
            <a:endParaRPr lang="en-US" sz="1200" dirty="0"/>
          </a:p>
        </p:txBody>
      </p:sp>
      <p:sp>
        <p:nvSpPr>
          <p:cNvPr id="23" name="Text 21"/>
          <p:cNvSpPr/>
          <p:nvPr/>
        </p:nvSpPr>
        <p:spPr>
          <a:xfrm>
            <a:off x="6766560" y="2880360"/>
            <a:ext cx="1920240" cy="822960"/>
          </a:xfrm>
          <a:prstGeom prst="rect">
            <a:avLst/>
          </a:prstGeom>
          <a:noFill/>
          <a:ln/>
        </p:spPr>
        <p:txBody>
          <a:bodyPr wrap="square" lIns="0" tIns="0" rIns="0" bIns="0" rtlCol="0" anchor="ctr"/>
          <a:lstStyle/>
          <a:p>
            <a:pPr marL="0" indent="0">
              <a:buNone/>
            </a:pPr>
            <a:r>
              <a:rPr lang="en-US" sz="800" dirty="0">
                <a:solidFill>
                  <a:srgbClr val="1A202C"/>
                </a:solidFill>
              </a:rPr>
              <a:t>price-date</a:t>
            </a:r>
            <a:endParaRPr lang="en-US" sz="800" dirty="0"/>
          </a:p>
          <a:p>
            <a:pPr marL="0" indent="0">
              <a:buNone/>
            </a:pPr>
            <a:r>
              <a:rPr lang="en-US" sz="800" dirty="0">
                <a:solidFill>
                  <a:srgbClr val="1A202C"/>
                </a:solidFill>
              </a:rPr>
              <a:t>portfolio-code · value</a:t>
            </a:r>
            <a:endParaRPr lang="en-US" sz="800" dirty="0"/>
          </a:p>
          <a:p>
            <a:pPr marL="0" indent="0">
              <a:buNone/>
            </a:pPr>
            <a:r>
              <a:rPr lang="en-US" sz="800" dirty="0">
                <a:solidFill>
                  <a:srgbClr val="1A202C"/>
                </a:solidFill>
              </a:rPr>
              <a:t>⚡ DAX LASTNONBLANK</a:t>
            </a:r>
            <a:endParaRPr lang="en-US" sz="800" dirty="0"/>
          </a:p>
          <a:p>
            <a:pPr marL="0" indent="0">
              <a:buNone/>
            </a:pPr>
            <a:r>
              <a:rPr lang="en-US" sz="800" dirty="0">
                <a:solidFill>
                  <a:srgbClr val="1A202C"/>
                </a:solidFill>
              </a:rPr>
              <a:t>(no hard relationship)</a:t>
            </a:r>
            <a:endParaRPr lang="en-US" sz="800" dirty="0"/>
          </a:p>
        </p:txBody>
      </p:sp>
      <p:sp>
        <p:nvSpPr>
          <p:cNvPr id="24" name="Text 22"/>
          <p:cNvSpPr/>
          <p:nvPr/>
        </p:nvSpPr>
        <p:spPr>
          <a:xfrm>
            <a:off x="2468880" y="1874520"/>
            <a:ext cx="1097280" cy="548640"/>
          </a:xfrm>
          <a:prstGeom prst="rect">
            <a:avLst/>
          </a:prstGeom>
          <a:noFill/>
          <a:ln/>
        </p:spPr>
        <p:txBody>
          <a:bodyPr wrap="square" lIns="0" tIns="0" rIns="0" bIns="0" rtlCol="0" anchor="ctr"/>
          <a:lstStyle/>
          <a:p>
            <a:pPr marL="0" indent="0" algn="ctr">
              <a:buNone/>
            </a:pPr>
            <a:r>
              <a:rPr lang="en-US" sz="800" b="1" dirty="0">
                <a:solidFill>
                  <a:srgbClr val="1A7A4A"/>
                </a:solidFill>
              </a:rPr>
              <a:t>Many→One</a:t>
            </a:r>
            <a:endParaRPr lang="en-US" sz="800" dirty="0"/>
          </a:p>
          <a:p>
            <a:pPr marL="0" indent="0" algn="ctr">
              <a:buNone/>
            </a:pPr>
            <a:r>
              <a:rPr lang="en-US" sz="800" b="1" dirty="0">
                <a:solidFill>
                  <a:srgbClr val="1A7A4A"/>
                </a:solidFill>
              </a:rPr>
              <a:t>product-code</a:t>
            </a:r>
            <a:endParaRPr lang="en-US" sz="800" dirty="0"/>
          </a:p>
        </p:txBody>
      </p:sp>
      <p:sp>
        <p:nvSpPr>
          <p:cNvPr id="25" name="Text 23"/>
          <p:cNvSpPr/>
          <p:nvPr/>
        </p:nvSpPr>
        <p:spPr>
          <a:xfrm>
            <a:off x="5577840" y="1463040"/>
            <a:ext cx="1097280" cy="548640"/>
          </a:xfrm>
          <a:prstGeom prst="rect">
            <a:avLst/>
          </a:prstGeom>
          <a:noFill/>
          <a:ln/>
        </p:spPr>
        <p:txBody>
          <a:bodyPr wrap="square" lIns="0" tIns="0" rIns="0" bIns="0" rtlCol="0" anchor="ctr"/>
          <a:lstStyle/>
          <a:p>
            <a:pPr marL="0" indent="0" algn="ctr">
              <a:buNone/>
            </a:pPr>
            <a:r>
              <a:rPr lang="en-US" sz="800" b="1" dirty="0">
                <a:solidFill>
                  <a:srgbClr val="1A7A4A"/>
                </a:solidFill>
              </a:rPr>
              <a:t>Many→One</a:t>
            </a:r>
            <a:endParaRPr lang="en-US" sz="800" dirty="0"/>
          </a:p>
          <a:p>
            <a:pPr marL="0" indent="0" algn="ctr">
              <a:buNone/>
            </a:pPr>
            <a:r>
              <a:rPr lang="en-US" sz="800" b="1" dirty="0">
                <a:solidFill>
                  <a:srgbClr val="1A7A4A"/>
                </a:solidFill>
              </a:rPr>
              <a:t>portfolio-code</a:t>
            </a:r>
            <a:endParaRPr lang="en-US" sz="800" dirty="0"/>
          </a:p>
        </p:txBody>
      </p:sp>
      <p:sp>
        <p:nvSpPr>
          <p:cNvPr id="26" name="Text 24"/>
          <p:cNvSpPr/>
          <p:nvPr/>
        </p:nvSpPr>
        <p:spPr>
          <a:xfrm>
            <a:off x="2468880" y="3383280"/>
            <a:ext cx="1097280" cy="457200"/>
          </a:xfrm>
          <a:prstGeom prst="rect">
            <a:avLst/>
          </a:prstGeom>
          <a:noFill/>
          <a:ln/>
        </p:spPr>
        <p:txBody>
          <a:bodyPr wrap="square" lIns="0" tIns="0" rIns="0" bIns="0" rtlCol="0" anchor="ctr"/>
          <a:lstStyle/>
          <a:p>
            <a:pPr marL="0" indent="0" algn="ctr">
              <a:buNone/>
            </a:pPr>
            <a:r>
              <a:rPr lang="en-US" sz="800" b="1" dirty="0">
                <a:solidFill>
                  <a:srgbClr val="D4820A"/>
                </a:solidFill>
              </a:rPr>
              <a:t>DAX date</a:t>
            </a:r>
            <a:endParaRPr lang="en-US" sz="800" dirty="0"/>
          </a:p>
          <a:p>
            <a:pPr marL="0" indent="0" algn="ctr">
              <a:buNone/>
            </a:pPr>
            <a:r>
              <a:rPr lang="en-US" sz="800" b="1" dirty="0">
                <a:solidFill>
                  <a:srgbClr val="D4820A"/>
                </a:solidFill>
              </a:rPr>
              <a:t>logic only</a:t>
            </a:r>
            <a:endParaRPr lang="en-US" sz="800" dirty="0"/>
          </a:p>
        </p:txBody>
      </p:sp>
      <p:sp>
        <p:nvSpPr>
          <p:cNvPr id="27" name="Text 25"/>
          <p:cNvSpPr/>
          <p:nvPr/>
        </p:nvSpPr>
        <p:spPr>
          <a:xfrm>
            <a:off x="5577840" y="2834640"/>
            <a:ext cx="1097280" cy="457200"/>
          </a:xfrm>
          <a:prstGeom prst="rect">
            <a:avLst/>
          </a:prstGeom>
          <a:noFill/>
          <a:ln/>
        </p:spPr>
        <p:txBody>
          <a:bodyPr wrap="square" lIns="0" tIns="0" rIns="0" bIns="0" rtlCol="0" anchor="ctr"/>
          <a:lstStyle/>
          <a:p>
            <a:pPr marL="0" indent="0" algn="ctr">
              <a:buNone/>
            </a:pPr>
            <a:r>
              <a:rPr lang="en-US" sz="800" b="1" dirty="0">
                <a:solidFill>
                  <a:srgbClr val="D4820A"/>
                </a:solidFill>
              </a:rPr>
              <a:t>DAX date</a:t>
            </a:r>
            <a:endParaRPr lang="en-US" sz="800" dirty="0"/>
          </a:p>
          <a:p>
            <a:pPr marL="0" indent="0" algn="ctr">
              <a:buNone/>
            </a:pPr>
            <a:r>
              <a:rPr lang="en-US" sz="800" b="1" dirty="0">
                <a:solidFill>
                  <a:srgbClr val="D4820A"/>
                </a:solidFill>
              </a:rPr>
              <a:t>logic only</a:t>
            </a:r>
            <a:endParaRPr lang="en-US" sz="800" dirty="0"/>
          </a:p>
        </p:txBody>
      </p:sp>
      <p:sp>
        <p:nvSpPr>
          <p:cNvPr id="28" name="Shape 26"/>
          <p:cNvSpPr/>
          <p:nvPr/>
        </p:nvSpPr>
        <p:spPr>
          <a:xfrm>
            <a:off x="365760" y="4480560"/>
            <a:ext cx="8412480" cy="320040"/>
          </a:xfrm>
          <a:prstGeom prst="rect">
            <a:avLst/>
          </a:prstGeom>
          <a:solidFill>
            <a:srgbClr val="FFF7ED"/>
          </a:solidFill>
          <a:ln w="12700">
            <a:solidFill>
              <a:srgbClr val="FED7AA"/>
            </a:solidFill>
            <a:prstDash val="solid"/>
          </a:ln>
        </p:spPr>
        <p:txBody>
          <a:bodyPr/>
          <a:lstStyle/>
          <a:p>
            <a:endParaRPr lang="en-CH"/>
          </a:p>
        </p:txBody>
      </p:sp>
      <p:sp>
        <p:nvSpPr>
          <p:cNvPr id="29" name="Text 27"/>
          <p:cNvSpPr/>
          <p:nvPr/>
        </p:nvSpPr>
        <p:spPr>
          <a:xfrm>
            <a:off x="502920" y="4498848"/>
            <a:ext cx="8138160" cy="256032"/>
          </a:xfrm>
          <a:prstGeom prst="rect">
            <a:avLst/>
          </a:prstGeom>
          <a:noFill/>
          <a:ln/>
        </p:spPr>
        <p:txBody>
          <a:bodyPr wrap="square" lIns="0" tIns="0" rIns="0" bIns="0" rtlCol="0" anchor="ctr"/>
          <a:lstStyle/>
          <a:p>
            <a:pPr marL="0" indent="0">
              <a:buNone/>
            </a:pPr>
            <a:r>
              <a:rPr lang="en-US" sz="800" dirty="0">
                <a:solidFill>
                  <a:srgbClr val="92400E"/>
                </a:solidFill>
              </a:rPr>
              <a:t>⚡ Why no hard join for fx / prices: Hard date joins fail when date ranges don't align between datasets. LASTNONBLANK resolves the most recent available value dynamically — it adapts to any date range automatically.</a:t>
            </a:r>
            <a:endParaRPr lang="en-US" sz="800" dirty="0"/>
          </a:p>
        </p:txBody>
      </p:sp>
      <p:sp>
        <p:nvSpPr>
          <p:cNvPr id="30" name="Text 28"/>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400" b="1" dirty="0">
                <a:solidFill>
                  <a:srgbClr val="1C2B4A"/>
                </a:solidFill>
              </a:rPr>
              <a:t>DAX Measures — 5 Measures, 3 Design Principles</a:t>
            </a:r>
            <a:endParaRPr lang="en-US" sz="24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5" name="Shape 3"/>
          <p:cNvSpPr/>
          <p:nvPr/>
        </p:nvSpPr>
        <p:spPr>
          <a:xfrm>
            <a:off x="365760" y="868680"/>
            <a:ext cx="8412480" cy="685800"/>
          </a:xfrm>
          <a:prstGeom prst="rect">
            <a:avLst/>
          </a:prstGeom>
          <a:solidFill>
            <a:srgbClr val="FFFFFF"/>
          </a:solidFill>
          <a:ln w="12700">
            <a:solidFill>
              <a:srgbClr val="E8ECF2"/>
            </a:solidFill>
            <a:prstDash val="solid"/>
          </a:ln>
        </p:spPr>
        <p:txBody>
          <a:bodyPr/>
          <a:lstStyle/>
          <a:p>
            <a:endParaRPr lang="en-CH"/>
          </a:p>
        </p:txBody>
      </p:sp>
      <p:sp>
        <p:nvSpPr>
          <p:cNvPr id="6" name="Shape 4"/>
          <p:cNvSpPr/>
          <p:nvPr/>
        </p:nvSpPr>
        <p:spPr>
          <a:xfrm>
            <a:off x="365760" y="868680"/>
            <a:ext cx="45720" cy="685800"/>
          </a:xfrm>
          <a:prstGeom prst="rect">
            <a:avLst/>
          </a:prstGeom>
          <a:solidFill>
            <a:srgbClr val="B89650"/>
          </a:solidFill>
          <a:ln/>
        </p:spPr>
        <p:txBody>
          <a:bodyPr/>
          <a:lstStyle/>
          <a:p>
            <a:endParaRPr lang="en-CH"/>
          </a:p>
        </p:txBody>
      </p:sp>
      <p:sp>
        <p:nvSpPr>
          <p:cNvPr id="7" name="Text 5"/>
          <p:cNvSpPr/>
          <p:nvPr/>
        </p:nvSpPr>
        <p:spPr>
          <a:xfrm>
            <a:off x="502920" y="923544"/>
            <a:ext cx="1828800" cy="274320"/>
          </a:xfrm>
          <a:prstGeom prst="rect">
            <a:avLst/>
          </a:prstGeom>
          <a:noFill/>
          <a:ln/>
        </p:spPr>
        <p:txBody>
          <a:bodyPr wrap="square" lIns="0" tIns="0" rIns="0" bIns="0" rtlCol="0" anchor="ctr"/>
          <a:lstStyle/>
          <a:p>
            <a:pPr marL="0" indent="0">
              <a:buNone/>
            </a:pPr>
            <a:r>
              <a:rPr lang="en-US" sz="1000" b="1" dirty="0">
                <a:solidFill>
                  <a:srgbClr val="1C2B4A"/>
                </a:solidFill>
              </a:rPr>
              <a:t>Loan Exposure</a:t>
            </a:r>
            <a:endParaRPr lang="en-US" sz="1000" dirty="0"/>
          </a:p>
        </p:txBody>
      </p:sp>
      <p:sp>
        <p:nvSpPr>
          <p:cNvPr id="8" name="Shape 6"/>
          <p:cNvSpPr/>
          <p:nvPr/>
        </p:nvSpPr>
        <p:spPr>
          <a:xfrm>
            <a:off x="2286000" y="914400"/>
            <a:ext cx="9144" cy="594360"/>
          </a:xfrm>
          <a:prstGeom prst="rect">
            <a:avLst/>
          </a:prstGeom>
          <a:solidFill>
            <a:srgbClr val="E8ECF2"/>
          </a:solidFill>
          <a:ln/>
        </p:spPr>
        <p:txBody>
          <a:bodyPr/>
          <a:lstStyle/>
          <a:p>
            <a:endParaRPr lang="en-CH"/>
          </a:p>
        </p:txBody>
      </p:sp>
      <p:sp>
        <p:nvSpPr>
          <p:cNvPr id="9" name="Text 7"/>
          <p:cNvSpPr/>
          <p:nvPr/>
        </p:nvSpPr>
        <p:spPr>
          <a:xfrm>
            <a:off x="2377440" y="941832"/>
            <a:ext cx="3749040" cy="548640"/>
          </a:xfrm>
          <a:prstGeom prst="rect">
            <a:avLst/>
          </a:prstGeom>
          <a:noFill/>
          <a:ln/>
        </p:spPr>
        <p:txBody>
          <a:bodyPr wrap="square" lIns="0" tIns="0" rIns="0" bIns="0" rtlCol="0" anchor="ctr"/>
          <a:lstStyle/>
          <a:p>
            <a:r>
              <a:rPr lang="en-GB" sz="800" dirty="0">
                <a:solidFill>
                  <a:srgbClr val="1E3A5F"/>
                </a:solidFill>
                <a:latin typeface="Consolas" pitchFamily="34" charset="0"/>
                <a:ea typeface="Consolas" pitchFamily="34" charset="-122"/>
                <a:cs typeface="Consolas" pitchFamily="34" charset="-120"/>
              </a:rPr>
              <a:t>VAR Result = ROUND(CALCULATE(SUMX(...), product-type="LN"), 2)</a:t>
            </a:r>
          </a:p>
          <a:p>
            <a:r>
              <a:rPr lang="en-GB" sz="800" dirty="0">
                <a:solidFill>
                  <a:srgbClr val="1E3A5F"/>
                </a:solidFill>
                <a:latin typeface="Consolas" pitchFamily="34" charset="0"/>
                <a:ea typeface="Consolas" pitchFamily="34" charset="-122"/>
                <a:cs typeface="Consolas" pitchFamily="34" charset="-120"/>
              </a:rPr>
              <a:t>RETURN IF(Result = 0, BLANK(), Result)</a:t>
            </a:r>
            <a:endParaRPr lang="en-US" sz="800" dirty="0"/>
          </a:p>
        </p:txBody>
      </p:sp>
      <p:sp>
        <p:nvSpPr>
          <p:cNvPr id="10" name="Shape 8"/>
          <p:cNvSpPr/>
          <p:nvPr/>
        </p:nvSpPr>
        <p:spPr>
          <a:xfrm>
            <a:off x="6080760" y="914400"/>
            <a:ext cx="9144" cy="594360"/>
          </a:xfrm>
          <a:prstGeom prst="rect">
            <a:avLst/>
          </a:prstGeom>
          <a:solidFill>
            <a:srgbClr val="E8ECF2"/>
          </a:solidFill>
          <a:ln/>
        </p:spPr>
        <p:txBody>
          <a:bodyPr/>
          <a:lstStyle/>
          <a:p>
            <a:endParaRPr lang="en-CH"/>
          </a:p>
        </p:txBody>
      </p:sp>
      <p:sp>
        <p:nvSpPr>
          <p:cNvPr id="11" name="Text 9"/>
          <p:cNvSpPr/>
          <p:nvPr/>
        </p:nvSpPr>
        <p:spPr>
          <a:xfrm>
            <a:off x="6172200" y="941832"/>
            <a:ext cx="2514600" cy="548640"/>
          </a:xfrm>
          <a:prstGeom prst="rect">
            <a:avLst/>
          </a:prstGeom>
          <a:noFill/>
          <a:ln/>
        </p:spPr>
        <p:txBody>
          <a:bodyPr wrap="square" lIns="0" tIns="0" rIns="0" bIns="0" rtlCol="0" anchor="ctr"/>
          <a:lstStyle/>
          <a:p>
            <a:r>
              <a:rPr lang="en-US" sz="800" dirty="0">
                <a:solidFill>
                  <a:srgbClr val="6B7280"/>
                </a:solidFill>
              </a:rPr>
              <a:t>WHY: </a:t>
            </a:r>
            <a:r>
              <a:rPr lang="en-GB" sz="800" dirty="0">
                <a:solidFill>
                  <a:srgbClr val="6B7280"/>
                </a:solidFill>
              </a:rPr>
              <a:t>VAR + BLANK() eliminates floating point artifacts from cancelled positions — no filters needed anywhere.</a:t>
            </a:r>
            <a:endParaRPr lang="en-US" sz="800" dirty="0">
              <a:solidFill>
                <a:srgbClr val="6B7280"/>
              </a:solidFill>
            </a:endParaRPr>
          </a:p>
        </p:txBody>
      </p:sp>
      <p:sp>
        <p:nvSpPr>
          <p:cNvPr id="12" name="Shape 10"/>
          <p:cNvSpPr/>
          <p:nvPr/>
        </p:nvSpPr>
        <p:spPr>
          <a:xfrm>
            <a:off x="365760" y="1618488"/>
            <a:ext cx="8412480" cy="685800"/>
          </a:xfrm>
          <a:prstGeom prst="rect">
            <a:avLst/>
          </a:prstGeom>
          <a:solidFill>
            <a:srgbClr val="FFFFFF"/>
          </a:solidFill>
          <a:ln w="12700">
            <a:solidFill>
              <a:srgbClr val="E8ECF2"/>
            </a:solidFill>
            <a:prstDash val="solid"/>
          </a:ln>
        </p:spPr>
        <p:txBody>
          <a:bodyPr/>
          <a:lstStyle/>
          <a:p>
            <a:endParaRPr lang="en-CH"/>
          </a:p>
        </p:txBody>
      </p:sp>
      <p:sp>
        <p:nvSpPr>
          <p:cNvPr id="13" name="Shape 11"/>
          <p:cNvSpPr/>
          <p:nvPr/>
        </p:nvSpPr>
        <p:spPr>
          <a:xfrm>
            <a:off x="365760" y="1618488"/>
            <a:ext cx="45720" cy="685800"/>
          </a:xfrm>
          <a:prstGeom prst="rect">
            <a:avLst/>
          </a:prstGeom>
          <a:solidFill>
            <a:srgbClr val="B89650"/>
          </a:solidFill>
          <a:ln/>
        </p:spPr>
        <p:txBody>
          <a:bodyPr/>
          <a:lstStyle/>
          <a:p>
            <a:endParaRPr lang="en-CH"/>
          </a:p>
        </p:txBody>
      </p:sp>
      <p:sp>
        <p:nvSpPr>
          <p:cNvPr id="14" name="Text 12"/>
          <p:cNvSpPr/>
          <p:nvPr/>
        </p:nvSpPr>
        <p:spPr>
          <a:xfrm>
            <a:off x="502920" y="1673352"/>
            <a:ext cx="1828800" cy="274320"/>
          </a:xfrm>
          <a:prstGeom prst="rect">
            <a:avLst/>
          </a:prstGeom>
          <a:noFill/>
          <a:ln/>
        </p:spPr>
        <p:txBody>
          <a:bodyPr wrap="square" lIns="0" tIns="0" rIns="0" bIns="0" rtlCol="0" anchor="ctr"/>
          <a:lstStyle/>
          <a:p>
            <a:pPr marL="0" indent="0">
              <a:buNone/>
            </a:pPr>
            <a:r>
              <a:rPr lang="en-US" sz="1000" b="1" dirty="0">
                <a:solidFill>
                  <a:srgbClr val="1C2B4A"/>
                </a:solidFill>
              </a:rPr>
              <a:t>Portfolio Value</a:t>
            </a:r>
            <a:endParaRPr lang="en-US" sz="1000" dirty="0"/>
          </a:p>
        </p:txBody>
      </p:sp>
      <p:sp>
        <p:nvSpPr>
          <p:cNvPr id="15" name="Shape 13"/>
          <p:cNvSpPr/>
          <p:nvPr/>
        </p:nvSpPr>
        <p:spPr>
          <a:xfrm>
            <a:off x="2286000" y="1664208"/>
            <a:ext cx="9144" cy="594360"/>
          </a:xfrm>
          <a:prstGeom prst="rect">
            <a:avLst/>
          </a:prstGeom>
          <a:solidFill>
            <a:srgbClr val="E8ECF2"/>
          </a:solidFill>
          <a:ln/>
        </p:spPr>
        <p:txBody>
          <a:bodyPr/>
          <a:lstStyle/>
          <a:p>
            <a:endParaRPr lang="en-CH"/>
          </a:p>
        </p:txBody>
      </p:sp>
      <p:sp>
        <p:nvSpPr>
          <p:cNvPr id="16" name="Text 14"/>
          <p:cNvSpPr/>
          <p:nvPr/>
        </p:nvSpPr>
        <p:spPr>
          <a:xfrm>
            <a:off x="2377440" y="1691640"/>
            <a:ext cx="3749040" cy="548640"/>
          </a:xfrm>
          <a:prstGeom prst="rect">
            <a:avLst/>
          </a:prstGeom>
          <a:noFill/>
          <a:ln/>
        </p:spPr>
        <p:txBody>
          <a:bodyPr wrap="square" lIns="0" tIns="0" rIns="0" bIns="0" rtlCol="0" anchor="ctr"/>
          <a:lstStyle/>
          <a:p>
            <a:pPr marL="0" indent="0">
              <a:buNone/>
            </a:pPr>
            <a:r>
              <a:rPr lang="en-US" sz="800" dirty="0">
                <a:solidFill>
                  <a:srgbClr val="1E3A5F"/>
                </a:solidFill>
                <a:latin typeface="Consolas" pitchFamily="34" charset="0"/>
                <a:ea typeface="Consolas" pitchFamily="34" charset="-122"/>
                <a:cs typeface="Consolas" pitchFamily="34" charset="-120"/>
              </a:rPr>
              <a:t>CALCULATE(LASTNONBLANK(prices[price-date],1), prices[price-date] &lt;= MAX(transactions[transaction-date]))</a:t>
            </a:r>
            <a:endParaRPr lang="en-US" sz="800" dirty="0"/>
          </a:p>
        </p:txBody>
      </p:sp>
      <p:sp>
        <p:nvSpPr>
          <p:cNvPr id="17" name="Shape 15"/>
          <p:cNvSpPr/>
          <p:nvPr/>
        </p:nvSpPr>
        <p:spPr>
          <a:xfrm>
            <a:off x="6080760" y="1664208"/>
            <a:ext cx="9144" cy="594360"/>
          </a:xfrm>
          <a:prstGeom prst="rect">
            <a:avLst/>
          </a:prstGeom>
          <a:solidFill>
            <a:srgbClr val="E8ECF2"/>
          </a:solidFill>
          <a:ln/>
        </p:spPr>
        <p:txBody>
          <a:bodyPr/>
          <a:lstStyle/>
          <a:p>
            <a:endParaRPr lang="en-CH"/>
          </a:p>
        </p:txBody>
      </p:sp>
      <p:sp>
        <p:nvSpPr>
          <p:cNvPr id="18" name="Text 16"/>
          <p:cNvSpPr/>
          <p:nvPr/>
        </p:nvSpPr>
        <p:spPr>
          <a:xfrm>
            <a:off x="6172200" y="1691640"/>
            <a:ext cx="2514600" cy="548640"/>
          </a:xfrm>
          <a:prstGeom prst="rect">
            <a:avLst/>
          </a:prstGeom>
          <a:noFill/>
          <a:ln/>
        </p:spPr>
        <p:txBody>
          <a:bodyPr wrap="square" lIns="0" tIns="0" rIns="0" bIns="0" rtlCol="0" anchor="ctr"/>
          <a:lstStyle/>
          <a:p>
            <a:pPr marL="0" indent="0">
              <a:buNone/>
            </a:pPr>
            <a:r>
              <a:rPr lang="en-US" sz="800" dirty="0">
                <a:solidFill>
                  <a:srgbClr val="6B7280"/>
                </a:solidFill>
              </a:rPr>
              <a:t>WHY: No hard date join. Adapts dynamically to any date range in the current dataset.</a:t>
            </a:r>
            <a:endParaRPr lang="en-US" sz="800" dirty="0"/>
          </a:p>
        </p:txBody>
      </p:sp>
      <p:sp>
        <p:nvSpPr>
          <p:cNvPr id="19" name="Shape 17"/>
          <p:cNvSpPr/>
          <p:nvPr/>
        </p:nvSpPr>
        <p:spPr>
          <a:xfrm>
            <a:off x="365760" y="2368296"/>
            <a:ext cx="8412480" cy="685800"/>
          </a:xfrm>
          <a:prstGeom prst="rect">
            <a:avLst/>
          </a:prstGeom>
          <a:solidFill>
            <a:srgbClr val="FFFFFF"/>
          </a:solidFill>
          <a:ln w="12700">
            <a:solidFill>
              <a:srgbClr val="E8ECF2"/>
            </a:solidFill>
            <a:prstDash val="solid"/>
          </a:ln>
        </p:spPr>
        <p:txBody>
          <a:bodyPr/>
          <a:lstStyle/>
          <a:p>
            <a:endParaRPr lang="en-CH"/>
          </a:p>
        </p:txBody>
      </p:sp>
      <p:sp>
        <p:nvSpPr>
          <p:cNvPr id="20" name="Shape 18"/>
          <p:cNvSpPr/>
          <p:nvPr/>
        </p:nvSpPr>
        <p:spPr>
          <a:xfrm>
            <a:off x="365760" y="2368296"/>
            <a:ext cx="45720" cy="685800"/>
          </a:xfrm>
          <a:prstGeom prst="rect">
            <a:avLst/>
          </a:prstGeom>
          <a:solidFill>
            <a:srgbClr val="B89650"/>
          </a:solidFill>
          <a:ln/>
        </p:spPr>
        <p:txBody>
          <a:bodyPr/>
          <a:lstStyle/>
          <a:p>
            <a:endParaRPr lang="en-CH"/>
          </a:p>
        </p:txBody>
      </p:sp>
      <p:sp>
        <p:nvSpPr>
          <p:cNvPr id="21" name="Text 19"/>
          <p:cNvSpPr/>
          <p:nvPr/>
        </p:nvSpPr>
        <p:spPr>
          <a:xfrm>
            <a:off x="502920" y="2423160"/>
            <a:ext cx="1828800" cy="274320"/>
          </a:xfrm>
          <a:prstGeom prst="rect">
            <a:avLst/>
          </a:prstGeom>
          <a:noFill/>
          <a:ln/>
        </p:spPr>
        <p:txBody>
          <a:bodyPr wrap="square" lIns="0" tIns="0" rIns="0" bIns="0" rtlCol="0" anchor="ctr"/>
          <a:lstStyle/>
          <a:p>
            <a:pPr marL="0" indent="0">
              <a:buNone/>
            </a:pPr>
            <a:r>
              <a:rPr lang="en-US" sz="1000" b="1" dirty="0">
                <a:solidFill>
                  <a:srgbClr val="1C2B4A"/>
                </a:solidFill>
              </a:rPr>
              <a:t>Avg LTV</a:t>
            </a:r>
            <a:endParaRPr lang="en-US" sz="1000" dirty="0"/>
          </a:p>
        </p:txBody>
      </p:sp>
      <p:sp>
        <p:nvSpPr>
          <p:cNvPr id="22" name="Shape 20"/>
          <p:cNvSpPr/>
          <p:nvPr/>
        </p:nvSpPr>
        <p:spPr>
          <a:xfrm>
            <a:off x="2286000" y="2414016"/>
            <a:ext cx="9144" cy="594360"/>
          </a:xfrm>
          <a:prstGeom prst="rect">
            <a:avLst/>
          </a:prstGeom>
          <a:solidFill>
            <a:srgbClr val="E8ECF2"/>
          </a:solidFill>
          <a:ln/>
        </p:spPr>
        <p:txBody>
          <a:bodyPr/>
          <a:lstStyle/>
          <a:p>
            <a:endParaRPr lang="en-CH"/>
          </a:p>
        </p:txBody>
      </p:sp>
      <p:sp>
        <p:nvSpPr>
          <p:cNvPr id="23" name="Text 21"/>
          <p:cNvSpPr/>
          <p:nvPr/>
        </p:nvSpPr>
        <p:spPr>
          <a:xfrm>
            <a:off x="2377440" y="2441448"/>
            <a:ext cx="3749040" cy="548640"/>
          </a:xfrm>
          <a:prstGeom prst="rect">
            <a:avLst/>
          </a:prstGeom>
          <a:noFill/>
          <a:ln/>
        </p:spPr>
        <p:txBody>
          <a:bodyPr wrap="square" lIns="0" tIns="0" rIns="0" bIns="0" rtlCol="0" anchor="ctr"/>
          <a:lstStyle/>
          <a:p>
            <a:pPr marL="0" indent="0">
              <a:buNone/>
            </a:pPr>
            <a:r>
              <a:rPr lang="en-US" sz="800" dirty="0">
                <a:solidFill>
                  <a:srgbClr val="1E3A5F"/>
                </a:solidFill>
                <a:latin typeface="Consolas" pitchFamily="34" charset="0"/>
                <a:ea typeface="Consolas" pitchFamily="34" charset="-122"/>
                <a:cs typeface="Consolas" pitchFamily="34" charset="-120"/>
              </a:rPr>
              <a:t>AVERAGEX(FILTER(products, product-type="LN"), DIVIDE(1, loan-property-value-ratio))</a:t>
            </a:r>
            <a:endParaRPr lang="en-US" sz="800" dirty="0"/>
          </a:p>
        </p:txBody>
      </p:sp>
      <p:sp>
        <p:nvSpPr>
          <p:cNvPr id="24" name="Shape 22"/>
          <p:cNvSpPr/>
          <p:nvPr/>
        </p:nvSpPr>
        <p:spPr>
          <a:xfrm>
            <a:off x="6080760" y="2414016"/>
            <a:ext cx="9144" cy="594360"/>
          </a:xfrm>
          <a:prstGeom prst="rect">
            <a:avLst/>
          </a:prstGeom>
          <a:solidFill>
            <a:srgbClr val="E8ECF2"/>
          </a:solidFill>
          <a:ln/>
        </p:spPr>
        <p:txBody>
          <a:bodyPr/>
          <a:lstStyle/>
          <a:p>
            <a:endParaRPr lang="en-CH"/>
          </a:p>
        </p:txBody>
      </p:sp>
      <p:sp>
        <p:nvSpPr>
          <p:cNvPr id="25" name="Text 23"/>
          <p:cNvSpPr/>
          <p:nvPr/>
        </p:nvSpPr>
        <p:spPr>
          <a:xfrm>
            <a:off x="6172200" y="2441448"/>
            <a:ext cx="2514600" cy="548640"/>
          </a:xfrm>
          <a:prstGeom prst="rect">
            <a:avLst/>
          </a:prstGeom>
          <a:noFill/>
          <a:ln/>
        </p:spPr>
        <p:txBody>
          <a:bodyPr wrap="square" lIns="0" tIns="0" rIns="0" bIns="0" rtlCol="0" anchor="ctr"/>
          <a:lstStyle/>
          <a:p>
            <a:pPr marL="0" indent="0">
              <a:buNone/>
            </a:pPr>
            <a:r>
              <a:rPr lang="en-US" sz="800" dirty="0">
                <a:solidFill>
                  <a:srgbClr val="6B7280"/>
                </a:solidFill>
              </a:rPr>
              <a:t>WHY: Inverts the stored ratio inside DAX. Raw data untouched — every calculation is auditable.</a:t>
            </a:r>
            <a:endParaRPr lang="en-US" sz="800" dirty="0"/>
          </a:p>
        </p:txBody>
      </p:sp>
      <p:sp>
        <p:nvSpPr>
          <p:cNvPr id="26" name="Shape 24"/>
          <p:cNvSpPr/>
          <p:nvPr/>
        </p:nvSpPr>
        <p:spPr>
          <a:xfrm>
            <a:off x="365760" y="3118104"/>
            <a:ext cx="8412480" cy="685800"/>
          </a:xfrm>
          <a:prstGeom prst="rect">
            <a:avLst/>
          </a:prstGeom>
          <a:solidFill>
            <a:srgbClr val="FFFFFF"/>
          </a:solidFill>
          <a:ln w="12700">
            <a:solidFill>
              <a:srgbClr val="E8ECF2"/>
            </a:solidFill>
            <a:prstDash val="solid"/>
          </a:ln>
        </p:spPr>
        <p:txBody>
          <a:bodyPr/>
          <a:lstStyle/>
          <a:p>
            <a:endParaRPr lang="en-CH"/>
          </a:p>
        </p:txBody>
      </p:sp>
      <p:sp>
        <p:nvSpPr>
          <p:cNvPr id="27" name="Shape 25"/>
          <p:cNvSpPr/>
          <p:nvPr/>
        </p:nvSpPr>
        <p:spPr>
          <a:xfrm>
            <a:off x="365760" y="3118104"/>
            <a:ext cx="45720" cy="685800"/>
          </a:xfrm>
          <a:prstGeom prst="rect">
            <a:avLst/>
          </a:prstGeom>
          <a:solidFill>
            <a:srgbClr val="B89650"/>
          </a:solidFill>
          <a:ln/>
        </p:spPr>
        <p:txBody>
          <a:bodyPr/>
          <a:lstStyle/>
          <a:p>
            <a:endParaRPr lang="en-CH"/>
          </a:p>
        </p:txBody>
      </p:sp>
      <p:sp>
        <p:nvSpPr>
          <p:cNvPr id="28" name="Text 26"/>
          <p:cNvSpPr/>
          <p:nvPr/>
        </p:nvSpPr>
        <p:spPr>
          <a:xfrm>
            <a:off x="502920" y="3172968"/>
            <a:ext cx="1828800" cy="274320"/>
          </a:xfrm>
          <a:prstGeom prst="rect">
            <a:avLst/>
          </a:prstGeom>
          <a:noFill/>
          <a:ln/>
        </p:spPr>
        <p:txBody>
          <a:bodyPr wrap="square" lIns="0" tIns="0" rIns="0" bIns="0" rtlCol="0" anchor="ctr"/>
          <a:lstStyle/>
          <a:p>
            <a:pPr marL="0" indent="0">
              <a:buNone/>
            </a:pPr>
            <a:r>
              <a:rPr lang="en-US" sz="1000" b="1" dirty="0">
                <a:solidFill>
                  <a:srgbClr val="1C2B4A"/>
                </a:solidFill>
              </a:rPr>
              <a:t>Loan Exposure %</a:t>
            </a:r>
            <a:endParaRPr lang="en-US" sz="1000" dirty="0"/>
          </a:p>
        </p:txBody>
      </p:sp>
      <p:sp>
        <p:nvSpPr>
          <p:cNvPr id="29" name="Shape 27"/>
          <p:cNvSpPr/>
          <p:nvPr/>
        </p:nvSpPr>
        <p:spPr>
          <a:xfrm>
            <a:off x="2286000" y="3163824"/>
            <a:ext cx="9144" cy="594360"/>
          </a:xfrm>
          <a:prstGeom prst="rect">
            <a:avLst/>
          </a:prstGeom>
          <a:solidFill>
            <a:srgbClr val="E8ECF2"/>
          </a:solidFill>
          <a:ln/>
        </p:spPr>
        <p:txBody>
          <a:bodyPr/>
          <a:lstStyle/>
          <a:p>
            <a:endParaRPr lang="en-CH"/>
          </a:p>
        </p:txBody>
      </p:sp>
      <p:sp>
        <p:nvSpPr>
          <p:cNvPr id="30" name="Text 28"/>
          <p:cNvSpPr/>
          <p:nvPr/>
        </p:nvSpPr>
        <p:spPr>
          <a:xfrm>
            <a:off x="2377440" y="3191256"/>
            <a:ext cx="3749040" cy="548640"/>
          </a:xfrm>
          <a:prstGeom prst="rect">
            <a:avLst/>
          </a:prstGeom>
          <a:noFill/>
          <a:ln/>
        </p:spPr>
        <p:txBody>
          <a:bodyPr wrap="square" lIns="0" tIns="0" rIns="0" bIns="0" rtlCol="0" anchor="ctr"/>
          <a:lstStyle/>
          <a:p>
            <a:pPr marL="0" indent="0">
              <a:buNone/>
            </a:pPr>
            <a:r>
              <a:rPr lang="en-US" sz="800" dirty="0">
                <a:solidFill>
                  <a:srgbClr val="1E3A5F"/>
                </a:solidFill>
                <a:latin typeface="Consolas" pitchFamily="34" charset="0"/>
                <a:ea typeface="Consolas" pitchFamily="34" charset="-122"/>
                <a:cs typeface="Consolas" pitchFamily="34" charset="-120"/>
              </a:rPr>
              <a:t>DIVIDE([Loan Exposure], [Portfolio Value])</a:t>
            </a:r>
            <a:endParaRPr lang="en-US" sz="800" dirty="0"/>
          </a:p>
        </p:txBody>
      </p:sp>
      <p:sp>
        <p:nvSpPr>
          <p:cNvPr id="31" name="Shape 29"/>
          <p:cNvSpPr/>
          <p:nvPr/>
        </p:nvSpPr>
        <p:spPr>
          <a:xfrm>
            <a:off x="6080760" y="3163824"/>
            <a:ext cx="9144" cy="594360"/>
          </a:xfrm>
          <a:prstGeom prst="rect">
            <a:avLst/>
          </a:prstGeom>
          <a:solidFill>
            <a:srgbClr val="E8ECF2"/>
          </a:solidFill>
          <a:ln/>
        </p:spPr>
        <p:txBody>
          <a:bodyPr/>
          <a:lstStyle/>
          <a:p>
            <a:endParaRPr lang="en-CH"/>
          </a:p>
        </p:txBody>
      </p:sp>
      <p:sp>
        <p:nvSpPr>
          <p:cNvPr id="32" name="Text 30"/>
          <p:cNvSpPr/>
          <p:nvPr/>
        </p:nvSpPr>
        <p:spPr>
          <a:xfrm>
            <a:off x="6172200" y="3191256"/>
            <a:ext cx="2514600" cy="548640"/>
          </a:xfrm>
          <a:prstGeom prst="rect">
            <a:avLst/>
          </a:prstGeom>
          <a:noFill/>
          <a:ln/>
        </p:spPr>
        <p:txBody>
          <a:bodyPr wrap="square" lIns="0" tIns="0" rIns="0" bIns="0" rtlCol="0" anchor="ctr"/>
          <a:lstStyle/>
          <a:p>
            <a:pPr marL="0" indent="0">
              <a:buNone/>
            </a:pPr>
            <a:r>
              <a:rPr lang="en-US" sz="800" dirty="0">
                <a:solidFill>
                  <a:srgbClr val="6B7280"/>
                </a:solidFill>
              </a:rPr>
              <a:t>WHY: DIVIDE() returns BLANK when denominator is zero — never an error. Using / would break charts.</a:t>
            </a:r>
            <a:endParaRPr lang="en-US" sz="800" dirty="0"/>
          </a:p>
        </p:txBody>
      </p:sp>
      <p:sp>
        <p:nvSpPr>
          <p:cNvPr id="33" name="Shape 31"/>
          <p:cNvSpPr/>
          <p:nvPr/>
        </p:nvSpPr>
        <p:spPr>
          <a:xfrm>
            <a:off x="365760" y="3867912"/>
            <a:ext cx="8412480" cy="685800"/>
          </a:xfrm>
          <a:prstGeom prst="rect">
            <a:avLst/>
          </a:prstGeom>
          <a:solidFill>
            <a:srgbClr val="FFFFFF"/>
          </a:solidFill>
          <a:ln w="12700">
            <a:solidFill>
              <a:srgbClr val="E8ECF2"/>
            </a:solidFill>
            <a:prstDash val="solid"/>
          </a:ln>
        </p:spPr>
        <p:txBody>
          <a:bodyPr/>
          <a:lstStyle/>
          <a:p>
            <a:endParaRPr lang="en-CH"/>
          </a:p>
        </p:txBody>
      </p:sp>
      <p:sp>
        <p:nvSpPr>
          <p:cNvPr id="34" name="Shape 32"/>
          <p:cNvSpPr/>
          <p:nvPr/>
        </p:nvSpPr>
        <p:spPr>
          <a:xfrm>
            <a:off x="365760" y="3867912"/>
            <a:ext cx="45720" cy="685800"/>
          </a:xfrm>
          <a:prstGeom prst="rect">
            <a:avLst/>
          </a:prstGeom>
          <a:solidFill>
            <a:srgbClr val="B89650"/>
          </a:solidFill>
          <a:ln/>
        </p:spPr>
        <p:txBody>
          <a:bodyPr/>
          <a:lstStyle/>
          <a:p>
            <a:endParaRPr lang="en-CH"/>
          </a:p>
        </p:txBody>
      </p:sp>
      <p:sp>
        <p:nvSpPr>
          <p:cNvPr id="35" name="Text 33"/>
          <p:cNvSpPr/>
          <p:nvPr/>
        </p:nvSpPr>
        <p:spPr>
          <a:xfrm>
            <a:off x="502920" y="3922776"/>
            <a:ext cx="1828800" cy="274320"/>
          </a:xfrm>
          <a:prstGeom prst="rect">
            <a:avLst/>
          </a:prstGeom>
          <a:noFill/>
          <a:ln/>
        </p:spPr>
        <p:txBody>
          <a:bodyPr wrap="square" lIns="0" tIns="0" rIns="0" bIns="0" rtlCol="0" anchor="ctr"/>
          <a:lstStyle/>
          <a:p>
            <a:pPr marL="0" indent="0">
              <a:buNone/>
            </a:pPr>
            <a:r>
              <a:rPr lang="en-US" sz="1000" b="1" dirty="0">
                <a:solidFill>
                  <a:srgbClr val="1C2B4A"/>
                </a:solidFill>
              </a:rPr>
              <a:t>Avg LTV %</a:t>
            </a:r>
            <a:endParaRPr lang="en-US" sz="1000" dirty="0"/>
          </a:p>
        </p:txBody>
      </p:sp>
      <p:sp>
        <p:nvSpPr>
          <p:cNvPr id="36" name="Shape 34"/>
          <p:cNvSpPr/>
          <p:nvPr/>
        </p:nvSpPr>
        <p:spPr>
          <a:xfrm>
            <a:off x="2286000" y="3913632"/>
            <a:ext cx="9144" cy="594360"/>
          </a:xfrm>
          <a:prstGeom prst="rect">
            <a:avLst/>
          </a:prstGeom>
          <a:solidFill>
            <a:srgbClr val="E8ECF2"/>
          </a:solidFill>
          <a:ln/>
        </p:spPr>
        <p:txBody>
          <a:bodyPr/>
          <a:lstStyle/>
          <a:p>
            <a:endParaRPr lang="en-CH"/>
          </a:p>
        </p:txBody>
      </p:sp>
      <p:sp>
        <p:nvSpPr>
          <p:cNvPr id="37" name="Text 35"/>
          <p:cNvSpPr/>
          <p:nvPr/>
        </p:nvSpPr>
        <p:spPr>
          <a:xfrm>
            <a:off x="2377440" y="3941064"/>
            <a:ext cx="3749040" cy="548640"/>
          </a:xfrm>
          <a:prstGeom prst="rect">
            <a:avLst/>
          </a:prstGeom>
          <a:noFill/>
          <a:ln/>
        </p:spPr>
        <p:txBody>
          <a:bodyPr wrap="square" lIns="0" tIns="0" rIns="0" bIns="0" rtlCol="0" anchor="ctr"/>
          <a:lstStyle/>
          <a:p>
            <a:pPr marL="0" indent="0">
              <a:buNone/>
            </a:pPr>
            <a:r>
              <a:rPr lang="en-US" sz="800" dirty="0">
                <a:solidFill>
                  <a:srgbClr val="1E3A5F"/>
                </a:solidFill>
                <a:latin typeface="Consolas" pitchFamily="34" charset="0"/>
                <a:ea typeface="Consolas" pitchFamily="34" charset="-122"/>
                <a:cs typeface="Consolas" pitchFamily="34" charset="-120"/>
              </a:rPr>
              <a:t>Same formula as Avg LTV — formatted as % in the visual (not ×100 in code)</a:t>
            </a:r>
            <a:endParaRPr lang="en-US" sz="800" dirty="0"/>
          </a:p>
        </p:txBody>
      </p:sp>
      <p:sp>
        <p:nvSpPr>
          <p:cNvPr id="38" name="Shape 36"/>
          <p:cNvSpPr/>
          <p:nvPr/>
        </p:nvSpPr>
        <p:spPr>
          <a:xfrm>
            <a:off x="6080760" y="3913632"/>
            <a:ext cx="9144" cy="594360"/>
          </a:xfrm>
          <a:prstGeom prst="rect">
            <a:avLst/>
          </a:prstGeom>
          <a:solidFill>
            <a:srgbClr val="E8ECF2"/>
          </a:solidFill>
          <a:ln/>
        </p:spPr>
        <p:txBody>
          <a:bodyPr/>
          <a:lstStyle/>
          <a:p>
            <a:endParaRPr lang="en-CH"/>
          </a:p>
        </p:txBody>
      </p:sp>
      <p:sp>
        <p:nvSpPr>
          <p:cNvPr id="39" name="Text 37"/>
          <p:cNvSpPr/>
          <p:nvPr/>
        </p:nvSpPr>
        <p:spPr>
          <a:xfrm>
            <a:off x="6172200" y="3941064"/>
            <a:ext cx="2514600" cy="548640"/>
          </a:xfrm>
          <a:prstGeom prst="rect">
            <a:avLst/>
          </a:prstGeom>
          <a:noFill/>
          <a:ln/>
        </p:spPr>
        <p:txBody>
          <a:bodyPr wrap="square" lIns="0" tIns="0" rIns="0" bIns="0" rtlCol="0" anchor="ctr"/>
          <a:lstStyle/>
          <a:p>
            <a:pPr marL="0" indent="0">
              <a:buNone/>
            </a:pPr>
            <a:r>
              <a:rPr lang="en-US" sz="800" dirty="0">
                <a:solidFill>
                  <a:srgbClr val="6B7280"/>
                </a:solidFill>
              </a:rPr>
              <a:t>WHY: Formatting is a visual property. No logic duplication. Toggling format doesn't change the measure.</a:t>
            </a:r>
            <a:endParaRPr lang="en-US" sz="800" dirty="0"/>
          </a:p>
        </p:txBody>
      </p:sp>
      <p:sp>
        <p:nvSpPr>
          <p:cNvPr id="49" name="Text 47"/>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FFFFFF"/>
                </a:solidFill>
              </a:rPr>
              <a:t>April 13th — Demo Workflow</a:t>
            </a:r>
            <a:endParaRPr lang="en-US" sz="2600" dirty="0"/>
          </a:p>
        </p:txBody>
      </p:sp>
      <p:sp>
        <p:nvSpPr>
          <p:cNvPr id="4" name="Shape 2"/>
          <p:cNvSpPr/>
          <p:nvPr/>
        </p:nvSpPr>
        <p:spPr>
          <a:xfrm>
            <a:off x="365760" y="713232"/>
            <a:ext cx="8412480" cy="27432"/>
          </a:xfrm>
          <a:prstGeom prst="rect">
            <a:avLst/>
          </a:prstGeom>
          <a:solidFill>
            <a:srgbClr val="B89650"/>
          </a:solidFill>
          <a:ln/>
        </p:spPr>
        <p:txBody>
          <a:bodyPr/>
          <a:lstStyle/>
          <a:p>
            <a:endParaRPr lang="en-CH"/>
          </a:p>
        </p:txBody>
      </p:sp>
      <p:sp>
        <p:nvSpPr>
          <p:cNvPr id="5" name="Text 3"/>
          <p:cNvSpPr/>
          <p:nvPr/>
        </p:nvSpPr>
        <p:spPr>
          <a:xfrm>
            <a:off x="365760" y="804672"/>
            <a:ext cx="8412480" cy="411480"/>
          </a:xfrm>
          <a:prstGeom prst="rect">
            <a:avLst/>
          </a:prstGeom>
          <a:noFill/>
          <a:ln/>
        </p:spPr>
        <p:txBody>
          <a:bodyPr wrap="square" lIns="0" tIns="0" rIns="0" bIns="0" rtlCol="0" anchor="ctr"/>
          <a:lstStyle/>
          <a:p>
            <a:pPr marL="0" indent="0">
              <a:buNone/>
            </a:pPr>
            <a:r>
              <a:rPr lang="en-US" sz="1100" i="1" dirty="0">
                <a:solidFill>
                  <a:srgbClr val="A0AEBB"/>
                </a:solidFill>
              </a:rPr>
              <a:t>Eric confirmed by email (1 Apr 2026): "Same data structure. Only data may change. The idea is to ensure the tool embeds a proper and safe update process."</a:t>
            </a:r>
            <a:endParaRPr lang="en-US" sz="1100" dirty="0"/>
          </a:p>
        </p:txBody>
      </p:sp>
      <p:sp>
        <p:nvSpPr>
          <p:cNvPr id="6" name="Shape 4"/>
          <p:cNvSpPr/>
          <p:nvPr/>
        </p:nvSpPr>
        <p:spPr>
          <a:xfrm>
            <a:off x="365760" y="1353312"/>
            <a:ext cx="4206240" cy="1691640"/>
          </a:xfrm>
          <a:prstGeom prst="rect">
            <a:avLst/>
          </a:prstGeom>
          <a:solidFill>
            <a:srgbClr val="253A56"/>
          </a:solidFill>
          <a:ln w="12700">
            <a:solidFill>
              <a:srgbClr val="3A527A"/>
            </a:solidFill>
            <a:prstDash val="solid"/>
          </a:ln>
        </p:spPr>
        <p:txBody>
          <a:bodyPr/>
          <a:lstStyle/>
          <a:p>
            <a:endParaRPr lang="en-CH"/>
          </a:p>
        </p:txBody>
      </p:sp>
      <p:sp>
        <p:nvSpPr>
          <p:cNvPr id="7" name="Shape 5"/>
          <p:cNvSpPr/>
          <p:nvPr/>
        </p:nvSpPr>
        <p:spPr>
          <a:xfrm>
            <a:off x="365760" y="1353312"/>
            <a:ext cx="4206240" cy="365760"/>
          </a:xfrm>
          <a:prstGeom prst="rect">
            <a:avLst/>
          </a:prstGeom>
          <a:solidFill>
            <a:srgbClr val="B89650"/>
          </a:solidFill>
          <a:ln/>
        </p:spPr>
        <p:txBody>
          <a:bodyPr/>
          <a:lstStyle/>
          <a:p>
            <a:endParaRPr lang="en-CH"/>
          </a:p>
        </p:txBody>
      </p:sp>
      <p:sp>
        <p:nvSpPr>
          <p:cNvPr id="8" name="Text 6"/>
          <p:cNvSpPr/>
          <p:nvPr/>
        </p:nvSpPr>
        <p:spPr>
          <a:xfrm>
            <a:off x="457200" y="1353312"/>
            <a:ext cx="4023360" cy="365760"/>
          </a:xfrm>
          <a:prstGeom prst="rect">
            <a:avLst/>
          </a:prstGeom>
          <a:noFill/>
          <a:ln/>
        </p:spPr>
        <p:txBody>
          <a:bodyPr wrap="square" lIns="0" tIns="0" rIns="0" bIns="0" rtlCol="0" anchor="ctr"/>
          <a:lstStyle/>
          <a:p>
            <a:pPr marL="0" indent="0">
              <a:buNone/>
            </a:pPr>
            <a:r>
              <a:rPr lang="en-US" sz="1000" b="1" dirty="0">
                <a:solidFill>
                  <a:srgbClr val="1C2B4A"/>
                </a:solidFill>
              </a:rPr>
              <a:t>1   Before the meeting</a:t>
            </a:r>
            <a:endParaRPr lang="en-US" sz="1000" dirty="0"/>
          </a:p>
        </p:txBody>
      </p:sp>
      <p:sp>
        <p:nvSpPr>
          <p:cNvPr id="9" name="Text 7"/>
          <p:cNvSpPr/>
          <p:nvPr/>
        </p:nvSpPr>
        <p:spPr>
          <a:xfrm>
            <a:off x="502920" y="1764792"/>
            <a:ext cx="3977640" cy="301752"/>
          </a:xfrm>
          <a:prstGeom prst="rect">
            <a:avLst/>
          </a:prstGeom>
          <a:noFill/>
          <a:ln/>
        </p:spPr>
        <p:txBody>
          <a:bodyPr wrap="square" lIns="0" tIns="0" rIns="0" bIns="0" rtlCol="0" anchor="ctr"/>
          <a:lstStyle/>
          <a:p>
            <a:pPr marL="0" indent="0">
              <a:buNone/>
            </a:pPr>
            <a:r>
              <a:rPr lang="en-US" sz="1050" dirty="0">
                <a:solidFill>
                  <a:srgbClr val="C8D0DC"/>
                </a:solidFill>
              </a:rPr>
              <a:t>·  Run: python app.py  →  open localhost:5000</a:t>
            </a:r>
            <a:endParaRPr lang="en-US" sz="1050" dirty="0"/>
          </a:p>
        </p:txBody>
      </p:sp>
      <p:sp>
        <p:nvSpPr>
          <p:cNvPr id="10" name="Text 8"/>
          <p:cNvSpPr/>
          <p:nvPr/>
        </p:nvSpPr>
        <p:spPr>
          <a:xfrm>
            <a:off x="502920" y="2075688"/>
            <a:ext cx="3977640" cy="301752"/>
          </a:xfrm>
          <a:prstGeom prst="rect">
            <a:avLst/>
          </a:prstGeom>
          <a:noFill/>
          <a:ln/>
        </p:spPr>
        <p:txBody>
          <a:bodyPr wrap="square" lIns="0" tIns="0" rIns="0" bIns="0" rtlCol="0" anchor="ctr"/>
          <a:lstStyle/>
          <a:p>
            <a:pPr marL="0" indent="0">
              <a:buNone/>
            </a:pPr>
            <a:r>
              <a:rPr lang="en-US" sz="1050" dirty="0">
                <a:solidFill>
                  <a:srgbClr val="C8D0DC"/>
                </a:solidFill>
              </a:rPr>
              <a:t>·  Upload ORIGINAL files once to set the drift baseline</a:t>
            </a:r>
            <a:endParaRPr lang="en-US" sz="1050" dirty="0"/>
          </a:p>
        </p:txBody>
      </p:sp>
      <p:sp>
        <p:nvSpPr>
          <p:cNvPr id="11" name="Text 9"/>
          <p:cNvSpPr/>
          <p:nvPr/>
        </p:nvSpPr>
        <p:spPr>
          <a:xfrm>
            <a:off x="502920" y="2386584"/>
            <a:ext cx="3977640" cy="301752"/>
          </a:xfrm>
          <a:prstGeom prst="rect">
            <a:avLst/>
          </a:prstGeom>
          <a:noFill/>
          <a:ln/>
        </p:spPr>
        <p:txBody>
          <a:bodyPr wrap="square" lIns="0" tIns="0" rIns="0" bIns="0" rtlCol="0" anchor="ctr"/>
          <a:lstStyle/>
          <a:p>
            <a:pPr marL="0" indent="0">
              <a:buNone/>
            </a:pPr>
            <a:r>
              <a:rPr lang="en-US" sz="1050" dirty="0">
                <a:solidFill>
                  <a:srgbClr val="C8D0DC"/>
                </a:solidFill>
              </a:rPr>
              <a:t>·  Have business_case_v2.xlsx · fx_v2.csv · prices_v2.csv ready</a:t>
            </a:r>
            <a:endParaRPr lang="en-US" sz="1050" dirty="0"/>
          </a:p>
        </p:txBody>
      </p:sp>
      <p:sp>
        <p:nvSpPr>
          <p:cNvPr id="12" name="Text 10"/>
          <p:cNvSpPr/>
          <p:nvPr/>
        </p:nvSpPr>
        <p:spPr>
          <a:xfrm>
            <a:off x="502920" y="2697480"/>
            <a:ext cx="3977640" cy="301752"/>
          </a:xfrm>
          <a:prstGeom prst="rect">
            <a:avLst/>
          </a:prstGeom>
          <a:noFill/>
          <a:ln/>
        </p:spPr>
        <p:txBody>
          <a:bodyPr wrap="square" lIns="0" tIns="0" rIns="0" bIns="0" rtlCol="0" anchor="ctr"/>
          <a:lstStyle/>
          <a:p>
            <a:pPr marL="0" indent="0">
              <a:buNone/>
            </a:pPr>
            <a:r>
              <a:rPr lang="en-US" sz="1050" dirty="0">
                <a:solidFill>
                  <a:srgbClr val="C8D0DC"/>
                </a:solidFill>
              </a:rPr>
              <a:t>·  Open Power BI Desktop with the .pbix file loaded</a:t>
            </a:r>
            <a:endParaRPr lang="en-US" sz="1050" dirty="0"/>
          </a:p>
        </p:txBody>
      </p:sp>
      <p:sp>
        <p:nvSpPr>
          <p:cNvPr id="13" name="Shape 11"/>
          <p:cNvSpPr/>
          <p:nvPr/>
        </p:nvSpPr>
        <p:spPr>
          <a:xfrm>
            <a:off x="4754880" y="1353312"/>
            <a:ext cx="4206240" cy="1691640"/>
          </a:xfrm>
          <a:prstGeom prst="rect">
            <a:avLst/>
          </a:prstGeom>
          <a:solidFill>
            <a:srgbClr val="253A56"/>
          </a:solidFill>
          <a:ln w="12700">
            <a:solidFill>
              <a:srgbClr val="3A527A"/>
            </a:solidFill>
            <a:prstDash val="solid"/>
          </a:ln>
        </p:spPr>
        <p:txBody>
          <a:bodyPr/>
          <a:lstStyle/>
          <a:p>
            <a:endParaRPr lang="en-CH"/>
          </a:p>
        </p:txBody>
      </p:sp>
      <p:sp>
        <p:nvSpPr>
          <p:cNvPr id="14" name="Shape 12"/>
          <p:cNvSpPr/>
          <p:nvPr/>
        </p:nvSpPr>
        <p:spPr>
          <a:xfrm>
            <a:off x="4754880" y="1353312"/>
            <a:ext cx="4206240" cy="365760"/>
          </a:xfrm>
          <a:prstGeom prst="rect">
            <a:avLst/>
          </a:prstGeom>
          <a:solidFill>
            <a:srgbClr val="B89650"/>
          </a:solidFill>
          <a:ln/>
        </p:spPr>
        <p:txBody>
          <a:bodyPr/>
          <a:lstStyle/>
          <a:p>
            <a:endParaRPr lang="en-CH"/>
          </a:p>
        </p:txBody>
      </p:sp>
      <p:sp>
        <p:nvSpPr>
          <p:cNvPr id="15" name="Text 13"/>
          <p:cNvSpPr/>
          <p:nvPr/>
        </p:nvSpPr>
        <p:spPr>
          <a:xfrm>
            <a:off x="4846320" y="1353312"/>
            <a:ext cx="4023360" cy="365760"/>
          </a:xfrm>
          <a:prstGeom prst="rect">
            <a:avLst/>
          </a:prstGeom>
          <a:noFill/>
          <a:ln/>
        </p:spPr>
        <p:txBody>
          <a:bodyPr wrap="square" lIns="0" tIns="0" rIns="0" bIns="0" rtlCol="0" anchor="ctr"/>
          <a:lstStyle/>
          <a:p>
            <a:pPr marL="0" indent="0">
              <a:buNone/>
            </a:pPr>
            <a:r>
              <a:rPr lang="en-US" sz="1000" b="1" dirty="0">
                <a:solidFill>
                  <a:srgbClr val="1C2B4A"/>
                </a:solidFill>
              </a:rPr>
              <a:t>2   Live demo — Python pipeline</a:t>
            </a:r>
            <a:endParaRPr lang="en-US" sz="1000" dirty="0"/>
          </a:p>
        </p:txBody>
      </p:sp>
      <p:sp>
        <p:nvSpPr>
          <p:cNvPr id="16" name="Text 14"/>
          <p:cNvSpPr/>
          <p:nvPr/>
        </p:nvSpPr>
        <p:spPr>
          <a:xfrm>
            <a:off x="4892040" y="1764792"/>
            <a:ext cx="3977640" cy="301752"/>
          </a:xfrm>
          <a:prstGeom prst="rect">
            <a:avLst/>
          </a:prstGeom>
          <a:noFill/>
          <a:ln/>
        </p:spPr>
        <p:txBody>
          <a:bodyPr wrap="square" lIns="0" tIns="0" rIns="0" bIns="0" rtlCol="0" anchor="ctr"/>
          <a:lstStyle/>
          <a:p>
            <a:pPr marL="0" indent="0">
              <a:buNone/>
            </a:pPr>
            <a:r>
              <a:rPr lang="en-US" sz="1050" dirty="0">
                <a:solidFill>
                  <a:srgbClr val="C8D0DC"/>
                </a:solidFill>
              </a:rPr>
              <a:t>·  Drag and drop the v2 files into the web interface</a:t>
            </a:r>
            <a:endParaRPr lang="en-US" sz="1050" dirty="0"/>
          </a:p>
        </p:txBody>
      </p:sp>
      <p:sp>
        <p:nvSpPr>
          <p:cNvPr id="17" name="Text 15"/>
          <p:cNvSpPr/>
          <p:nvPr/>
        </p:nvSpPr>
        <p:spPr>
          <a:xfrm>
            <a:off x="4892040" y="2075688"/>
            <a:ext cx="3977640" cy="301752"/>
          </a:xfrm>
          <a:prstGeom prst="rect">
            <a:avLst/>
          </a:prstGeom>
          <a:noFill/>
          <a:ln/>
        </p:spPr>
        <p:txBody>
          <a:bodyPr wrap="square" lIns="0" tIns="0" rIns="0" bIns="0" rtlCol="0" anchor="ctr"/>
          <a:lstStyle/>
          <a:p>
            <a:pPr marL="0" indent="0">
              <a:buNone/>
            </a:pPr>
            <a:r>
              <a:rPr lang="en-US" sz="1050" dirty="0">
                <a:solidFill>
                  <a:srgbClr val="C8D0DC"/>
                </a:solidFill>
              </a:rPr>
              <a:t>·  Pipeline runs in ~5 seconds — show the drift report first</a:t>
            </a:r>
            <a:endParaRPr lang="en-US" sz="1050" dirty="0"/>
          </a:p>
        </p:txBody>
      </p:sp>
      <p:sp>
        <p:nvSpPr>
          <p:cNvPr id="18" name="Text 16"/>
          <p:cNvSpPr/>
          <p:nvPr/>
        </p:nvSpPr>
        <p:spPr>
          <a:xfrm>
            <a:off x="4892040" y="2386584"/>
            <a:ext cx="3977640" cy="301752"/>
          </a:xfrm>
          <a:prstGeom prst="rect">
            <a:avLst/>
          </a:prstGeom>
          <a:noFill/>
          <a:ln/>
        </p:spPr>
        <p:txBody>
          <a:bodyPr wrap="square" lIns="0" tIns="0" rIns="0" bIns="0" rtlCol="0" anchor="ctr"/>
          <a:lstStyle/>
          <a:p>
            <a:pPr marL="0" indent="0">
              <a:buNone/>
            </a:pPr>
            <a:r>
              <a:rPr lang="en-US" sz="1050" dirty="0">
                <a:solidFill>
                  <a:srgbClr val="C8D0DC"/>
                </a:solidFill>
              </a:rPr>
              <a:t>·  Point out: tool caught that row counts and LTV max changed before Power BI touched anything</a:t>
            </a:r>
            <a:endParaRPr lang="en-US" sz="1050" dirty="0"/>
          </a:p>
        </p:txBody>
      </p:sp>
      <p:sp>
        <p:nvSpPr>
          <p:cNvPr id="19" name="Text 17"/>
          <p:cNvSpPr/>
          <p:nvPr/>
        </p:nvSpPr>
        <p:spPr>
          <a:xfrm>
            <a:off x="4892040" y="2697480"/>
            <a:ext cx="3977640" cy="301752"/>
          </a:xfrm>
          <a:prstGeom prst="rect">
            <a:avLst/>
          </a:prstGeom>
          <a:noFill/>
          <a:ln/>
        </p:spPr>
        <p:txBody>
          <a:bodyPr wrap="square" lIns="0" tIns="0" rIns="0" bIns="0" rtlCol="0" anchor="ctr"/>
          <a:lstStyle/>
          <a:p>
            <a:pPr marL="0" indent="0">
              <a:buNone/>
            </a:pPr>
            <a:r>
              <a:rPr lang="en-US" sz="1050" dirty="0">
                <a:solidFill>
                  <a:srgbClr val="C8D0DC"/>
                </a:solidFill>
              </a:rPr>
              <a:t>·  Show accordion UI: click to expand any finding</a:t>
            </a:r>
            <a:endParaRPr lang="en-US" sz="1050" dirty="0"/>
          </a:p>
        </p:txBody>
      </p:sp>
      <p:sp>
        <p:nvSpPr>
          <p:cNvPr id="20" name="Shape 18"/>
          <p:cNvSpPr/>
          <p:nvPr/>
        </p:nvSpPr>
        <p:spPr>
          <a:xfrm>
            <a:off x="365760" y="3182112"/>
            <a:ext cx="4206240" cy="1691640"/>
          </a:xfrm>
          <a:prstGeom prst="rect">
            <a:avLst/>
          </a:prstGeom>
          <a:solidFill>
            <a:srgbClr val="253A56"/>
          </a:solidFill>
          <a:ln w="12700">
            <a:solidFill>
              <a:srgbClr val="3A527A"/>
            </a:solidFill>
            <a:prstDash val="solid"/>
          </a:ln>
        </p:spPr>
        <p:txBody>
          <a:bodyPr/>
          <a:lstStyle/>
          <a:p>
            <a:endParaRPr lang="en-CH"/>
          </a:p>
        </p:txBody>
      </p:sp>
      <p:sp>
        <p:nvSpPr>
          <p:cNvPr id="21" name="Shape 19"/>
          <p:cNvSpPr/>
          <p:nvPr/>
        </p:nvSpPr>
        <p:spPr>
          <a:xfrm>
            <a:off x="365760" y="3182112"/>
            <a:ext cx="4206240" cy="365760"/>
          </a:xfrm>
          <a:prstGeom prst="rect">
            <a:avLst/>
          </a:prstGeom>
          <a:solidFill>
            <a:srgbClr val="B89650"/>
          </a:solidFill>
          <a:ln/>
        </p:spPr>
        <p:txBody>
          <a:bodyPr/>
          <a:lstStyle/>
          <a:p>
            <a:endParaRPr lang="en-CH"/>
          </a:p>
        </p:txBody>
      </p:sp>
      <p:sp>
        <p:nvSpPr>
          <p:cNvPr id="22" name="Text 20"/>
          <p:cNvSpPr/>
          <p:nvPr/>
        </p:nvSpPr>
        <p:spPr>
          <a:xfrm>
            <a:off x="457200" y="3182112"/>
            <a:ext cx="4023360" cy="365760"/>
          </a:xfrm>
          <a:prstGeom prst="rect">
            <a:avLst/>
          </a:prstGeom>
          <a:noFill/>
          <a:ln/>
        </p:spPr>
        <p:txBody>
          <a:bodyPr wrap="square" lIns="0" tIns="0" rIns="0" bIns="0" rtlCol="0" anchor="ctr"/>
          <a:lstStyle/>
          <a:p>
            <a:pPr marL="0" indent="0">
              <a:buNone/>
            </a:pPr>
            <a:r>
              <a:rPr lang="en-US" sz="1000" b="1" dirty="0">
                <a:solidFill>
                  <a:srgbClr val="1C2B4A"/>
                </a:solidFill>
              </a:rPr>
              <a:t>3   Live demo — Power BI</a:t>
            </a:r>
            <a:endParaRPr lang="en-US" sz="1000" dirty="0"/>
          </a:p>
        </p:txBody>
      </p:sp>
      <p:sp>
        <p:nvSpPr>
          <p:cNvPr id="23" name="Text 21"/>
          <p:cNvSpPr/>
          <p:nvPr/>
        </p:nvSpPr>
        <p:spPr>
          <a:xfrm>
            <a:off x="502920" y="3593592"/>
            <a:ext cx="3977640" cy="301752"/>
          </a:xfrm>
          <a:prstGeom prst="rect">
            <a:avLst/>
          </a:prstGeom>
          <a:noFill/>
          <a:ln/>
        </p:spPr>
        <p:txBody>
          <a:bodyPr wrap="square" lIns="0" tIns="0" rIns="0" bIns="0" rtlCol="0" anchor="ctr"/>
          <a:lstStyle/>
          <a:p>
            <a:pPr marL="0" indent="0">
              <a:buNone/>
            </a:pPr>
            <a:r>
              <a:rPr lang="en-US" sz="1050" dirty="0">
                <a:solidFill>
                  <a:srgbClr val="C8D0DC"/>
                </a:solidFill>
              </a:rPr>
              <a:t>·  Home → Transform Data → Data Source Settings → Change Source</a:t>
            </a:r>
            <a:endParaRPr lang="en-US" sz="1050" dirty="0"/>
          </a:p>
        </p:txBody>
      </p:sp>
      <p:sp>
        <p:nvSpPr>
          <p:cNvPr id="24" name="Text 22"/>
          <p:cNvSpPr/>
          <p:nvPr/>
        </p:nvSpPr>
        <p:spPr>
          <a:xfrm>
            <a:off x="502920" y="3904488"/>
            <a:ext cx="3977640" cy="301752"/>
          </a:xfrm>
          <a:prstGeom prst="rect">
            <a:avLst/>
          </a:prstGeom>
          <a:noFill/>
          <a:ln/>
        </p:spPr>
        <p:txBody>
          <a:bodyPr wrap="square" lIns="0" tIns="0" rIns="0" bIns="0" rtlCol="0" anchor="ctr"/>
          <a:lstStyle/>
          <a:p>
            <a:pPr marL="0" indent="0">
              <a:buNone/>
            </a:pPr>
            <a:r>
              <a:rPr lang="en-US" sz="1050" dirty="0">
                <a:solidFill>
                  <a:srgbClr val="C8D0DC"/>
                </a:solidFill>
              </a:rPr>
              <a:t>·  Point to new files → Close &amp; Apply → Refresh</a:t>
            </a:r>
            <a:endParaRPr lang="en-US" sz="1050" dirty="0"/>
          </a:p>
        </p:txBody>
      </p:sp>
      <p:sp>
        <p:nvSpPr>
          <p:cNvPr id="25" name="Text 23"/>
          <p:cNvSpPr/>
          <p:nvPr/>
        </p:nvSpPr>
        <p:spPr>
          <a:xfrm>
            <a:off x="502920" y="4215384"/>
            <a:ext cx="3977640" cy="301752"/>
          </a:xfrm>
          <a:prstGeom prst="rect">
            <a:avLst/>
          </a:prstGeom>
          <a:noFill/>
          <a:ln/>
        </p:spPr>
        <p:txBody>
          <a:bodyPr wrap="square" lIns="0" tIns="0" rIns="0" bIns="0" rtlCol="0" anchor="ctr"/>
          <a:lstStyle/>
          <a:p>
            <a:pPr marL="0" indent="0">
              <a:buNone/>
            </a:pPr>
            <a:r>
              <a:rPr lang="en-US" sz="1050" dirty="0">
                <a:solidFill>
                  <a:srgbClr val="C8D0DC"/>
                </a:solidFill>
              </a:rPr>
              <a:t>·  Dashboard updates automatically with new data</a:t>
            </a:r>
            <a:endParaRPr lang="en-US" sz="1050" dirty="0"/>
          </a:p>
        </p:txBody>
      </p:sp>
      <p:sp>
        <p:nvSpPr>
          <p:cNvPr id="26" name="Text 24"/>
          <p:cNvSpPr/>
          <p:nvPr/>
        </p:nvSpPr>
        <p:spPr>
          <a:xfrm>
            <a:off x="502920" y="4526280"/>
            <a:ext cx="3977640" cy="301752"/>
          </a:xfrm>
          <a:prstGeom prst="rect">
            <a:avLst/>
          </a:prstGeom>
          <a:noFill/>
          <a:ln/>
        </p:spPr>
        <p:txBody>
          <a:bodyPr wrap="square" lIns="0" tIns="0" rIns="0" bIns="0" rtlCol="0" anchor="ctr"/>
          <a:lstStyle/>
          <a:p>
            <a:pPr marL="0" indent="0">
              <a:buNone/>
            </a:pPr>
            <a:r>
              <a:rPr lang="en-US" sz="1050" dirty="0">
                <a:solidFill>
                  <a:srgbClr val="C8D0DC"/>
                </a:solidFill>
              </a:rPr>
              <a:t>·  Drillthrough demo: right-click bar on P2 → Drill through → Transaction Detail</a:t>
            </a:r>
            <a:endParaRPr lang="en-US" sz="1050" dirty="0"/>
          </a:p>
        </p:txBody>
      </p:sp>
      <p:sp>
        <p:nvSpPr>
          <p:cNvPr id="27" name="Shape 25"/>
          <p:cNvSpPr/>
          <p:nvPr/>
        </p:nvSpPr>
        <p:spPr>
          <a:xfrm>
            <a:off x="4754880" y="3182112"/>
            <a:ext cx="4206240" cy="1691640"/>
          </a:xfrm>
          <a:prstGeom prst="rect">
            <a:avLst/>
          </a:prstGeom>
          <a:solidFill>
            <a:srgbClr val="253A56"/>
          </a:solidFill>
          <a:ln w="12700">
            <a:solidFill>
              <a:srgbClr val="3A527A"/>
            </a:solidFill>
            <a:prstDash val="solid"/>
          </a:ln>
        </p:spPr>
        <p:txBody>
          <a:bodyPr/>
          <a:lstStyle/>
          <a:p>
            <a:endParaRPr lang="en-CH"/>
          </a:p>
        </p:txBody>
      </p:sp>
      <p:sp>
        <p:nvSpPr>
          <p:cNvPr id="28" name="Shape 26"/>
          <p:cNvSpPr/>
          <p:nvPr/>
        </p:nvSpPr>
        <p:spPr>
          <a:xfrm>
            <a:off x="4754880" y="3182112"/>
            <a:ext cx="4206240" cy="365760"/>
          </a:xfrm>
          <a:prstGeom prst="rect">
            <a:avLst/>
          </a:prstGeom>
          <a:solidFill>
            <a:srgbClr val="B89650"/>
          </a:solidFill>
          <a:ln/>
        </p:spPr>
        <p:txBody>
          <a:bodyPr/>
          <a:lstStyle/>
          <a:p>
            <a:endParaRPr lang="en-CH"/>
          </a:p>
        </p:txBody>
      </p:sp>
      <p:sp>
        <p:nvSpPr>
          <p:cNvPr id="29" name="Text 27"/>
          <p:cNvSpPr/>
          <p:nvPr/>
        </p:nvSpPr>
        <p:spPr>
          <a:xfrm>
            <a:off x="4846320" y="3182112"/>
            <a:ext cx="4023360" cy="365760"/>
          </a:xfrm>
          <a:prstGeom prst="rect">
            <a:avLst/>
          </a:prstGeom>
          <a:noFill/>
          <a:ln/>
        </p:spPr>
        <p:txBody>
          <a:bodyPr wrap="square" lIns="0" tIns="0" rIns="0" bIns="0" rtlCol="0" anchor="ctr"/>
          <a:lstStyle/>
          <a:p>
            <a:pPr marL="0" indent="0">
              <a:buNone/>
            </a:pPr>
            <a:r>
              <a:rPr lang="en-US" sz="1000" b="1" dirty="0">
                <a:solidFill>
                  <a:srgbClr val="1C2B4A"/>
                </a:solidFill>
              </a:rPr>
              <a:t>4   Key points to make</a:t>
            </a:r>
            <a:endParaRPr lang="en-US" sz="1000" dirty="0"/>
          </a:p>
        </p:txBody>
      </p:sp>
      <p:sp>
        <p:nvSpPr>
          <p:cNvPr id="30" name="Text 28"/>
          <p:cNvSpPr/>
          <p:nvPr/>
        </p:nvSpPr>
        <p:spPr>
          <a:xfrm>
            <a:off x="4892040" y="3593592"/>
            <a:ext cx="3977640" cy="301752"/>
          </a:xfrm>
          <a:prstGeom prst="rect">
            <a:avLst/>
          </a:prstGeom>
          <a:noFill/>
          <a:ln/>
        </p:spPr>
        <p:txBody>
          <a:bodyPr wrap="square" lIns="0" tIns="0" rIns="0" bIns="0" rtlCol="0" anchor="ctr"/>
          <a:lstStyle/>
          <a:p>
            <a:pPr marL="0" indent="0">
              <a:buNone/>
            </a:pPr>
            <a:r>
              <a:rPr lang="en-US" sz="1050" dirty="0">
                <a:solidFill>
                  <a:srgbClr val="C8D0DC"/>
                </a:solidFill>
              </a:rPr>
              <a:t>·  Non-technical users can run this without touching a terminal</a:t>
            </a:r>
            <a:endParaRPr lang="en-US" sz="1050" dirty="0"/>
          </a:p>
        </p:txBody>
      </p:sp>
      <p:sp>
        <p:nvSpPr>
          <p:cNvPr id="31" name="Text 29"/>
          <p:cNvSpPr/>
          <p:nvPr/>
        </p:nvSpPr>
        <p:spPr>
          <a:xfrm>
            <a:off x="4892040" y="3904488"/>
            <a:ext cx="3977640" cy="301752"/>
          </a:xfrm>
          <a:prstGeom prst="rect">
            <a:avLst/>
          </a:prstGeom>
          <a:noFill/>
          <a:ln/>
        </p:spPr>
        <p:txBody>
          <a:bodyPr wrap="square" lIns="0" tIns="0" rIns="0" bIns="0" rtlCol="0" anchor="ctr"/>
          <a:lstStyle/>
          <a:p>
            <a:pPr marL="0" indent="0">
              <a:buNone/>
            </a:pPr>
            <a:r>
              <a:rPr lang="en-US" sz="1050" dirty="0">
                <a:solidFill>
                  <a:srgbClr val="C8D0DC"/>
                </a:solidFill>
              </a:rPr>
              <a:t>·  Every DAX measure explicitly filters product-type = LN — future-proofed</a:t>
            </a:r>
            <a:endParaRPr lang="en-US" sz="1050" dirty="0"/>
          </a:p>
        </p:txBody>
      </p:sp>
      <p:sp>
        <p:nvSpPr>
          <p:cNvPr id="32" name="Text 30"/>
          <p:cNvSpPr/>
          <p:nvPr/>
        </p:nvSpPr>
        <p:spPr>
          <a:xfrm>
            <a:off x="4892040" y="4215384"/>
            <a:ext cx="3977640" cy="301752"/>
          </a:xfrm>
          <a:prstGeom prst="rect">
            <a:avLst/>
          </a:prstGeom>
          <a:noFill/>
          <a:ln/>
        </p:spPr>
        <p:txBody>
          <a:bodyPr wrap="square" lIns="0" tIns="0" rIns="0" bIns="0" rtlCol="0" anchor="ctr"/>
          <a:lstStyle/>
          <a:p>
            <a:pPr marL="0" indent="0">
              <a:buNone/>
            </a:pPr>
            <a:r>
              <a:rPr lang="en-US" sz="1050" dirty="0">
                <a:solidFill>
                  <a:srgbClr val="C8D0DC"/>
                </a:solidFill>
              </a:rPr>
              <a:t>·  Fixed LTV gradient thresholds — risk story is always honest, not relative</a:t>
            </a:r>
            <a:endParaRPr lang="en-US" sz="1050" dirty="0"/>
          </a:p>
        </p:txBody>
      </p:sp>
      <p:sp>
        <p:nvSpPr>
          <p:cNvPr id="33" name="Text 31"/>
          <p:cNvSpPr/>
          <p:nvPr/>
        </p:nvSpPr>
        <p:spPr>
          <a:xfrm>
            <a:off x="4892040" y="4526280"/>
            <a:ext cx="3977640" cy="301752"/>
          </a:xfrm>
          <a:prstGeom prst="rect">
            <a:avLst/>
          </a:prstGeom>
          <a:noFill/>
          <a:ln/>
        </p:spPr>
        <p:txBody>
          <a:bodyPr wrap="square" lIns="0" tIns="0" rIns="0" bIns="0" rtlCol="0" anchor="ctr"/>
          <a:lstStyle/>
          <a:p>
            <a:pPr marL="0" indent="0">
              <a:buNone/>
            </a:pPr>
            <a:r>
              <a:rPr lang="en-US" sz="1050" dirty="0">
                <a:solidFill>
                  <a:srgbClr val="C8D0DC"/>
                </a:solidFill>
              </a:rPr>
              <a:t>·  FINMA context: every finding traced to a specific deterministic calculation</a:t>
            </a:r>
            <a:endParaRPr lang="en-US" sz="1050" dirty="0"/>
          </a:p>
        </p:txBody>
      </p:sp>
      <p:sp>
        <p:nvSpPr>
          <p:cNvPr id="34" name="Text 32"/>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Confirmed by the Evaluator</a:t>
            </a:r>
            <a:endParaRPr lang="en-US" sz="26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5" name="Shape 3"/>
          <p:cNvSpPr/>
          <p:nvPr/>
        </p:nvSpPr>
        <p:spPr>
          <a:xfrm>
            <a:off x="365760" y="868680"/>
            <a:ext cx="8412480" cy="2926080"/>
          </a:xfrm>
          <a:prstGeom prst="rect">
            <a:avLst/>
          </a:prstGeom>
          <a:solidFill>
            <a:srgbClr val="FFFFFF"/>
          </a:solidFill>
          <a:ln w="12700">
            <a:solidFill>
              <a:srgbClr val="E8ECF2"/>
            </a:solidFill>
            <a:prstDash val="solid"/>
          </a:ln>
        </p:spPr>
        <p:txBody>
          <a:bodyPr/>
          <a:lstStyle/>
          <a:p>
            <a:endParaRPr lang="en-CH"/>
          </a:p>
        </p:txBody>
      </p:sp>
      <p:sp>
        <p:nvSpPr>
          <p:cNvPr id="6" name="Shape 4"/>
          <p:cNvSpPr/>
          <p:nvPr/>
        </p:nvSpPr>
        <p:spPr>
          <a:xfrm>
            <a:off x="365760" y="868680"/>
            <a:ext cx="8412480" cy="502920"/>
          </a:xfrm>
          <a:prstGeom prst="rect">
            <a:avLst/>
          </a:prstGeom>
          <a:solidFill>
            <a:srgbClr val="1C2B4A"/>
          </a:solidFill>
          <a:ln/>
        </p:spPr>
        <p:txBody>
          <a:bodyPr/>
          <a:lstStyle/>
          <a:p>
            <a:endParaRPr lang="en-CH"/>
          </a:p>
        </p:txBody>
      </p:sp>
      <p:sp>
        <p:nvSpPr>
          <p:cNvPr id="7" name="Text 5"/>
          <p:cNvSpPr/>
          <p:nvPr/>
        </p:nvSpPr>
        <p:spPr>
          <a:xfrm>
            <a:off x="502920" y="868680"/>
            <a:ext cx="8138160" cy="502920"/>
          </a:xfrm>
          <a:prstGeom prst="rect">
            <a:avLst/>
          </a:prstGeom>
          <a:noFill/>
          <a:ln/>
        </p:spPr>
        <p:txBody>
          <a:bodyPr wrap="square" lIns="0" tIns="0" rIns="0" bIns="0" rtlCol="0" anchor="ctr"/>
          <a:lstStyle/>
          <a:p>
            <a:pPr marL="0" indent="0">
              <a:buNone/>
            </a:pPr>
            <a:r>
              <a:rPr lang="en-US" sz="900" dirty="0">
                <a:solidFill>
                  <a:srgbClr val="C8D0DC"/>
                </a:solidFill>
              </a:rPr>
              <a:t>📧  Re: Business Case — Dataset Question    ·    1 April 2026 14:07    ·    From: eric.dellanegra@graian.com</a:t>
            </a:r>
            <a:endParaRPr lang="en-US" sz="900" dirty="0"/>
          </a:p>
        </p:txBody>
      </p:sp>
      <p:sp>
        <p:nvSpPr>
          <p:cNvPr id="8" name="Text 6"/>
          <p:cNvSpPr/>
          <p:nvPr/>
        </p:nvSpPr>
        <p:spPr>
          <a:xfrm>
            <a:off x="640080" y="1481328"/>
            <a:ext cx="7863840" cy="411480"/>
          </a:xfrm>
          <a:prstGeom prst="rect">
            <a:avLst/>
          </a:prstGeom>
          <a:noFill/>
          <a:ln/>
        </p:spPr>
        <p:txBody>
          <a:bodyPr wrap="square" lIns="0" tIns="0" rIns="0" bIns="0" rtlCol="0" anchor="ctr"/>
          <a:lstStyle/>
          <a:p>
            <a:pPr marL="0" indent="0">
              <a:buNone/>
            </a:pPr>
            <a:r>
              <a:rPr lang="en-US" sz="1800" b="1" dirty="0">
                <a:solidFill>
                  <a:srgbClr val="1C2B4A"/>
                </a:solidFill>
              </a:rPr>
              <a:t>"Yes, same data structure. Only data may change.</a:t>
            </a:r>
            <a:endParaRPr lang="en-US" sz="1800" dirty="0"/>
          </a:p>
        </p:txBody>
      </p:sp>
      <p:sp>
        <p:nvSpPr>
          <p:cNvPr id="9" name="Text 7"/>
          <p:cNvSpPr/>
          <p:nvPr/>
        </p:nvSpPr>
        <p:spPr>
          <a:xfrm>
            <a:off x="640080" y="1874520"/>
            <a:ext cx="7863840" cy="411480"/>
          </a:xfrm>
          <a:prstGeom prst="rect">
            <a:avLst/>
          </a:prstGeom>
          <a:noFill/>
          <a:ln/>
        </p:spPr>
        <p:txBody>
          <a:bodyPr wrap="square" lIns="0" tIns="0" rIns="0" bIns="0" rtlCol="0" anchor="ctr"/>
          <a:lstStyle/>
          <a:p>
            <a:pPr marL="0" indent="0">
              <a:buNone/>
            </a:pPr>
            <a:r>
              <a:rPr lang="en-US" sz="1800" b="1" dirty="0">
                <a:solidFill>
                  <a:srgbClr val="1C2B4A"/>
                </a:solidFill>
              </a:rPr>
              <a:t>The idea behind this is to ensure the tool embeds a proper and safe update process."</a:t>
            </a:r>
            <a:endParaRPr lang="en-US" sz="1800" dirty="0"/>
          </a:p>
        </p:txBody>
      </p:sp>
      <p:sp>
        <p:nvSpPr>
          <p:cNvPr id="10" name="Text 8"/>
          <p:cNvSpPr/>
          <p:nvPr/>
        </p:nvSpPr>
        <p:spPr>
          <a:xfrm>
            <a:off x="640080" y="2377440"/>
            <a:ext cx="7863840" cy="320040"/>
          </a:xfrm>
          <a:prstGeom prst="rect">
            <a:avLst/>
          </a:prstGeom>
          <a:noFill/>
          <a:ln/>
        </p:spPr>
        <p:txBody>
          <a:bodyPr wrap="square" lIns="0" tIns="0" rIns="0" bIns="0" rtlCol="0" anchor="ctr"/>
          <a:lstStyle/>
          <a:p>
            <a:pPr marL="0" indent="0">
              <a:buNone/>
            </a:pPr>
            <a:r>
              <a:rPr lang="en-US" sz="1000" i="1" dirty="0">
                <a:solidFill>
                  <a:srgbClr val="6B7280"/>
                </a:solidFill>
              </a:rPr>
              <a:t>— Eric Della-Negra, COO, Graian Capital Management SA</a:t>
            </a:r>
            <a:endParaRPr lang="en-US" sz="1000" dirty="0"/>
          </a:p>
        </p:txBody>
      </p:sp>
      <p:sp>
        <p:nvSpPr>
          <p:cNvPr id="11" name="Text 9"/>
          <p:cNvSpPr/>
          <p:nvPr/>
        </p:nvSpPr>
        <p:spPr>
          <a:xfrm>
            <a:off x="365760" y="3931920"/>
            <a:ext cx="2011680" cy="320040"/>
          </a:xfrm>
          <a:prstGeom prst="rect">
            <a:avLst/>
          </a:prstGeom>
          <a:noFill/>
          <a:ln/>
        </p:spPr>
        <p:txBody>
          <a:bodyPr wrap="square" lIns="0" tIns="0" rIns="0" bIns="0" rtlCol="0" anchor="ctr"/>
          <a:lstStyle/>
          <a:p>
            <a:pPr marL="0" indent="0">
              <a:buNone/>
            </a:pPr>
            <a:r>
              <a:rPr lang="en-US" sz="1100" b="1" dirty="0">
                <a:solidFill>
                  <a:srgbClr val="1C2B4A"/>
                </a:solidFill>
              </a:rPr>
              <a:t>'Same structure' means:</a:t>
            </a:r>
            <a:endParaRPr lang="en-US" sz="1100" dirty="0"/>
          </a:p>
        </p:txBody>
      </p:sp>
      <p:sp>
        <p:nvSpPr>
          <p:cNvPr id="12" name="Text 10"/>
          <p:cNvSpPr/>
          <p:nvPr/>
        </p:nvSpPr>
        <p:spPr>
          <a:xfrm>
            <a:off x="365760" y="4251960"/>
            <a:ext cx="4023360" cy="274320"/>
          </a:xfrm>
          <a:prstGeom prst="rect">
            <a:avLst/>
          </a:prstGeom>
          <a:noFill/>
          <a:ln/>
        </p:spPr>
        <p:txBody>
          <a:bodyPr wrap="square" lIns="0" tIns="0" rIns="0" bIns="0" rtlCol="0" anchor="ctr"/>
          <a:lstStyle/>
          <a:p>
            <a:pPr marL="0" indent="0">
              <a:buNone/>
            </a:pPr>
            <a:r>
              <a:rPr lang="en-US" sz="950" dirty="0">
                <a:solidFill>
                  <a:srgbClr val="1A202C"/>
                </a:solidFill>
              </a:rPr>
              <a:t>✅  Same column names in every table</a:t>
            </a:r>
            <a:endParaRPr lang="en-US" sz="950" dirty="0"/>
          </a:p>
        </p:txBody>
      </p:sp>
      <p:sp>
        <p:nvSpPr>
          <p:cNvPr id="13" name="Text 11"/>
          <p:cNvSpPr/>
          <p:nvPr/>
        </p:nvSpPr>
        <p:spPr>
          <a:xfrm>
            <a:off x="365760" y="4562856"/>
            <a:ext cx="4023360" cy="274320"/>
          </a:xfrm>
          <a:prstGeom prst="rect">
            <a:avLst/>
          </a:prstGeom>
          <a:noFill/>
          <a:ln/>
        </p:spPr>
        <p:txBody>
          <a:bodyPr wrap="square" lIns="0" tIns="0" rIns="0" bIns="0" rtlCol="0" anchor="ctr"/>
          <a:lstStyle/>
          <a:p>
            <a:pPr marL="0" indent="0">
              <a:buNone/>
            </a:pPr>
            <a:r>
              <a:rPr lang="en-US" sz="950" dirty="0">
                <a:solidFill>
                  <a:srgbClr val="1A202C"/>
                </a:solidFill>
              </a:rPr>
              <a:t>✅  Same sheet names in the Excel file (products · transactions · portfolios)</a:t>
            </a:r>
            <a:endParaRPr lang="en-US" sz="950" dirty="0"/>
          </a:p>
        </p:txBody>
      </p:sp>
      <p:sp>
        <p:nvSpPr>
          <p:cNvPr id="14" name="Text 12"/>
          <p:cNvSpPr/>
          <p:nvPr/>
        </p:nvSpPr>
        <p:spPr>
          <a:xfrm>
            <a:off x="4572000" y="4251960"/>
            <a:ext cx="4023360" cy="274320"/>
          </a:xfrm>
          <a:prstGeom prst="rect">
            <a:avLst/>
          </a:prstGeom>
          <a:noFill/>
          <a:ln/>
        </p:spPr>
        <p:txBody>
          <a:bodyPr wrap="square" lIns="0" tIns="0" rIns="0" bIns="0" rtlCol="0" anchor="ctr"/>
          <a:lstStyle/>
          <a:p>
            <a:pPr marL="0" indent="0">
              <a:buNone/>
            </a:pPr>
            <a:r>
              <a:rPr lang="en-US" sz="950" dirty="0">
                <a:solidFill>
                  <a:srgbClr val="1A202C"/>
                </a:solidFill>
              </a:rPr>
              <a:t>✅  Same file format (.xlsx and .csv)</a:t>
            </a:r>
            <a:endParaRPr lang="en-US" sz="950" dirty="0"/>
          </a:p>
        </p:txBody>
      </p:sp>
      <p:sp>
        <p:nvSpPr>
          <p:cNvPr id="15" name="Text 13"/>
          <p:cNvSpPr/>
          <p:nvPr/>
        </p:nvSpPr>
        <p:spPr>
          <a:xfrm>
            <a:off x="4572000" y="4562856"/>
            <a:ext cx="4023360" cy="274320"/>
          </a:xfrm>
          <a:prstGeom prst="rect">
            <a:avLst/>
          </a:prstGeom>
          <a:noFill/>
          <a:ln/>
        </p:spPr>
        <p:txBody>
          <a:bodyPr wrap="square" lIns="0" tIns="0" rIns="0" bIns="0" rtlCol="0" anchor="ctr"/>
          <a:lstStyle/>
          <a:p>
            <a:pPr marL="0" indent="0">
              <a:buNone/>
            </a:pPr>
            <a:r>
              <a:rPr lang="en-US" sz="950" dirty="0">
                <a:solidFill>
                  <a:srgbClr val="1A202C"/>
                </a:solidFill>
              </a:rPr>
              <a:t>✅  Data VALUES change — the pipeline handles this automatically</a:t>
            </a:r>
            <a:endParaRPr lang="en-US" sz="950" dirty="0"/>
          </a:p>
        </p:txBody>
      </p:sp>
      <p:sp>
        <p:nvSpPr>
          <p:cNvPr id="16" name="Text 14"/>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Text 1"/>
          <p:cNvSpPr/>
          <p:nvPr/>
        </p:nvSpPr>
        <p:spPr>
          <a:xfrm>
            <a:off x="365760" y="228600"/>
            <a:ext cx="8412480" cy="502920"/>
          </a:xfrm>
          <a:prstGeom prst="rect">
            <a:avLst/>
          </a:prstGeom>
          <a:noFill/>
          <a:ln/>
        </p:spPr>
        <p:txBody>
          <a:bodyPr wrap="square" lIns="0" tIns="0" rIns="0" bIns="0" rtlCol="0" anchor="ctr"/>
          <a:lstStyle/>
          <a:p>
            <a:pPr marL="0" indent="0">
              <a:buNone/>
            </a:pPr>
            <a:r>
              <a:rPr lang="en-US" sz="2600" b="1" dirty="0">
                <a:solidFill>
                  <a:srgbClr val="1C2B4A"/>
                </a:solidFill>
              </a:rPr>
              <a:t>Known Limitations &amp; Roadmap</a:t>
            </a:r>
            <a:endParaRPr lang="en-US" sz="2600" dirty="0"/>
          </a:p>
        </p:txBody>
      </p:sp>
      <p:sp>
        <p:nvSpPr>
          <p:cNvPr id="4" name="Shape 2"/>
          <p:cNvSpPr/>
          <p:nvPr/>
        </p:nvSpPr>
        <p:spPr>
          <a:xfrm>
            <a:off x="365760" y="713232"/>
            <a:ext cx="8412480" cy="27432"/>
          </a:xfrm>
          <a:prstGeom prst="rect">
            <a:avLst/>
          </a:prstGeom>
          <a:solidFill>
            <a:srgbClr val="E8ECF2"/>
          </a:solidFill>
          <a:ln/>
        </p:spPr>
        <p:txBody>
          <a:bodyPr/>
          <a:lstStyle/>
          <a:p>
            <a:endParaRPr lang="en-CH"/>
          </a:p>
        </p:txBody>
      </p:sp>
      <p:sp>
        <p:nvSpPr>
          <p:cNvPr id="5" name="Text 3"/>
          <p:cNvSpPr/>
          <p:nvPr/>
        </p:nvSpPr>
        <p:spPr>
          <a:xfrm>
            <a:off x="365760" y="841248"/>
            <a:ext cx="4023360" cy="320040"/>
          </a:xfrm>
          <a:prstGeom prst="rect">
            <a:avLst/>
          </a:prstGeom>
          <a:noFill/>
          <a:ln/>
        </p:spPr>
        <p:txBody>
          <a:bodyPr wrap="square" lIns="0" tIns="0" rIns="0" bIns="0" rtlCol="0" anchor="ctr"/>
          <a:lstStyle/>
          <a:p>
            <a:pPr marL="0" indent="0">
              <a:buNone/>
            </a:pPr>
            <a:r>
              <a:rPr lang="en-US" sz="1300" b="1" dirty="0">
                <a:solidFill>
                  <a:srgbClr val="1C2B4A"/>
                </a:solidFill>
              </a:rPr>
              <a:t>Current Scope</a:t>
            </a:r>
            <a:endParaRPr lang="en-US" sz="1300" dirty="0"/>
          </a:p>
        </p:txBody>
      </p:sp>
      <p:sp>
        <p:nvSpPr>
          <p:cNvPr id="6" name="Shape 4"/>
          <p:cNvSpPr/>
          <p:nvPr/>
        </p:nvSpPr>
        <p:spPr>
          <a:xfrm>
            <a:off x="365760" y="1234440"/>
            <a:ext cx="4023360" cy="576072"/>
          </a:xfrm>
          <a:prstGeom prst="rect">
            <a:avLst/>
          </a:prstGeom>
          <a:solidFill>
            <a:srgbClr val="FFFFFF"/>
          </a:solidFill>
          <a:ln w="12700">
            <a:solidFill>
              <a:srgbClr val="E8ECF2"/>
            </a:solidFill>
            <a:prstDash val="solid"/>
          </a:ln>
        </p:spPr>
        <p:txBody>
          <a:bodyPr/>
          <a:lstStyle/>
          <a:p>
            <a:endParaRPr lang="en-CH"/>
          </a:p>
        </p:txBody>
      </p:sp>
      <p:sp>
        <p:nvSpPr>
          <p:cNvPr id="7" name="Text 5"/>
          <p:cNvSpPr/>
          <p:nvPr/>
        </p:nvSpPr>
        <p:spPr>
          <a:xfrm>
            <a:off x="502920" y="1261872"/>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Single user only</a:t>
            </a:r>
            <a:endParaRPr lang="en-US" sz="950" dirty="0"/>
          </a:p>
        </p:txBody>
      </p:sp>
      <p:sp>
        <p:nvSpPr>
          <p:cNvPr id="8" name="Text 6"/>
          <p:cNvSpPr/>
          <p:nvPr/>
        </p:nvSpPr>
        <p:spPr>
          <a:xfrm>
            <a:off x="502920" y="1490472"/>
            <a:ext cx="3749040" cy="256032"/>
          </a:xfrm>
          <a:prstGeom prst="rect">
            <a:avLst/>
          </a:prstGeom>
          <a:noFill/>
          <a:ln/>
        </p:spPr>
        <p:txBody>
          <a:bodyPr wrap="square" lIns="0" tIns="0" rIns="0" bIns="0" rtlCol="0" anchor="ctr"/>
          <a:lstStyle/>
          <a:p>
            <a:pPr marL="0" indent="0">
              <a:buNone/>
            </a:pPr>
            <a:r>
              <a:rPr lang="en-US" sz="850" dirty="0">
                <a:solidFill>
                  <a:srgbClr val="6B7280"/>
                </a:solidFill>
              </a:rPr>
              <a:t>localhost:5000 serves one user at a time. Multi-user requires gunicorn.</a:t>
            </a:r>
            <a:endParaRPr lang="en-US" sz="850" dirty="0"/>
          </a:p>
        </p:txBody>
      </p:sp>
      <p:sp>
        <p:nvSpPr>
          <p:cNvPr id="9" name="Shape 7"/>
          <p:cNvSpPr/>
          <p:nvPr/>
        </p:nvSpPr>
        <p:spPr>
          <a:xfrm>
            <a:off x="365760" y="1883664"/>
            <a:ext cx="4023360" cy="576072"/>
          </a:xfrm>
          <a:prstGeom prst="rect">
            <a:avLst/>
          </a:prstGeom>
          <a:solidFill>
            <a:srgbClr val="FFFFFF"/>
          </a:solidFill>
          <a:ln w="12700">
            <a:solidFill>
              <a:srgbClr val="E8ECF2"/>
            </a:solidFill>
            <a:prstDash val="solid"/>
          </a:ln>
        </p:spPr>
        <p:txBody>
          <a:bodyPr/>
          <a:lstStyle/>
          <a:p>
            <a:endParaRPr lang="en-CH"/>
          </a:p>
        </p:txBody>
      </p:sp>
      <p:sp>
        <p:nvSpPr>
          <p:cNvPr id="10" name="Text 8"/>
          <p:cNvSpPr/>
          <p:nvPr/>
        </p:nvSpPr>
        <p:spPr>
          <a:xfrm>
            <a:off x="502920" y="1911096"/>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No authentication</a:t>
            </a:r>
            <a:endParaRPr lang="en-US" sz="950" dirty="0"/>
          </a:p>
        </p:txBody>
      </p:sp>
      <p:sp>
        <p:nvSpPr>
          <p:cNvPr id="11" name="Text 9"/>
          <p:cNvSpPr/>
          <p:nvPr/>
        </p:nvSpPr>
        <p:spPr>
          <a:xfrm>
            <a:off x="502920" y="2139696"/>
            <a:ext cx="3749040" cy="256032"/>
          </a:xfrm>
          <a:prstGeom prst="rect">
            <a:avLst/>
          </a:prstGeom>
          <a:noFill/>
          <a:ln/>
        </p:spPr>
        <p:txBody>
          <a:bodyPr wrap="square" lIns="0" tIns="0" rIns="0" bIns="0" rtlCol="0" anchor="ctr"/>
          <a:lstStyle/>
          <a:p>
            <a:pPr marL="0" indent="0">
              <a:buNone/>
            </a:pPr>
            <a:r>
              <a:rPr lang="en-US" sz="850" dirty="0">
                <a:solidFill>
                  <a:srgbClr val="6B7280"/>
                </a:solidFill>
              </a:rPr>
              <a:t>Anyone on the same network can access. Acceptable for internal demo.</a:t>
            </a:r>
            <a:endParaRPr lang="en-US" sz="850" dirty="0"/>
          </a:p>
        </p:txBody>
      </p:sp>
      <p:sp>
        <p:nvSpPr>
          <p:cNvPr id="12" name="Shape 10"/>
          <p:cNvSpPr/>
          <p:nvPr/>
        </p:nvSpPr>
        <p:spPr>
          <a:xfrm>
            <a:off x="365760" y="2532888"/>
            <a:ext cx="4023360" cy="576072"/>
          </a:xfrm>
          <a:prstGeom prst="rect">
            <a:avLst/>
          </a:prstGeom>
          <a:solidFill>
            <a:srgbClr val="FFFFFF"/>
          </a:solidFill>
          <a:ln w="12700">
            <a:solidFill>
              <a:srgbClr val="E8ECF2"/>
            </a:solidFill>
            <a:prstDash val="solid"/>
          </a:ln>
        </p:spPr>
        <p:txBody>
          <a:bodyPr/>
          <a:lstStyle/>
          <a:p>
            <a:endParaRPr lang="en-CH"/>
          </a:p>
        </p:txBody>
      </p:sp>
      <p:sp>
        <p:nvSpPr>
          <p:cNvPr id="13" name="Text 11"/>
          <p:cNvSpPr/>
          <p:nvPr/>
        </p:nvSpPr>
        <p:spPr>
          <a:xfrm>
            <a:off x="502920" y="2560320"/>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ML not appropriate</a:t>
            </a:r>
            <a:endParaRPr lang="en-US" sz="950" dirty="0"/>
          </a:p>
        </p:txBody>
      </p:sp>
      <p:sp>
        <p:nvSpPr>
          <p:cNvPr id="14" name="Text 12"/>
          <p:cNvSpPr/>
          <p:nvPr/>
        </p:nvSpPr>
        <p:spPr>
          <a:xfrm>
            <a:off x="502920" y="2788920"/>
            <a:ext cx="3749040" cy="256032"/>
          </a:xfrm>
          <a:prstGeom prst="rect">
            <a:avLst/>
          </a:prstGeom>
          <a:noFill/>
          <a:ln/>
        </p:spPr>
        <p:txBody>
          <a:bodyPr wrap="square" lIns="0" tIns="0" rIns="0" bIns="0" rtlCol="0" anchor="ctr"/>
          <a:lstStyle/>
          <a:p>
            <a:pPr marL="0" indent="0">
              <a:buNone/>
            </a:pPr>
            <a:r>
              <a:rPr lang="en-US" sz="850" dirty="0">
                <a:solidFill>
                  <a:srgbClr val="6B7280"/>
                </a:solidFill>
              </a:rPr>
              <a:t>80–180 rows is too small for ML training signal. All checks are statistical.</a:t>
            </a:r>
            <a:endParaRPr lang="en-US" sz="850" dirty="0"/>
          </a:p>
        </p:txBody>
      </p:sp>
      <p:sp>
        <p:nvSpPr>
          <p:cNvPr id="15" name="Shape 13"/>
          <p:cNvSpPr/>
          <p:nvPr/>
        </p:nvSpPr>
        <p:spPr>
          <a:xfrm>
            <a:off x="365760" y="3182112"/>
            <a:ext cx="4023360" cy="576072"/>
          </a:xfrm>
          <a:prstGeom prst="rect">
            <a:avLst/>
          </a:prstGeom>
          <a:solidFill>
            <a:srgbClr val="FFFFFF"/>
          </a:solidFill>
          <a:ln w="12700">
            <a:solidFill>
              <a:srgbClr val="E8ECF2"/>
            </a:solidFill>
            <a:prstDash val="solid"/>
          </a:ln>
        </p:spPr>
        <p:txBody>
          <a:bodyPr/>
          <a:lstStyle/>
          <a:p>
            <a:endParaRPr lang="en-CH"/>
          </a:p>
        </p:txBody>
      </p:sp>
      <p:sp>
        <p:nvSpPr>
          <p:cNvPr id="16" name="Text 14"/>
          <p:cNvSpPr/>
          <p:nvPr/>
        </p:nvSpPr>
        <p:spPr>
          <a:xfrm>
            <a:off x="502920" y="3209544"/>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No scheduled refresh</a:t>
            </a:r>
            <a:endParaRPr lang="en-US" sz="950" dirty="0"/>
          </a:p>
        </p:txBody>
      </p:sp>
      <p:sp>
        <p:nvSpPr>
          <p:cNvPr id="17" name="Text 15"/>
          <p:cNvSpPr/>
          <p:nvPr/>
        </p:nvSpPr>
        <p:spPr>
          <a:xfrm>
            <a:off x="502920" y="3438144"/>
            <a:ext cx="3749040" cy="256032"/>
          </a:xfrm>
          <a:prstGeom prst="rect">
            <a:avLst/>
          </a:prstGeom>
          <a:noFill/>
          <a:ln/>
        </p:spPr>
        <p:txBody>
          <a:bodyPr wrap="square" lIns="0" tIns="0" rIns="0" bIns="0" rtlCol="0" anchor="ctr"/>
          <a:lstStyle/>
          <a:p>
            <a:pPr marL="0" indent="0">
              <a:buNone/>
            </a:pPr>
            <a:r>
              <a:rPr lang="en-US" sz="850" dirty="0">
                <a:solidFill>
                  <a:srgbClr val="6B7280"/>
                </a:solidFill>
              </a:rPr>
              <a:t>Power BI Desktop requires manual refresh. Power BI Service needed for automation.</a:t>
            </a:r>
            <a:endParaRPr lang="en-US" sz="850" dirty="0"/>
          </a:p>
        </p:txBody>
      </p:sp>
      <p:sp>
        <p:nvSpPr>
          <p:cNvPr id="18" name="Shape 16"/>
          <p:cNvSpPr/>
          <p:nvPr/>
        </p:nvSpPr>
        <p:spPr>
          <a:xfrm>
            <a:off x="365760" y="3831336"/>
            <a:ext cx="4023360" cy="576072"/>
          </a:xfrm>
          <a:prstGeom prst="rect">
            <a:avLst/>
          </a:prstGeom>
          <a:solidFill>
            <a:srgbClr val="FFFFFF"/>
          </a:solidFill>
          <a:ln w="12700">
            <a:solidFill>
              <a:srgbClr val="E8ECF2"/>
            </a:solidFill>
            <a:prstDash val="solid"/>
          </a:ln>
        </p:spPr>
        <p:txBody>
          <a:bodyPr/>
          <a:lstStyle/>
          <a:p>
            <a:endParaRPr lang="en-CH"/>
          </a:p>
        </p:txBody>
      </p:sp>
      <p:sp>
        <p:nvSpPr>
          <p:cNvPr id="19" name="Text 17"/>
          <p:cNvSpPr/>
          <p:nvPr/>
        </p:nvSpPr>
        <p:spPr>
          <a:xfrm>
            <a:off x="502920" y="3858768"/>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Sessions not auto-cleaned</a:t>
            </a:r>
            <a:endParaRPr lang="en-US" sz="950" dirty="0"/>
          </a:p>
        </p:txBody>
      </p:sp>
      <p:sp>
        <p:nvSpPr>
          <p:cNvPr id="20" name="Text 18"/>
          <p:cNvSpPr/>
          <p:nvPr/>
        </p:nvSpPr>
        <p:spPr>
          <a:xfrm>
            <a:off x="502920" y="4087368"/>
            <a:ext cx="3749040" cy="256032"/>
          </a:xfrm>
          <a:prstGeom prst="rect">
            <a:avLst/>
          </a:prstGeom>
          <a:noFill/>
          <a:ln/>
        </p:spPr>
        <p:txBody>
          <a:bodyPr wrap="square" lIns="0" tIns="0" rIns="0" bIns="0" rtlCol="0" anchor="ctr"/>
          <a:lstStyle/>
          <a:p>
            <a:pPr marL="0" indent="0">
              <a:buNone/>
            </a:pPr>
            <a:r>
              <a:rPr lang="en-US" sz="850" dirty="0">
                <a:solidFill>
                  <a:srgbClr val="6B7280"/>
                </a:solidFill>
              </a:rPr>
              <a:t>output/sessions/ grows over time. Delete old session folders manually.</a:t>
            </a:r>
            <a:endParaRPr lang="en-US" sz="850" dirty="0"/>
          </a:p>
        </p:txBody>
      </p:sp>
      <p:sp>
        <p:nvSpPr>
          <p:cNvPr id="21" name="Text 19"/>
          <p:cNvSpPr/>
          <p:nvPr/>
        </p:nvSpPr>
        <p:spPr>
          <a:xfrm>
            <a:off x="4754880" y="841248"/>
            <a:ext cx="4023360" cy="320040"/>
          </a:xfrm>
          <a:prstGeom prst="rect">
            <a:avLst/>
          </a:prstGeom>
          <a:noFill/>
          <a:ln/>
        </p:spPr>
        <p:txBody>
          <a:bodyPr wrap="square" lIns="0" tIns="0" rIns="0" bIns="0" rtlCol="0" anchor="ctr"/>
          <a:lstStyle/>
          <a:p>
            <a:pPr marL="0" indent="0">
              <a:buNone/>
            </a:pPr>
            <a:r>
              <a:rPr lang="en-US" sz="1300" b="1" dirty="0">
                <a:solidFill>
                  <a:srgbClr val="1C2B4A"/>
                </a:solidFill>
              </a:rPr>
              <a:t>Roadmap</a:t>
            </a:r>
            <a:endParaRPr lang="en-US" sz="1300" dirty="0"/>
          </a:p>
        </p:txBody>
      </p:sp>
      <p:sp>
        <p:nvSpPr>
          <p:cNvPr id="22" name="Shape 20"/>
          <p:cNvSpPr/>
          <p:nvPr/>
        </p:nvSpPr>
        <p:spPr>
          <a:xfrm>
            <a:off x="4754880" y="1234440"/>
            <a:ext cx="4023360" cy="576072"/>
          </a:xfrm>
          <a:prstGeom prst="rect">
            <a:avLst/>
          </a:prstGeom>
          <a:solidFill>
            <a:srgbClr val="FFFFFF"/>
          </a:solidFill>
          <a:ln w="12700">
            <a:solidFill>
              <a:srgbClr val="E8ECF2"/>
            </a:solidFill>
            <a:prstDash val="solid"/>
          </a:ln>
        </p:spPr>
        <p:txBody>
          <a:bodyPr/>
          <a:lstStyle/>
          <a:p>
            <a:endParaRPr lang="en-CH"/>
          </a:p>
        </p:txBody>
      </p:sp>
      <p:sp>
        <p:nvSpPr>
          <p:cNvPr id="23" name="Shape 21"/>
          <p:cNvSpPr/>
          <p:nvPr/>
        </p:nvSpPr>
        <p:spPr>
          <a:xfrm>
            <a:off x="4754880" y="1234440"/>
            <a:ext cx="45720" cy="576072"/>
          </a:xfrm>
          <a:prstGeom prst="rect">
            <a:avLst/>
          </a:prstGeom>
          <a:solidFill>
            <a:srgbClr val="B89650"/>
          </a:solidFill>
          <a:ln/>
        </p:spPr>
        <p:txBody>
          <a:bodyPr/>
          <a:lstStyle/>
          <a:p>
            <a:endParaRPr lang="en-CH"/>
          </a:p>
        </p:txBody>
      </p:sp>
      <p:sp>
        <p:nvSpPr>
          <p:cNvPr id="24" name="Text 22"/>
          <p:cNvSpPr/>
          <p:nvPr/>
        </p:nvSpPr>
        <p:spPr>
          <a:xfrm>
            <a:off x="4892040" y="1261872"/>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gunicorn multi-user</a:t>
            </a:r>
            <a:endParaRPr lang="en-US" sz="950" dirty="0"/>
          </a:p>
        </p:txBody>
      </p:sp>
      <p:sp>
        <p:nvSpPr>
          <p:cNvPr id="25" name="Text 23"/>
          <p:cNvSpPr/>
          <p:nvPr/>
        </p:nvSpPr>
        <p:spPr>
          <a:xfrm>
            <a:off x="4892040" y="1490472"/>
            <a:ext cx="3749040" cy="256032"/>
          </a:xfrm>
          <a:prstGeom prst="rect">
            <a:avLst/>
          </a:prstGeom>
          <a:noFill/>
          <a:ln/>
        </p:spPr>
        <p:txBody>
          <a:bodyPr wrap="square" lIns="0" tIns="0" rIns="0" bIns="0" rtlCol="0" anchor="ctr"/>
          <a:lstStyle/>
          <a:p>
            <a:pPr marL="0" indent="0">
              <a:buNone/>
            </a:pPr>
            <a:r>
              <a:rPr lang="en-US" sz="850" dirty="0">
                <a:solidFill>
                  <a:srgbClr val="6B7280"/>
                </a:solidFill>
              </a:rPr>
              <a:t>WSGI deployment for concurrent users</a:t>
            </a:r>
            <a:endParaRPr lang="en-US" sz="850" dirty="0"/>
          </a:p>
        </p:txBody>
      </p:sp>
      <p:sp>
        <p:nvSpPr>
          <p:cNvPr id="26" name="Shape 24"/>
          <p:cNvSpPr/>
          <p:nvPr/>
        </p:nvSpPr>
        <p:spPr>
          <a:xfrm>
            <a:off x="4754880" y="1883664"/>
            <a:ext cx="4023360" cy="576072"/>
          </a:xfrm>
          <a:prstGeom prst="rect">
            <a:avLst/>
          </a:prstGeom>
          <a:solidFill>
            <a:srgbClr val="FFFFFF"/>
          </a:solidFill>
          <a:ln w="12700">
            <a:solidFill>
              <a:srgbClr val="E8ECF2"/>
            </a:solidFill>
            <a:prstDash val="solid"/>
          </a:ln>
        </p:spPr>
        <p:txBody>
          <a:bodyPr/>
          <a:lstStyle/>
          <a:p>
            <a:endParaRPr lang="en-CH"/>
          </a:p>
        </p:txBody>
      </p:sp>
      <p:sp>
        <p:nvSpPr>
          <p:cNvPr id="27" name="Shape 25"/>
          <p:cNvSpPr/>
          <p:nvPr/>
        </p:nvSpPr>
        <p:spPr>
          <a:xfrm>
            <a:off x="4754880" y="1883664"/>
            <a:ext cx="45720" cy="576072"/>
          </a:xfrm>
          <a:prstGeom prst="rect">
            <a:avLst/>
          </a:prstGeom>
          <a:solidFill>
            <a:srgbClr val="B89650"/>
          </a:solidFill>
          <a:ln/>
        </p:spPr>
        <p:txBody>
          <a:bodyPr/>
          <a:lstStyle/>
          <a:p>
            <a:endParaRPr lang="en-CH"/>
          </a:p>
        </p:txBody>
      </p:sp>
      <p:sp>
        <p:nvSpPr>
          <p:cNvPr id="28" name="Text 26"/>
          <p:cNvSpPr/>
          <p:nvPr/>
        </p:nvSpPr>
        <p:spPr>
          <a:xfrm>
            <a:off x="4892040" y="1911096"/>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Power BI Service refresh</a:t>
            </a:r>
            <a:endParaRPr lang="en-US" sz="950" dirty="0"/>
          </a:p>
        </p:txBody>
      </p:sp>
      <p:sp>
        <p:nvSpPr>
          <p:cNvPr id="29" name="Text 27"/>
          <p:cNvSpPr/>
          <p:nvPr/>
        </p:nvSpPr>
        <p:spPr>
          <a:xfrm>
            <a:off x="4892040" y="2139696"/>
            <a:ext cx="3749040" cy="256032"/>
          </a:xfrm>
          <a:prstGeom prst="rect">
            <a:avLst/>
          </a:prstGeom>
          <a:noFill/>
          <a:ln/>
        </p:spPr>
        <p:txBody>
          <a:bodyPr wrap="square" lIns="0" tIns="0" rIns="0" bIns="0" rtlCol="0" anchor="ctr"/>
          <a:lstStyle/>
          <a:p>
            <a:pPr marL="0" indent="0">
              <a:buNone/>
            </a:pPr>
            <a:r>
              <a:rPr lang="en-US" sz="850" dirty="0">
                <a:solidFill>
                  <a:srgbClr val="6B7280"/>
                </a:solidFill>
              </a:rPr>
              <a:t>Scheduled dataset refresh via API</a:t>
            </a:r>
            <a:endParaRPr lang="en-US" sz="850" dirty="0"/>
          </a:p>
        </p:txBody>
      </p:sp>
      <p:sp>
        <p:nvSpPr>
          <p:cNvPr id="30" name="Shape 28"/>
          <p:cNvSpPr/>
          <p:nvPr/>
        </p:nvSpPr>
        <p:spPr>
          <a:xfrm>
            <a:off x="4754880" y="2532888"/>
            <a:ext cx="4023360" cy="576072"/>
          </a:xfrm>
          <a:prstGeom prst="rect">
            <a:avLst/>
          </a:prstGeom>
          <a:solidFill>
            <a:srgbClr val="FFFFFF"/>
          </a:solidFill>
          <a:ln w="12700">
            <a:solidFill>
              <a:srgbClr val="E8ECF2"/>
            </a:solidFill>
            <a:prstDash val="solid"/>
          </a:ln>
        </p:spPr>
        <p:txBody>
          <a:bodyPr/>
          <a:lstStyle/>
          <a:p>
            <a:endParaRPr lang="en-CH"/>
          </a:p>
        </p:txBody>
      </p:sp>
      <p:sp>
        <p:nvSpPr>
          <p:cNvPr id="31" name="Shape 29"/>
          <p:cNvSpPr/>
          <p:nvPr/>
        </p:nvSpPr>
        <p:spPr>
          <a:xfrm>
            <a:off x="4754880" y="2532888"/>
            <a:ext cx="45720" cy="576072"/>
          </a:xfrm>
          <a:prstGeom prst="rect">
            <a:avLst/>
          </a:prstGeom>
          <a:solidFill>
            <a:srgbClr val="B89650"/>
          </a:solidFill>
          <a:ln/>
        </p:spPr>
        <p:txBody>
          <a:bodyPr/>
          <a:lstStyle/>
          <a:p>
            <a:endParaRPr lang="en-CH"/>
          </a:p>
        </p:txBody>
      </p:sp>
      <p:sp>
        <p:nvSpPr>
          <p:cNvPr id="32" name="Text 30"/>
          <p:cNvSpPr/>
          <p:nvPr/>
        </p:nvSpPr>
        <p:spPr>
          <a:xfrm>
            <a:off x="4892040" y="2560320"/>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Domain business rules UI</a:t>
            </a:r>
            <a:endParaRPr lang="en-US" sz="950" dirty="0"/>
          </a:p>
        </p:txBody>
      </p:sp>
      <p:sp>
        <p:nvSpPr>
          <p:cNvPr id="33" name="Text 31"/>
          <p:cNvSpPr/>
          <p:nvPr/>
        </p:nvSpPr>
        <p:spPr>
          <a:xfrm>
            <a:off x="4892040" y="2788920"/>
            <a:ext cx="3749040" cy="256032"/>
          </a:xfrm>
          <a:prstGeom prst="rect">
            <a:avLst/>
          </a:prstGeom>
          <a:noFill/>
          <a:ln/>
        </p:spPr>
        <p:txBody>
          <a:bodyPr wrap="square" lIns="0" tIns="0" rIns="0" bIns="0" rtlCol="0" anchor="ctr"/>
          <a:lstStyle/>
          <a:p>
            <a:pPr marL="0" indent="0">
              <a:buNone/>
            </a:pPr>
            <a:r>
              <a:rPr lang="en-US" sz="850" dirty="0">
                <a:solidFill>
                  <a:srgbClr val="6B7280"/>
                </a:solidFill>
              </a:rPr>
              <a:t>Configure LTV thresholds via web interface</a:t>
            </a:r>
            <a:endParaRPr lang="en-US" sz="850" dirty="0"/>
          </a:p>
        </p:txBody>
      </p:sp>
      <p:sp>
        <p:nvSpPr>
          <p:cNvPr id="34" name="Shape 32"/>
          <p:cNvSpPr/>
          <p:nvPr/>
        </p:nvSpPr>
        <p:spPr>
          <a:xfrm>
            <a:off x="4754880" y="3182112"/>
            <a:ext cx="4023360" cy="576072"/>
          </a:xfrm>
          <a:prstGeom prst="rect">
            <a:avLst/>
          </a:prstGeom>
          <a:solidFill>
            <a:srgbClr val="FFFFFF"/>
          </a:solidFill>
          <a:ln w="12700">
            <a:solidFill>
              <a:srgbClr val="E8ECF2"/>
            </a:solidFill>
            <a:prstDash val="solid"/>
          </a:ln>
        </p:spPr>
        <p:txBody>
          <a:bodyPr/>
          <a:lstStyle/>
          <a:p>
            <a:endParaRPr lang="en-CH"/>
          </a:p>
        </p:txBody>
      </p:sp>
      <p:sp>
        <p:nvSpPr>
          <p:cNvPr id="35" name="Shape 33"/>
          <p:cNvSpPr/>
          <p:nvPr/>
        </p:nvSpPr>
        <p:spPr>
          <a:xfrm>
            <a:off x="4754880" y="3182112"/>
            <a:ext cx="45720" cy="576072"/>
          </a:xfrm>
          <a:prstGeom prst="rect">
            <a:avLst/>
          </a:prstGeom>
          <a:solidFill>
            <a:srgbClr val="B89650"/>
          </a:solidFill>
          <a:ln/>
        </p:spPr>
        <p:txBody>
          <a:bodyPr/>
          <a:lstStyle/>
          <a:p>
            <a:endParaRPr lang="en-CH"/>
          </a:p>
        </p:txBody>
      </p:sp>
      <p:sp>
        <p:nvSpPr>
          <p:cNvPr id="36" name="Text 34"/>
          <p:cNvSpPr/>
          <p:nvPr/>
        </p:nvSpPr>
        <p:spPr>
          <a:xfrm>
            <a:off x="4892040" y="3209544"/>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Database connectors</a:t>
            </a:r>
            <a:endParaRPr lang="en-US" sz="950" dirty="0"/>
          </a:p>
        </p:txBody>
      </p:sp>
      <p:sp>
        <p:nvSpPr>
          <p:cNvPr id="37" name="Text 35"/>
          <p:cNvSpPr/>
          <p:nvPr/>
        </p:nvSpPr>
        <p:spPr>
          <a:xfrm>
            <a:off x="4892040" y="3438144"/>
            <a:ext cx="3749040" cy="256032"/>
          </a:xfrm>
          <a:prstGeom prst="rect">
            <a:avLst/>
          </a:prstGeom>
          <a:noFill/>
          <a:ln/>
        </p:spPr>
        <p:txBody>
          <a:bodyPr wrap="square" lIns="0" tIns="0" rIns="0" bIns="0" rtlCol="0" anchor="ctr"/>
          <a:lstStyle/>
          <a:p>
            <a:pPr marL="0" indent="0">
              <a:buNone/>
            </a:pPr>
            <a:r>
              <a:rPr lang="en-US" sz="850" dirty="0">
                <a:solidFill>
                  <a:srgbClr val="6B7280"/>
                </a:solidFill>
              </a:rPr>
              <a:t>SQLAlchemy support for SQL Server / PostgreSQL</a:t>
            </a:r>
            <a:endParaRPr lang="en-US" sz="850" dirty="0"/>
          </a:p>
        </p:txBody>
      </p:sp>
      <p:sp>
        <p:nvSpPr>
          <p:cNvPr id="38" name="Shape 36"/>
          <p:cNvSpPr/>
          <p:nvPr/>
        </p:nvSpPr>
        <p:spPr>
          <a:xfrm>
            <a:off x="4754880" y="3831336"/>
            <a:ext cx="4023360" cy="576072"/>
          </a:xfrm>
          <a:prstGeom prst="rect">
            <a:avLst/>
          </a:prstGeom>
          <a:solidFill>
            <a:srgbClr val="FFFFFF"/>
          </a:solidFill>
          <a:ln w="12700">
            <a:solidFill>
              <a:srgbClr val="E8ECF2"/>
            </a:solidFill>
            <a:prstDash val="solid"/>
          </a:ln>
        </p:spPr>
        <p:txBody>
          <a:bodyPr/>
          <a:lstStyle/>
          <a:p>
            <a:endParaRPr lang="en-CH"/>
          </a:p>
        </p:txBody>
      </p:sp>
      <p:sp>
        <p:nvSpPr>
          <p:cNvPr id="39" name="Shape 37"/>
          <p:cNvSpPr/>
          <p:nvPr/>
        </p:nvSpPr>
        <p:spPr>
          <a:xfrm>
            <a:off x="4754880" y="3831336"/>
            <a:ext cx="45720" cy="576072"/>
          </a:xfrm>
          <a:prstGeom prst="rect">
            <a:avLst/>
          </a:prstGeom>
          <a:solidFill>
            <a:srgbClr val="B89650"/>
          </a:solidFill>
          <a:ln/>
        </p:spPr>
        <p:txBody>
          <a:bodyPr/>
          <a:lstStyle/>
          <a:p>
            <a:endParaRPr lang="en-CH"/>
          </a:p>
        </p:txBody>
      </p:sp>
      <p:sp>
        <p:nvSpPr>
          <p:cNvPr id="40" name="Text 38"/>
          <p:cNvSpPr/>
          <p:nvPr/>
        </p:nvSpPr>
        <p:spPr>
          <a:xfrm>
            <a:off x="4892040" y="3858768"/>
            <a:ext cx="3749040" cy="228600"/>
          </a:xfrm>
          <a:prstGeom prst="rect">
            <a:avLst/>
          </a:prstGeom>
          <a:noFill/>
          <a:ln/>
        </p:spPr>
        <p:txBody>
          <a:bodyPr wrap="square" lIns="0" tIns="0" rIns="0" bIns="0" rtlCol="0" anchor="ctr"/>
          <a:lstStyle/>
          <a:p>
            <a:pPr marL="0" indent="0">
              <a:buNone/>
            </a:pPr>
            <a:r>
              <a:rPr lang="en-US" sz="950" b="1" dirty="0">
                <a:solidFill>
                  <a:srgbClr val="1C2B4A"/>
                </a:solidFill>
              </a:rPr>
              <a:t>🚀  Session auto-cleanup</a:t>
            </a:r>
            <a:endParaRPr lang="en-US" sz="950" dirty="0"/>
          </a:p>
        </p:txBody>
      </p:sp>
      <p:sp>
        <p:nvSpPr>
          <p:cNvPr id="41" name="Text 39"/>
          <p:cNvSpPr/>
          <p:nvPr/>
        </p:nvSpPr>
        <p:spPr>
          <a:xfrm>
            <a:off x="4892040" y="4087368"/>
            <a:ext cx="3749040" cy="256032"/>
          </a:xfrm>
          <a:prstGeom prst="rect">
            <a:avLst/>
          </a:prstGeom>
          <a:noFill/>
          <a:ln/>
        </p:spPr>
        <p:txBody>
          <a:bodyPr wrap="square" lIns="0" tIns="0" rIns="0" bIns="0" rtlCol="0" anchor="ctr"/>
          <a:lstStyle/>
          <a:p>
            <a:pPr marL="0" indent="0">
              <a:buNone/>
            </a:pPr>
            <a:r>
              <a:rPr lang="en-US" sz="850" dirty="0">
                <a:solidFill>
                  <a:srgbClr val="6B7280"/>
                </a:solidFill>
              </a:rPr>
              <a:t>Configurable retention policy for output/sessions/</a:t>
            </a:r>
            <a:endParaRPr lang="en-US" sz="850" dirty="0"/>
          </a:p>
        </p:txBody>
      </p:sp>
      <p:sp>
        <p:nvSpPr>
          <p:cNvPr id="42" name="Text 40"/>
          <p:cNvSpPr/>
          <p:nvPr/>
        </p:nvSpPr>
        <p:spPr>
          <a:xfrm>
            <a:off x="365760" y="4937760"/>
            <a:ext cx="8412480" cy="182880"/>
          </a:xfrm>
          <a:prstGeom prst="rect">
            <a:avLst/>
          </a:prstGeom>
          <a:noFill/>
          <a:ln/>
        </p:spPr>
        <p:txBody>
          <a:bodyPr wrap="square" lIns="0" tIns="0" rIns="0" bIns="0" rtlCol="0" anchor="ctr"/>
          <a:lstStyle/>
          <a:p>
            <a:pPr marL="0" indent="0" algn="ctr">
              <a:buNone/>
            </a:pPr>
            <a:r>
              <a:rPr lang="en-US" sz="750" dirty="0">
                <a:solidFill>
                  <a:srgbClr val="C8D0DC"/>
                </a:solidFill>
              </a:rPr>
              <a:t>Graian Capital Management SA  ·  Data Operations Business Case  ·  v6.0  ·  Confidential</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65176"/>
          </a:xfrm>
          <a:prstGeom prst="rect">
            <a:avLst/>
          </a:prstGeom>
          <a:solidFill>
            <a:srgbClr val="B89650"/>
          </a:solidFill>
          <a:ln/>
        </p:spPr>
        <p:txBody>
          <a:bodyPr/>
          <a:lstStyle/>
          <a:p>
            <a:endParaRPr lang="en-CH"/>
          </a:p>
        </p:txBody>
      </p:sp>
      <p:sp>
        <p:nvSpPr>
          <p:cNvPr id="3" name="Shape 1"/>
          <p:cNvSpPr/>
          <p:nvPr/>
        </p:nvSpPr>
        <p:spPr>
          <a:xfrm>
            <a:off x="0" y="0"/>
            <a:ext cx="109728" cy="4892040"/>
          </a:xfrm>
          <a:prstGeom prst="rect">
            <a:avLst/>
          </a:prstGeom>
          <a:solidFill>
            <a:srgbClr val="B89650"/>
          </a:solidFill>
          <a:ln/>
        </p:spPr>
        <p:txBody>
          <a:bodyPr/>
          <a:lstStyle/>
          <a:p>
            <a:endParaRPr lang="en-CH"/>
          </a:p>
        </p:txBody>
      </p:sp>
      <p:sp>
        <p:nvSpPr>
          <p:cNvPr id="4" name="Text 2"/>
          <p:cNvSpPr/>
          <p:nvPr/>
        </p:nvSpPr>
        <p:spPr>
          <a:xfrm>
            <a:off x="457200" y="731520"/>
            <a:ext cx="8229600" cy="822960"/>
          </a:xfrm>
          <a:prstGeom prst="rect">
            <a:avLst/>
          </a:prstGeom>
          <a:noFill/>
          <a:ln/>
        </p:spPr>
        <p:txBody>
          <a:bodyPr wrap="square" lIns="0" tIns="0" rIns="0" bIns="0" rtlCol="0" anchor="ctr"/>
          <a:lstStyle/>
          <a:p>
            <a:pPr marL="0" indent="0">
              <a:buNone/>
            </a:pPr>
            <a:r>
              <a:rPr lang="en-US" sz="4400" b="1" dirty="0">
                <a:solidFill>
                  <a:srgbClr val="FFFFFF"/>
                </a:solidFill>
              </a:rPr>
              <a:t>Thank You</a:t>
            </a:r>
            <a:endParaRPr lang="en-US" sz="4400" dirty="0"/>
          </a:p>
        </p:txBody>
      </p:sp>
      <p:sp>
        <p:nvSpPr>
          <p:cNvPr id="5" name="Shape 3"/>
          <p:cNvSpPr/>
          <p:nvPr/>
        </p:nvSpPr>
        <p:spPr>
          <a:xfrm>
            <a:off x="457200" y="1600200"/>
            <a:ext cx="2743200" cy="36576"/>
          </a:xfrm>
          <a:prstGeom prst="rect">
            <a:avLst/>
          </a:prstGeom>
          <a:solidFill>
            <a:srgbClr val="B89650"/>
          </a:solidFill>
          <a:ln/>
        </p:spPr>
        <p:txBody>
          <a:bodyPr/>
          <a:lstStyle/>
          <a:p>
            <a:endParaRPr lang="en-CH"/>
          </a:p>
        </p:txBody>
      </p:sp>
      <p:sp>
        <p:nvSpPr>
          <p:cNvPr id="6" name="Text 4"/>
          <p:cNvSpPr/>
          <p:nvPr/>
        </p:nvSpPr>
        <p:spPr>
          <a:xfrm>
            <a:off x="457200" y="1783080"/>
            <a:ext cx="8229600" cy="457200"/>
          </a:xfrm>
          <a:prstGeom prst="rect">
            <a:avLst/>
          </a:prstGeom>
          <a:noFill/>
          <a:ln/>
        </p:spPr>
        <p:txBody>
          <a:bodyPr wrap="square" lIns="0" tIns="0" rIns="0" bIns="0" rtlCol="0" anchor="ctr"/>
          <a:lstStyle/>
          <a:p>
            <a:pPr marL="0" indent="0">
              <a:buNone/>
            </a:pPr>
            <a:r>
              <a:rPr lang="en-US" sz="2000" b="1" dirty="0">
                <a:solidFill>
                  <a:srgbClr val="FFFFFF"/>
                </a:solidFill>
              </a:rPr>
              <a:t>Adriele Rocha Weisz</a:t>
            </a:r>
            <a:endParaRPr lang="en-US" sz="2000" dirty="0"/>
          </a:p>
        </p:txBody>
      </p:sp>
      <p:sp>
        <p:nvSpPr>
          <p:cNvPr id="7" name="Text 5"/>
          <p:cNvSpPr/>
          <p:nvPr/>
        </p:nvSpPr>
        <p:spPr>
          <a:xfrm>
            <a:off x="457200" y="2240280"/>
            <a:ext cx="8229600" cy="365760"/>
          </a:xfrm>
          <a:prstGeom prst="rect">
            <a:avLst/>
          </a:prstGeom>
          <a:noFill/>
          <a:ln/>
        </p:spPr>
        <p:txBody>
          <a:bodyPr wrap="square" lIns="0" tIns="0" rIns="0" bIns="0" rtlCol="0" anchor="ctr"/>
          <a:lstStyle/>
          <a:p>
            <a:pPr marL="0" indent="0">
              <a:buNone/>
            </a:pPr>
            <a:r>
              <a:rPr lang="en-US" sz="1300" dirty="0">
                <a:solidFill>
                  <a:srgbClr val="C8D0DC"/>
                </a:solidFill>
              </a:rPr>
              <a:t>Data Operations Engineer / Analyst</a:t>
            </a:r>
            <a:endParaRPr lang="en-US" sz="1300" dirty="0"/>
          </a:p>
        </p:txBody>
      </p:sp>
      <p:sp>
        <p:nvSpPr>
          <p:cNvPr id="8" name="Text 6"/>
          <p:cNvSpPr/>
          <p:nvPr/>
        </p:nvSpPr>
        <p:spPr>
          <a:xfrm>
            <a:off x="457200" y="2834640"/>
            <a:ext cx="7315200" cy="320040"/>
          </a:xfrm>
          <a:prstGeom prst="rect">
            <a:avLst/>
          </a:prstGeom>
          <a:noFill/>
          <a:ln/>
        </p:spPr>
        <p:txBody>
          <a:bodyPr wrap="square" lIns="0" tIns="0" rIns="0" bIns="0" rtlCol="0" anchor="ctr"/>
          <a:lstStyle/>
          <a:p>
            <a:pPr marL="0" indent="0">
              <a:buNone/>
            </a:pPr>
            <a:r>
              <a:rPr lang="en-US" sz="1100" dirty="0">
                <a:solidFill>
                  <a:srgbClr val="C8D0DC"/>
                </a:solidFill>
              </a:rPr>
              <a:t>📧   Adrielerocha.jb@gmail.com</a:t>
            </a:r>
            <a:endParaRPr lang="en-US" sz="1100" dirty="0"/>
          </a:p>
        </p:txBody>
      </p:sp>
      <p:sp>
        <p:nvSpPr>
          <p:cNvPr id="9" name="Text 7"/>
          <p:cNvSpPr/>
          <p:nvPr/>
        </p:nvSpPr>
        <p:spPr>
          <a:xfrm>
            <a:off x="457200" y="3200400"/>
            <a:ext cx="7315200" cy="320040"/>
          </a:xfrm>
          <a:prstGeom prst="rect">
            <a:avLst/>
          </a:prstGeom>
          <a:noFill/>
          <a:ln/>
        </p:spPr>
        <p:txBody>
          <a:bodyPr wrap="square" lIns="0" tIns="0" rIns="0" bIns="0" rtlCol="0" anchor="ctr"/>
          <a:lstStyle/>
          <a:p>
            <a:pPr marL="0" indent="0">
              <a:buNone/>
            </a:pPr>
            <a:r>
              <a:rPr lang="en-US" sz="1100" dirty="0">
                <a:solidFill>
                  <a:srgbClr val="C8D0DC"/>
                </a:solidFill>
              </a:rPr>
              <a:t>🏢   Graian Capital Management SA, Lugano, Switzerland</a:t>
            </a:r>
            <a:endParaRPr lang="en-US" sz="1100" dirty="0"/>
          </a:p>
        </p:txBody>
      </p:sp>
      <p:sp>
        <p:nvSpPr>
          <p:cNvPr id="10" name="Text 8"/>
          <p:cNvSpPr/>
          <p:nvPr/>
        </p:nvSpPr>
        <p:spPr>
          <a:xfrm>
            <a:off x="457200" y="3566160"/>
            <a:ext cx="7315200" cy="320040"/>
          </a:xfrm>
          <a:prstGeom prst="rect">
            <a:avLst/>
          </a:prstGeom>
          <a:noFill/>
          <a:ln/>
        </p:spPr>
        <p:txBody>
          <a:bodyPr wrap="square" lIns="0" tIns="0" rIns="0" bIns="0" rtlCol="0" anchor="ctr"/>
          <a:lstStyle/>
          <a:p>
            <a:pPr marL="0" indent="0">
              <a:buNone/>
            </a:pPr>
            <a:r>
              <a:rPr lang="en-US" sz="1100" dirty="0">
                <a:solidFill>
                  <a:srgbClr val="C8D0DC"/>
                </a:solidFill>
              </a:rPr>
              <a:t>📅   Presentation: Monday, 13 April 2026</a:t>
            </a:r>
            <a:endParaRPr lang="en-US" sz="1100" dirty="0"/>
          </a:p>
        </p:txBody>
      </p:sp>
      <p:sp>
        <p:nvSpPr>
          <p:cNvPr id="11" name="Text 9"/>
          <p:cNvSpPr/>
          <p:nvPr/>
        </p:nvSpPr>
        <p:spPr>
          <a:xfrm>
            <a:off x="457200" y="3931920"/>
            <a:ext cx="7315200" cy="320040"/>
          </a:xfrm>
          <a:prstGeom prst="rect">
            <a:avLst/>
          </a:prstGeom>
          <a:noFill/>
          <a:ln/>
        </p:spPr>
        <p:txBody>
          <a:bodyPr wrap="square" lIns="0" tIns="0" rIns="0" bIns="0" rtlCol="0" anchor="ctr"/>
          <a:lstStyle/>
          <a:p>
            <a:pPr marL="0" indent="0">
              <a:buNone/>
            </a:pPr>
            <a:r>
              <a:rPr lang="en-US" sz="1100" dirty="0">
                <a:solidFill>
                  <a:srgbClr val="C8D0DC"/>
                </a:solidFill>
              </a:rPr>
              <a:t>👤   Evaluator: Eric Della-Negra (COO)</a:t>
            </a:r>
            <a:endParaRPr lang="en-US" sz="1100" dirty="0"/>
          </a:p>
        </p:txBody>
      </p:sp>
      <p:sp>
        <p:nvSpPr>
          <p:cNvPr id="12" name="Text 10"/>
          <p:cNvSpPr/>
          <p:nvPr/>
        </p:nvSpPr>
        <p:spPr>
          <a:xfrm>
            <a:off x="457200" y="4617720"/>
            <a:ext cx="8229600" cy="228600"/>
          </a:xfrm>
          <a:prstGeom prst="rect">
            <a:avLst/>
          </a:prstGeom>
          <a:noFill/>
          <a:ln/>
        </p:spPr>
        <p:txBody>
          <a:bodyPr wrap="square" lIns="0" tIns="0" rIns="0" bIns="0" rtlCol="0" anchor="ctr"/>
          <a:lstStyle/>
          <a:p>
            <a:pPr marL="0" indent="0">
              <a:buNone/>
            </a:pPr>
            <a:r>
              <a:rPr lang="en-US" sz="850" dirty="0">
                <a:solidFill>
                  <a:srgbClr val="6B7E94"/>
                </a:solidFill>
              </a:rPr>
              <a:t>Python Pipeline · Power BI Dashboard · Schema-Agnostic · Per-Page PDFs · April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1013</TotalTime>
  <Words>3235</Words>
  <Application>Microsoft Office PowerPoint</Application>
  <PresentationFormat>On-screen Show (16:9)</PresentationFormat>
  <Paragraphs>389</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Graian Capital Management — Data Operations Business Case</dc:title>
  <dc:subject>PptxGenJS Presentation</dc:subject>
  <dc:creator>Adriele Rocha Weisz</dc:creator>
  <cp:lastModifiedBy>adriele rocha</cp:lastModifiedBy>
  <cp:revision>5</cp:revision>
  <dcterms:created xsi:type="dcterms:W3CDTF">2026-04-05T14:57:27Z</dcterms:created>
  <dcterms:modified xsi:type="dcterms:W3CDTF">2026-04-06T10:04:12Z</dcterms:modified>
</cp:coreProperties>
</file>